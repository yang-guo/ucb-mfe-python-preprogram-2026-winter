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1" Type="http://schemas.openxmlformats.org/officeDocument/2006/relationships/slide" Target="slides/slide56.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l3_s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l3_s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the opening and first section of Lesson 3. Later sections on training, evals, and decision models remain outside this review tranche.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l3_s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l3_s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Keep this theme brief. AI changes how the work is executed, but expertise still matters. Experience gives a director the language, systems understanding, patterns, and abstractions to give more targeted instructions, take on harder problems, and assess quality and efficacy. Ask: What is the most ambitious automation you have tried? Follow up naturally on the problem, the delegation, and where it got difficult. No time limit on the slide. The connection to Thursday is Yang’s discussion at 7:49–9:18 about understanding systems and assessing AI-produced work, not a detour into erroneous joins.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Aneesh’s framing; Yang’s October 8 discussion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l3_s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l3_s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 agent uses an LLM to choose actions, use tools, and work toward a goal. A single model call may be useful without being an agent. Fixed workflows may also use LLMs without letting them choose the action sequence. The example is synthetic: read earnings excerpts, extract margin-pressure labels with quoted evidence, and produce a feature table. Do not claim predictive value here. https://www.anthropic.com/engineering/building-effective-agents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earnings-analysis example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l3_s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l3_s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State is the situation in the environment. The agent only sees observations, which may be a partial view of that state. An action can retrieve information or change the environment. Example: files and the current table are state; a returned excerpt or screenshot is an observation; read_excerpt or running Python is an action. The harness also maintains internal task state. We will introduce reward when discussing reinforcement learning in the next section, not teach it here.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Agent–environment concepts; schematic examples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l3_s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l3_s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brain is the LLM. The harness prepares context, runs the loop, executes calls, maintains task state, manages permissions, and controls stopping. Tools read or change external state and return observations. Skills provide procedures, examples, and scripts; relevant guidance is loaded into context. Skills can also include scripts invoked through tools, which is not drawn as a separate edge in this introductory figure. Click the native component labels to navigate, and use the return links. The brain icon is a metaphor, not a biological or hardware claim.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Functional agent diagram; four-part teaching model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l3_s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l3_s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animation follows the functional diagram: prepare context, choose a tool, execute through the harness, return the observation to context, and choose another action or finish. It is a schematic explanation, not a recording of product performance. In the earnings example, the model reads an excerpt, applies guidance, requests Python work, and returns a table. The model does not execute application functions itself.</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Conceptual animation; synthetic research task</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l3_s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l3_s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Instructor recommendations: learn Codex and Claude Code for coding and repeatable analysis; ChatGPT Work and Claude Cowork for research and deliverables across connected tools. The tasks overlap. Model availability and tool access depend on the product and setup. Cowork isolates code execution in a VM; coding-agent permissions and isolation depend on configuration. Do not rank intelligence by how permissive a product is. https://help.openai.com/en/articles/20001275 https://claude.com/resources/articles/dispatch-and-computer-use https://www.anthropic.com/engineering/how-we-contain-claude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Instructor recommendations; October 2026</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l3_s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l3_s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model is the engine. The product supplies tools, context, controls, and operating rules. In Aneesh’s analogy, chat is a Prius, coding agents are a Ferrari, and work agents are a Lamborghini. Prius: ChatGPT and Claude chat. Ferrari: Codex and Claude Code. Lamborghini: ChatGPT Work and Claude Cowork. This is an interface analogy, not a measured product ranking or literal claim that each interface exposes an identical model. Different products may expose different model choices.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Instructor analogy; illustration edited with the built-in image-generation tool.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l3_s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l3_s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Screenshots or page structure supply observations. Clicking, typing, and navigating are actions. The harness executes them and provides the next observation. Suggested bounded demo: read a synthetic earnings page, copy supporting text into a row, and inspect the result. Instructor preference is ChatGPT Work; both ecosystems offer computer use. Reliability depends on task length, ambiguity, access, and checking. Do not claim all computer jobs can be automated reliably. https://claude.com/resources/articles/dispatch-and-computer-use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Schematic computer-use example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l3_s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l3_s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Image models, video models, and code rendered into visual media are three routes that can be combined. Examples: ChatGPT Images and Nano Banana; Runway and Seedance; SVG, Python, or browser graphics. Product names are examples rather than a ranking. https://ai.google.dev/gemini-api/docs/image-generation https://runway.com https://seed.bytedance.com/en/seedance2_0</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Three routes to generating media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l3_s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l3_s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animation is generated by code, using an ideal slider-crank mechanism. The connecting rod keeps constant length while the crank rotates and the piston moves. Explain the actual workflow: describe the mechanism, have the agent write geometry and motion code, then render it. The short code on the slide is explanatory pseudocode; the full generated program is saved locally. The illustration uses the anatomy skill’s restrained technical linework and functional-motion approach. Attribution: https://github.com/wheresryan22/anatomy. It is an idealized mechanism, not a complete combustion engine.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Code-generated mechanism; anatomy-inspired illustration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l3_s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l3_s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tool exposes a name, description, input schema, and returned result. The LLM requests read_excerpt(id=E01); the harness handles validation, permission checks, execution, and returning the result in the next model input. Tools can be local functions, direct API integrations, computer use, or MCP-connected capabilities. Tool outputs contain data to inspect and are not automatically authoritative instructions.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The same agent diagram, focused on tool execution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l3_s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l3_s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MCP is Model Context Protocol. A protocol is an agreed set of rules for communication. The HTTP analogy describes interoperability, not an identical protocol or a replacement for HTTP. The host contains an MCP client; a server exposes capabilities and may wrap the application’s API. Agents can also use tools without MCP. https://modelcontextprotocol.io/docs/getting-started/intro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MCP official introduction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l3_s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l3_s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Instructor preference: meeting transcripts are especially valuable, with Fireflies as the primary example and Granola as another option. Email, calendar, and course Slack provide complementary context. A connection provides access; it does not load every record into the current model call. Ask what information the agent would need to help prepare for this course. No private records are shown.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Instructor workflow; schematic source categories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l3_s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l3_s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Use the library analogy briefly: skills are books for agents. They contain instructions, examples, scripts, and resources. The model reads relevant guidance in context and may invoke accompanying scripts through a tool. Reading a skill changes what the model is given; it does not retrain its weights or guarantee compliance. A skill guides how to use tools; a tool supplies an action.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Reusable guidance; the library analogy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l3_s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l3_s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Synthetic mini-playbook, not a complete classifier. Margin pressure is present when the excerpt explicitly links higher costs or weaker pricing to lower margins; quote evidence and choose unclear when evidence is insufficient. Assert one row per document. Include clear counterexamples when building evals later. This skill supplies rules and checks; it does not create new model weights.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earnings-labeling procedure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l3_s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l3_s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Simplified OpenAI Responses-style request. MODEL_ID stands for a model available to your application; tool definitions and optional parameters are omitted. API schemas vary by provider. Your application chooses the instructions, data, tools, and context supplied to the call, then handles the returned text or action requests. https://developers.openai.com/api/docs/guides/function-calling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Simplified API request; MODEL_ID is illustrative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l3_s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l3_s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System instructions, user messages, assistant responses, and tool-call/results form the structured input history. Tool definitions tell the model which functions are available and what arguments they accept. Some APIs have developer roles and typed function-call items. In OpenAI Responses, function_call and function_call_output are separate typed items; they are not ordinary tool-role messages. Tool output is evidence, not permission to override instructions.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Message roles; provider schemas differ</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l3_s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l3_s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OpenAI Responses-style example. The model produces function_call, including an arguments string containing JSON. The application executes the function and sends function_call_output with the matching call_id. The call resumes with the earlier conversation and this result included appropriately. Both the tool and earnings text are synthetic. https://developers.openai.com/api/docs/guides/function-calling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Responses-style tool call; simplified example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l3_s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7" name="Google Shape;397;l3_s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token split is illustrative, not the output of a specific tokenizer. Tokens can be words, fragments, punctuation, or spaces; token IDs correspond to vocabulary entries. The context includes more than what the user typed. Not everything connected to an agent appears in every call. Limits and accounting vary by model and provider.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Illustrative token split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l3_context_window: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l3_context_window: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animated bar uses schematic percentages, not real API token counts or a particular model limit. Instructions, tool definitions, a loaded skill, conversation items, and tool results share an input budget. Room is also needed for the response. The initial input is 60%, the first tool result takes it to 80%, and a 20% response reserve uses the full budget. More tool output does not all fit. The managed example uses 62% input and keeps a 20% reserve. Context details and limits vary by API. https://www.anthropic.com/engineering/effective-context-engineering-for-ai-agents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Schematic context budget; not measured API usage</a:t>
            </a:r>
            <a:r>
              <a:rPr lang="en"/>
              <a:t>Token boundaries shown are deliberately illustrative, not claimed to match a specific tokenizer. Tokens can be words, subwords, punctuation, spaces, and pieces of non-English text. Token IDs map vocabulary items to numbers; the model learns relationships between their representations. Context includes instructions, conversation, retrieved data, tool outputs, and output budget. Model/provider-specific limits and accounting vary. This is the segue to training, which is outside the current review tranche.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Illustrative token split · no specific tokenizer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l3_context_management: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l3_context_management: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Keep the task, constraints, essential evidence, and current progress available. Retrieve relevant portions of sources; persist bulky results in files; summarize prior work. The next call can use those excerpts and progress notes rather than all earlier raw output. Compaction can lose details, so retain what later decisions depend on. Durable files/notes are outside the current context and must be retrieved to be seen. https://www.anthropic.com/engineering/effective-context-engineering-for-ai-agents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Context selection, retrieval, and compaction</a:t>
            </a:r>
            <a:r>
              <a:rPr lang="en"/>
              <a:t>Token boundaries shown are deliberately illustrative, not claimed to match a specific tokenizer. Tokens can be words, subwords, punctuation, spaces, and pieces of non-English text. Token IDs map vocabulary items to numbers; the model learns relationships between their representations. Context includes instructions, conversation, retrieved data, tool outputs, and output budget. Model/provider-specific limits and accounting vary. This is the segue to training, which is outside the current review tranche.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Illustrative token split · no specific tokenizer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l3_s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0" name="Google Shape;450;l3_s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Ask students where they would inspect first and what comparison would test their explanation. A: missing file access -&gt; tools/permissions. B: two definitions of margin pressure -&gt; skill/rubric. C: repeatedly cannot solve a clear task despite correct data, guidance, and tools -&gt; compare model capability while holding the rest fixed. D: a tool returns correct data, but the next call never receives it -&gt; harness result/state routing. These are initial diagnoses, not uniquely proven causes. Do not imply every model failure can be fixed through prompting.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Discussion exercise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l3_s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l3_s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Review the same four parts and explain why each proposed first check follows from the observed failure. Model capability can be the bottleneck even with clear guidance and useful tools. Hold the rest of the system fixed when comparing models. Other failures require improving the skill, access, or harness. Transition question: where do the model’s capabilities come from? Stop after this section for Aneesh’s review.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Suggested first checks; multiple causes are possible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l3_t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4" name="Google Shape;494;l3_t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Part 2 of Lesson 3. Start from the brain in the agent figure. Training changes model parameters, usually called weights. Pre-training develops broad prediction capability; post-training adapts behavior using demonstrations and feedback. Today’s teaching model is deliberately simple. Stop after this section for review before building evals.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Instructor outline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l3_training_fram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l3_training_frame: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Use Aneesh’s knowledge/behavior frame at the front of training. A world model is learned statistical structure, not a guaranteed factual database or literal simulator. This is a useful emphasis rather than a strict partition: post-training can add knowledge and pre-training also influences behavior. Both update weights. Connect back to the brain inside the harness.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A useful high-level mental model</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l3_t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l3_t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Use x=1, target y=3, prediction y_hat=w*x, starting weight w=1. Prediction is 1, loss is 2, and gradient dL/dw is -2. Ask students whether w should move left or right on the loss curve. The model makes a prediction, loss measures error, backpropagation computes derivatives, and the optimizer uses them to update weights. The next slide reveals the steps. No automatic timer. This is squared error for an introductory toy, not the usual language-model training loss. https://www.deeplearningbook.org/contents/optimization.html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Toy example: L(w) = ½(w − 3)²</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l3_t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1" name="Google Shape;531;l3_t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Both panels use L(w)=0.5*(w-3)^2, gradient w-3 and start at w=1. With learning rate 0.4, w becomes 1.8, 2.28, 2.568. With rate 1.4 it becomes 3.8, 2.68, 3.128. The larger rate overshoots and oscillates but converges for this particular quadratic. Do not imply every overshoot diverges. For this toy rates above 2 diverge, while rate 2 keeps the same loss. Real optimization operates in many dimensions and often uses adaptive optimizers. The animation compares both rates on the same loss curve. https://www.deeplearningbook.org/contents/optimization.html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Computed toy curves, identical loss and starting weight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l3_t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l3_t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chain is x=1, a=2, h=a*x=2, b=1, prediction b*h=2, target=4 and L=0.5*(prediction-4)^2=2. By the chain rule dL/db=(2-4)*h=-4 and dL/da=(2-4)*b*x=-2. Backpropagation computes these gradients. A gradient step with eta=0.1 updates a=2.2 and b=1.4, giving prediction 3.08 and loss 0.4232. Both derivatives use the original weights and both updates occur together. The animation separates the computation and update. A full neural network has many such operations and nonlinear activations. Reading: Goodfellow, Bengio and Courville, Deep Learning, chapters 6 and 8. https://www.deeplearningbook.org/contents/optimization.html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Toy chain without activations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l3_t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l3_t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a language model, the corpus supplies the next-token target. The example uses the prefix “Margins declined because costs” and observed next token “rose”. Display toy probabilities 0.10 for rose, 0.40 fell, 0.30 stabilized, 0.20 other. Cross-entropy for the observed token is -ln(0.10)=2.3026. After many illustrative updates, the observed token probability could be 0.60, giving loss 0.5108. The probabilities are invented solely to teach the loss, not measurements from a real model. The word boundaries are illustrative; actual tokenizer output can differ. Training repeats across many positions and examples. Different modalities and architectures can use different objectives. https://ai.meta.com/blog/meta-llama-3-1/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Illustrative probabilities, not a captured model response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l3_t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l3_t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stadiums represent the huge training corpus; the suitcase represents learned parameters. Repeated prediction and updates capture reusable statistical patterns. This is a metaphor for learned structure, not lossless storage of the original corpus. Models can generalize and can also memorize or make errors. Examples include grammar, coding conventions, relationships, and reasoning patterns. The illustration intentionally transforms raw media into recurring patterns. Optional entropy sidebar: prediction uncertainty relates to compression, but lower loss alone does not demonstrate truth or a complete world model. Do not add a quantitative compression ratio.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Instructor analogy, generated conceptual illustration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l3_t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0" name="Google Shape;580;l3_t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Meta disclosed that Llama 3.1 405B trained on over 15 trillion tokens using over 16 thousand H100 GPUs. This is a historical disclosed example, not a claim about a typical model or an undisclosed 2026 run. The illustration shows a GPU module, server, rack and a data-center cluster. Counts and physical proportions in the drawing are schematic and do not imply a specific rack configuration. Networking, storage, power, cooling and fault recovery enable the hardware to operate together. Do not infer power draw, number of racks, footprint or training cost without explicit hardware assumptions. https://ai.meta.com/blog/meta-llama-3-1/</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Meta, Llama 3.1 training description, July 2024</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l3_t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5" name="Google Shape;595;l3_t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Pre-training provides a base model. Supervised fine-tuning teaches from demonstration responses, including examples of tool use. Preference optimization learns from comparisons between responses. Reinforcement learning learns from scored attempts, including verifiable outcomes such as test results. These can be combined and repeated; this is not a universal three-stage recipe. Meta’s Llama 3.1 description includes SFT and DPO, while DeepSeek-R1 illustrates large-scale RL combined with other stages. Distinguish post-training methods from adding instructions to a deployed agent. https://ai.meta.com/blog/meta-llama-3-1/ https://arxiv.org/abs/2501.12948</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Examples of post-training signals</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l3_t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l3_t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Define state as repository and environment configuration, observation as the visible files and test output, action as read/edit/run, policy as the distribution over next actions, reward as a score from task checks, and episode as one attempt from reset to termination. The model may only observe part of the state and uses its available history to act. A reward is a training signal and may imperfectly represent success. In the next slide show the environment loop and a distinct weight-update process.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coding task: repair a CSV parser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l3_t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8" name="Google Shape;648;l3_t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rollout reads the failing case, edits the parser, runs checks, then finishes. The environment returns observations after actions. At termination a verifier provides a score. A separate trainer uses trajectories, action probabilities and rewards to construct a training objective and updates policy weights through gradients. There is no differentiable arrow through the external tests or environment. This is a schematic terminal-reward example; algorithms may also use intermediate rewards or learned reward models. Ordinary agent execution performs the rollout without this automatic training step. https://arxiv.org/abs/2501.12948</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Schematic RL workflow, synthetic parser task</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l3_t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8" name="Google Shape;658;l3_t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 environment supplies a world, observations, actions, tasks, reset conditions and a grading method. Arithmetic uses a target answer, a coding repository uses executable checks, games provide interacting state and game outcomes, and workplaces combine records, applications and deliverables. AlphaStar in StarCraft II used supervised initialization and subsequent league reinforcement learning. It was not an LLM post-training project. Games expose limited observations and delayed outcomes. Do not equate winning a game with success at knowledge work. https://deepmind.google/blog/alphastar-grandmaster-level-in-starcraft-ii-using-multi-agent-reinforcement-learning/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AlphaStar is a historical RL example, not an LLM</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l3_t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3" name="Google Shape;683;l3_t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synthetic task asks an agent to prepare a margin-pressure feature table from three earnings excerpts, a definitions memo and a Slack-like analyst thread. Actions read records, write rows and run checks. Reset restores the starting files and messages. Hidden reference evidence, required IDs and output format support grading. The drawing is conceptual and contains no real messages or private documents. Expert judgment may still be necessary for semantic correctness. Ask what a verifier that checks only row count would miss. This question prepares the next section on evals without teaching its full workflow.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financial-research environment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l3_t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4" name="Google Shape;694;l3_t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Companies support AI labs by creating expert tasks, environments, demonstration data and judgments. Mercor describes realistic data-rich worlds, tools, tasks and verifiers. Handshake describes domain experts writing prompts and assessing responses. These are distinct roles rather than interchangeable offerings. Avoid valuation claims and promises about any particular dataset’s effect. The economic mechanism is that useful hard tasks reveal gaps; experts define success; diverse tasks and credible grading supply better signals for training. Repeated optimization may exploit a flawed reward, such as rewarding row count while ignoring fabricated evidence. https://www.mercor.com/research/ https://joinhandshake.com/blog/our-team/introducing-handshake-ai/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Mercor Research and Handshake AI descriptions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l3_t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0" name="Google Shape;710;l3_t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During training the model’s parameters change. During ordinary inference the agent uses current weights with context supplied by its harness. Improving tools, skills or context can improve performance without changing those weights. Product feedback and conversations may be used in separate training processes under product settings, but this does not mean every call immediately retrains the deployed model. Ask what evidence would show improvement when the reward is only row count. The next section will teach how to define and measure success. Stop for Aneesh’s review now. Reading: Ian Goodfellow, Yoshua Bengio, Aaron Courville, Deep Learning (chapters 6 and 8), https://www.deeplearningbook.org/ ; Richard S. Sutton and Andrew G. Barto, Reinforcement Learning: An Introduction (chapters 1 and 3), http://incompleteideas.net/book/the-book-2nd.html . The Sutton author site was unavailable during source verification; use the stable bibliographic reference and publisher link https://mitpress.mit.edu/9780262039246/reinforcement-learning/.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Reading: Deep Learning and Reinforcement Learning: An Introduction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l3_e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6" name="Google Shape;726;l3_e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Part 3. How do we know whether the system did useful work? Move from environments and reward to tasks, trials, transcripts, outcomes and graders. We will inspect one synthetic earnings-analysis deliverable, use executable checks, examine a model rubric and human calibration, and verify database state. Follow Anthropic terminology while making the classroom examples our own.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https://www.anthropic.com/engineering/demystifying-evals-for-ai-agents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l3_e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5" name="Google Shape;735;l3_e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Authentic Anthropic diagram, used without alteration. Evaluation harness wraps a suite of tasks, runs trials against the agent harness, records trajectories and outcomes, and applies graders. Point to the two harnesses: one enables work, the other measures it. The diagram’s reasoning refers to information actually available in logs, not access to hidden chain-of-thought. We will unpack this dense diagram on the next slide.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https://www.anthropic.com/engineering/demystifying-evals-for-ai-agents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l3_e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4" name="Google Shape;744;l3_e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suite collects tasks. The evaluation harness resets the world, runs trials, records available traces, executes graders and aggregates metrics. The agent harness supplies context, tools and execution while doing the task. A transcript supports diagnosis; the outcome shows what actually changed. No assertion of hidden reasoning access.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https://www.anthropic.com/engineering/demystifying-evals-for-ai-agents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l3_e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2" name="Google Shape;772;l3_e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Five synthetic excerpts E01–E05, no real issuers. Present requires explicit current-quarter margin pressure. Absent includes explicit denial or improvement. Unclear means the excerpt does not establish the impact. Each row needs nonempty exact evidence from its own excerpt. The eval runner keeps reference labels and grading code outside the agent workspace. Reset inputs and output path for every trial. The assistant cannot decide its own score.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classroom examples. Code and database checks executed locally.</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l3_e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6" name="Google Shape;786;l3_e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Illustrative tool transcript, not a captured live model run. The agent reads excerpts, writes candidate-a.csv and claims all five are complete. Open the actual artifact: E01 appears twice, E04 is missing, E03 has a fabricated quote, E02’s label mishandles negation. Five rows alone passes. Ask students to identify two checks before the reveal. The next slide exposes actual checker results on this artifact.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Constructed transcript and CSV; saved output checked by code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l3_e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6" name="Google Shape;796;l3_e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These displayed expressions summarize the executable fixtures.py grader. Exact ID multiset detects both omissions and duplicates. Exact quote membership checks evidence provenance, not semantic support. Fixed hidden reference labels can also be checked with code, but new ambiguous content may need semantic judgment. Actual synthetic output fails success. Counter expected contains every required ID exactly once. Test graders against accepted and rejected fixtures. No cost or latency is invented.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classroom examples. Code and database checks executed locally.</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l3_e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1" name="Google Shape;811;l3_e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structured output is illustrative, not an executed judge API call. A model grader receives the source excerpt, candidate row and explicit rubric. Score one dimension at a time: whether the evidence supports the label. Include Unknown when evidence cannot establish a judgment. For this fixed case a reference code check suffices too. Calibrate a model judge against expert human decisions and inspect systematic errors such as negation, time period and plausible fabricated evidence. A judge model can be mistaken or biased. Keep candidate text treated as data rather than instructions.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Synthetic rubric and illustrative judge response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l3_e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l3_e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Humans supply domain judgment, write reference examples and calibrate automatic graders. Ask students to decide the third case before showing the period restriction. If two reviewers disagree, clarify the rubric and adjudicate the reference instead of averaging an undefined concept. Track judge agreement with adjudicated labels on a held-out calibration set. These are expected labels in a classroom exercise, not reported model/human agreement measurements.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Illustrative calibration exercise; no measured human study</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l3_e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6" name="Google Shape;846;l3_e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Actual local SQLite query returns zero matching rows. The database is synthetic and no payment occurs. The target criterion in this toy is exactly one completed refund record for C17 amount 75. Production criteria also need currency, authorization and downstream execution appropriate to their real task. This is outcome verification implemented by a code-based grader, not a fourth grader category. tau-bench similarly compares final database state with task goals. https://arxiv.org/abs/2406.12045</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Executed query against a local synthetic SQLite database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l3_e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1" name="Google Shape;861;l3_e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Candidate A passes file existence, schema and row count, but fails IDs, evidence and labels. Keep the six diagnostic grades visible. For this illustrative task use a strict success reward: reward 1 only when all required checks pass, otherwise 0. This intentionally gives A reward 0 even with 3/6 checks passed. Partial diagnostics remain useful for learning where it failed. A different task might use carefully designed partial reward. An eval can report these scores without changing weights. A trainer can consume graded rollouts to build an RL objective and update weights separately. External code tests are not differentiated through. Reward quality depends on verifier quality.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Executed fixture grades; illustrative reward policy</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l3_e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l3_e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For three independent trials, each with identical success probability .8, pass@3 = 1-(1-.8)^3 = .992 measures at least one successful attempt. pass^3 = .8^3 = .512 measures all three successful attempts. These are mathematical illustrations, not measured agent benchmark results. Dependence or differing task difficulty invalidates this simple calculation. Repeat actual trials with recorded conditions and report task-level variation and uncertainty. At least one success is useful when retry and selection are possible. Consistency matters in repeated workflows. Terminology: Anthropic and tau-bench https://arxiv.org/abs/2406.12045</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Computed illustration: independent trials, p = 0.80</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l3_e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4" name="Google Shape;884;l3_e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Capability tests expose opportunities; regression tests catch losses after changes. Promote stable capability tasks into the regression suite once performance becomes reliable. Cover positive, negative and unclear cases. A suite of only easy positives can hide false positives and saturation. Difficulty should come from the work, not unclear instructions or broken environments.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https://www.anthropic.com/engineering/demystifying-evals-for-ai-agents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l3_e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8" name="Google Shape;898;l3_e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Authentic Anthropic roadmap, unaltered. Begin with real manual checks and observed failures. Our CSV case becomes a precise task with reference rows and balanced cases. The harness resets files, records traces and grades artifacts independently. Maintain the suite by reading failures and adding harder tasks when it saturates. Treat the source image as a roadmap to revisit. Our next slide gives a concrete local workflow rather than restating all article steps.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https://www.anthropic.com/engineering/demystifying-evals-for-ai-agents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l3_e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l3_e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local code executes against two authored fixtures: A fails IDs, evidence and labels; B passes all six checks. This is an illustration of the improvement workflow, not empirical evidence that a real agent improved. A real experiment would run baseline and revised skill repeatedly on the same development suite under controlled conditions, then evaluate held-out tasks. Read transcripts to locate failures, change one component, compare success plus cost/latency where measured, and add the failure as a regression task. Grader integrity matters: hidden references remain outside the agent environment and grading failures are distinct from agent failures.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Two constructed candidate artifacts, checked by the same code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l3_e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8" name="Google Shape;928;l3_e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Repeatedly choosing changes by a test score adapts the system to that test, even without changing weights. A final held-out set checks generalization. If tuning or training a classifier, training data fit parameters, validation data select choices, and final test data assess the selected system. In agent development the analogous separation is development tasks versus untouched final evaluation. Finance requires temporal and often issuer/event separation; avoid future information and duplicated excerpts across splits. Five classroom examples are diagnostics, not a robust accuracy estimate.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Evaluation design; classroom financial-research example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l3_e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2" name="Google Shape;942;l3_e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Verified site describes a controlled poker environment, ECAAMS (Emotion, Cognition, Action, Arousal, Meaning, Social), 19 dimensions from visible reasoning summaries and four independent LLM raters for consensus. Game outcomes and inferred behavioral labels are separate measurements. Do not claim access to hidden chain-of-thought or diagnose humanlike mental states. Interpret raters through their rubric and calibration. Poker performance does not establish real-market profitability. Link lets instructor open the benchmark as a live example. Omit changing leaderboard/model/game counts.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https://www.psychbench.ai/</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l3_e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7" name="Google Shape;957;l3_e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common measurement framework helps improve any of the four parts. Independent practitioners often have greatest control over tools, skills and harness, while changing model weights is a separate training choice. Evals support both agent development and training reward construction. Domain expertise is central to writing useful tasks and recognizing whether the evidence supports a decision. Stop here for Aneesh’s review. Do not build the decision-model section yet.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Source / attribution: Lesson 3 synthesis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0" name="Google Shape;20;p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9.png"/><Relationship Id="rId4" Type="http://schemas.openxmlformats.org/officeDocument/2006/relationships/slide" Target="/ppt/slides/slide15.xml"/><Relationship Id="rId5" Type="http://schemas.openxmlformats.org/officeDocument/2006/relationships/slide" Target="/ppt/slides/slide6.xml"/><Relationship Id="rId6" Type="http://schemas.openxmlformats.org/officeDocument/2006/relationships/slide" Target="/ppt/slides/slide17.xml"/><Relationship Id="rId7" Type="http://schemas.openxmlformats.org/officeDocument/2006/relationships/slide" Target="/ppt/slides/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gif"/><Relationship Id="rId4" Type="http://schemas.openxmlformats.org/officeDocument/2006/relationships/slide" Target="/ppt/slid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slide" Target="/ppt/slides/slide5.xml"/><Relationship Id="rId5" Type="http://schemas.openxmlformats.org/officeDocument/2006/relationships/slide" Target="/ppt/slides/slide15.xml"/><Relationship Id="rId6" Type="http://schemas.openxmlformats.org/officeDocument/2006/relationships/slide" Target="/ppt/slides/slide6.xml"/><Relationship Id="rId7" Type="http://schemas.openxmlformats.org/officeDocument/2006/relationships/slide" Target="/ppt/slides/slide17.xml"/><Relationship Id="rId8" Type="http://schemas.openxmlformats.org/officeDocument/2006/relationships/slide" Target="/ppt/slid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slide" Target="/ppt/slid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slide" Target="/ppt/slid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slide" Target="/ppt/slides/slide15.xml"/><Relationship Id="rId5" Type="http://schemas.openxmlformats.org/officeDocument/2006/relationships/slide" Target="/ppt/slides/slide6.xml"/><Relationship Id="rId6" Type="http://schemas.openxmlformats.org/officeDocument/2006/relationships/slide" Target="/ppt/slid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2.png"/><Relationship Id="rId4" Type="http://schemas.openxmlformats.org/officeDocument/2006/relationships/slide" Target="/ppt/slid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8.gif"/><Relationship Id="rId4" Type="http://schemas.openxmlformats.org/officeDocument/2006/relationships/slide" Target="/ppt/slid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gif"/><Relationship Id="rId4" Type="http://schemas.openxmlformats.org/officeDocument/2006/relationships/slide" Target="/ppt/slid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gif"/><Relationship Id="rId4" Type="http://schemas.openxmlformats.org/officeDocument/2006/relationships/slide" Target="/ppt/slid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mercor.com/research/" TargetMode="External"/><Relationship Id="rId4" Type="http://schemas.openxmlformats.org/officeDocument/2006/relationships/hyperlink" Target="https://joinhandshake.com/blog/our-team/introducing-handshake-ai/"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www.deeplearningbook.org/" TargetMode="External"/><Relationship Id="rId4" Type="http://schemas.openxmlformats.org/officeDocument/2006/relationships/hyperlink" Target="https://mitpress.mit.edu/9780262039246/reinforcement-learning/"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5.png"/><Relationship Id="rId4" Type="http://schemas.openxmlformats.org/officeDocument/2006/relationships/hyperlink" Target="https://www.anthropic.com/engineering/demystifying-evals-for-ai-agent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www.anthropic.com/engineering/demystifying-evals-for-ai-agents"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9.gif"/><Relationship Id="rId4" Type="http://schemas.openxmlformats.org/officeDocument/2006/relationships/slide" Target="/ppt/slid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0.gif"/><Relationship Id="rId4" Type="http://schemas.openxmlformats.org/officeDocument/2006/relationships/slide" Target="/ppt/slid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www.anthropic.com/engineering/demystifying-evals-for-ai-agent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hyperlink" Target="https://www.anthropic.com/engineering/demystifying-evals-for-ai-agent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www.psychbench.ai/" TargetMode="External"/><Relationship Id="rId4" Type="http://schemas.openxmlformats.org/officeDocument/2006/relationships/hyperlink" Target="https://www.psychbench.ai/"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744"/>
        </a:solid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914400" y="1371600"/>
            <a:ext cx="7569300" cy="14223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3800">
                <a:solidFill>
                  <a:srgbClr val="FFFFFF"/>
                </a:solidFill>
              </a:rPr>
              <a:t>Anatomy of</a:t>
            </a:r>
            <a:endParaRPr b="1" sz="3800">
              <a:solidFill>
                <a:srgbClr val="FFFFFF"/>
              </a:solidFill>
            </a:endParaRPr>
          </a:p>
          <a:p>
            <a:pPr indent="0" lvl="0" marL="0" marR="0" rtl="0" algn="l">
              <a:lnSpc>
                <a:spcPct val="110000"/>
              </a:lnSpc>
              <a:spcBef>
                <a:spcPts val="0"/>
              </a:spcBef>
              <a:spcAft>
                <a:spcPts val="0"/>
              </a:spcAft>
              <a:buNone/>
            </a:pPr>
            <a:r>
              <a:rPr b="1" lang="en" sz="3800">
                <a:solidFill>
                  <a:srgbClr val="FFFFFF"/>
                </a:solidFill>
              </a:rPr>
              <a:t>an agent</a:t>
            </a:r>
            <a:endParaRPr b="1" sz="3800">
              <a:solidFill>
                <a:srgbClr val="FFFFFF"/>
              </a:solidFill>
            </a:endParaRPr>
          </a:p>
        </p:txBody>
      </p:sp>
      <p:sp>
        <p:nvSpPr>
          <p:cNvPr id="55" name="Google Shape;55;p13"/>
          <p:cNvSpPr txBox="1"/>
          <p:nvPr>
            <p:ph idx="1" type="subTitle"/>
          </p:nvPr>
        </p:nvSpPr>
        <p:spPr>
          <a:xfrm>
            <a:off x="914400" y="2984500"/>
            <a:ext cx="7556400" cy="838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FFFFFF"/>
                </a:solidFill>
              </a:rPr>
              <a:t>Lesson 3 · Part 1</a:t>
            </a:r>
            <a:endParaRPr b="1" sz="2000">
              <a:solidFill>
                <a:srgbClr val="FFFFFF"/>
              </a:solidFill>
            </a:endParaRPr>
          </a:p>
          <a:p>
            <a:pPr indent="0" lvl="0" marL="0" marR="0" rtl="0" algn="l">
              <a:lnSpc>
                <a:spcPct val="110000"/>
              </a:lnSpc>
              <a:spcBef>
                <a:spcPts val="0"/>
              </a:spcBef>
              <a:spcAft>
                <a:spcPts val="0"/>
              </a:spcAft>
              <a:buNone/>
            </a:pPr>
            <a:r>
              <a:rPr lang="en" sz="2000">
                <a:solidFill>
                  <a:srgbClr val="FFFFFF"/>
                </a:solidFill>
              </a:rPr>
              <a:t>How agents use models, tools, and skills.</a:t>
            </a:r>
            <a:endParaRPr sz="2000">
              <a:solidFill>
                <a:srgbClr val="FFFFFF"/>
              </a:solidFill>
            </a:endParaRPr>
          </a:p>
        </p:txBody>
      </p:sp>
      <p:sp>
        <p:nvSpPr>
          <p:cNvPr id="56" name="Google Shape;56;p13"/>
          <p:cNvSpPr/>
          <p:nvPr/>
        </p:nvSpPr>
        <p:spPr>
          <a:xfrm>
            <a:off x="609600" y="1473200"/>
            <a:ext cx="63600" cy="12573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914400" y="647700"/>
            <a:ext cx="75693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E6A92C"/>
                </a:solidFill>
              </a:rPr>
              <a:t>UC Berkeley · Master of Financial Engineering</a:t>
            </a:r>
            <a:endParaRPr>
              <a:solidFill>
                <a:srgbClr val="E6A92C"/>
              </a:solidFill>
            </a:endParaRPr>
          </a:p>
        </p:txBody>
      </p:sp>
      <p:sp>
        <p:nvSpPr>
          <p:cNvPr id="58" name="Google Shape;58;p13"/>
          <p:cNvSpPr txBox="1"/>
          <p:nvPr/>
        </p:nvSpPr>
        <p:spPr>
          <a:xfrm>
            <a:off x="914400" y="4267200"/>
            <a:ext cx="75693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E6A92C"/>
                </a:solidFill>
              </a:rPr>
              <a:t>October 12, 2026</a:t>
            </a:r>
            <a:endParaRPr sz="1600">
              <a:solidFill>
                <a:srgbClr val="E6A92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From doing the work to directing it</a:t>
            </a:r>
            <a:endParaRPr b="1" sz="3000">
              <a:solidFill>
                <a:srgbClr val="0B2744"/>
              </a:solidFill>
            </a:endParaRPr>
          </a:p>
        </p:txBody>
      </p:sp>
      <p:sp>
        <p:nvSpPr>
          <p:cNvPr id="64" name="Google Shape;64;p14"/>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4"/>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What changes</a:t>
            </a:r>
            <a:endParaRPr b="1" sz="2100">
              <a:solidFill>
                <a:srgbClr val="0B2744"/>
              </a:solidFill>
            </a:endParaRPr>
          </a:p>
        </p:txBody>
      </p:sp>
      <p:sp>
        <p:nvSpPr>
          <p:cNvPr id="66" name="Google Shape;66;p14"/>
          <p:cNvSpPr txBox="1"/>
          <p:nvPr/>
        </p:nvSpPr>
        <p:spPr>
          <a:xfrm>
            <a:off x="609600" y="1981200"/>
            <a:ext cx="3670200" cy="151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Less of your effort goes into writing every line or formatting every document. More goes into defining the problem, directing the work, and assessing the result.</a:t>
            </a:r>
            <a:endParaRPr sz="1800">
              <a:solidFill>
                <a:srgbClr val="0B2744"/>
              </a:solidFill>
            </a:endParaRPr>
          </a:p>
        </p:txBody>
      </p:sp>
      <p:sp>
        <p:nvSpPr>
          <p:cNvPr id="67" name="Google Shape;67;p14"/>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Domain expertise matters</a:t>
            </a:r>
            <a:endParaRPr b="1" sz="2100">
              <a:solidFill>
                <a:srgbClr val="0B2744"/>
              </a:solidFill>
            </a:endParaRPr>
          </a:p>
        </p:txBody>
      </p:sp>
      <p:sp>
        <p:nvSpPr>
          <p:cNvPr id="68" name="Google Shape;68;p14"/>
          <p:cNvSpPr txBox="1"/>
          <p:nvPr/>
        </p:nvSpPr>
        <p:spPr>
          <a:xfrm>
            <a:off x="4864100" y="1981200"/>
            <a:ext cx="3670200" cy="1790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Experience gives you the language, patterns, and abstractions to give precise instructions, understand the system, and tackle harder problems.</a:t>
            </a:r>
            <a:endParaRPr sz="1800">
              <a:solidFill>
                <a:srgbClr val="0B2744"/>
              </a:solidFill>
            </a:endParaRPr>
          </a:p>
        </p:txBody>
      </p:sp>
      <p:sp>
        <p:nvSpPr>
          <p:cNvPr id="69" name="Google Shape;69;p14"/>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txBox="1"/>
          <p:nvPr/>
        </p:nvSpPr>
        <p:spPr>
          <a:xfrm>
            <a:off x="609600" y="4140200"/>
            <a:ext cx="79248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200">
                <a:solidFill>
                  <a:srgbClr val="0B2744"/>
                </a:solidFill>
              </a:rPr>
              <a:t>What is the most ambitious automation you've tried?</a:t>
            </a:r>
            <a:endParaRPr b="1" sz="2200">
              <a:solidFill>
                <a:srgbClr val="0B2744"/>
              </a:solidFill>
            </a:endParaRPr>
          </a:p>
        </p:txBody>
      </p:sp>
      <p:sp>
        <p:nvSpPr>
          <p:cNvPr id="71" name="Google Shape;71;p14"/>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Aneesh’s framing; Yang’s October 8 discussion</a:t>
            </a:r>
            <a:endParaRPr sz="820">
              <a:solidFill>
                <a:srgbClr val="738294"/>
              </a:solidFill>
            </a:endParaRPr>
          </a:p>
        </p:txBody>
      </p:sp>
      <p:sp>
        <p:nvSpPr>
          <p:cNvPr id="72" name="Google Shape;72;p14"/>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02</a:t>
            </a:r>
            <a:endParaRPr b="1" sz="900">
              <a:solidFill>
                <a:srgbClr val="73829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What is an agent?</a:t>
            </a:r>
            <a:endParaRPr b="1" sz="3000">
              <a:solidFill>
                <a:srgbClr val="0B2744"/>
              </a:solidFill>
            </a:endParaRPr>
          </a:p>
        </p:txBody>
      </p:sp>
      <p:sp>
        <p:nvSpPr>
          <p:cNvPr id="78" name="Google Shape;78;p15"/>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txBox="1"/>
          <p:nvPr/>
        </p:nvSpPr>
        <p:spPr>
          <a:xfrm>
            <a:off x="609600" y="1384300"/>
            <a:ext cx="7924800" cy="914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An agent uses a large language model (LLM) to choose actions, use tools, and work toward a goal.</a:t>
            </a:r>
            <a:endParaRPr b="1" sz="2400">
              <a:solidFill>
                <a:srgbClr val="0B2744"/>
              </a:solidFill>
            </a:endParaRPr>
          </a:p>
        </p:txBody>
      </p:sp>
      <p:sp>
        <p:nvSpPr>
          <p:cNvPr id="80" name="Google Shape;80;p15"/>
          <p:cNvSpPr/>
          <p:nvPr/>
        </p:nvSpPr>
        <p:spPr>
          <a:xfrm>
            <a:off x="609600" y="2552700"/>
            <a:ext cx="7924800" cy="1790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 name="Google Shape;81;p15"/>
          <p:cNvSpPr txBox="1"/>
          <p:nvPr/>
        </p:nvSpPr>
        <p:spPr>
          <a:xfrm>
            <a:off x="787400" y="2679700"/>
            <a:ext cx="75438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Example: analyze earnings commentary</a:t>
            </a:r>
            <a:endParaRPr b="1" sz="2100">
              <a:solidFill>
                <a:srgbClr val="0B2744"/>
              </a:solidFill>
            </a:endParaRPr>
          </a:p>
        </p:txBody>
      </p:sp>
      <p:sp>
        <p:nvSpPr>
          <p:cNvPr id="82" name="Google Shape;82;p15"/>
          <p:cNvSpPr txBox="1"/>
          <p:nvPr/>
        </p:nvSpPr>
        <p:spPr>
          <a:xfrm>
            <a:off x="787400" y="3238500"/>
            <a:ext cx="7543800" cy="863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2000">
                <a:solidFill>
                  <a:srgbClr val="0B2744"/>
                </a:solidFill>
              </a:rPr>
              <a:t>Read the excerpts, extract margin-pressure labels with supporting quotes, and produce a feature table.</a:t>
            </a:r>
            <a:endParaRPr sz="2000">
              <a:solidFill>
                <a:srgbClr val="0B2744"/>
              </a:solidFill>
            </a:endParaRPr>
          </a:p>
        </p:txBody>
      </p:sp>
      <p:sp>
        <p:nvSpPr>
          <p:cNvPr id="83" name="Google Shape;83;p15"/>
          <p:cNvSpPr txBox="1"/>
          <p:nvPr/>
        </p:nvSpPr>
        <p:spPr>
          <a:xfrm>
            <a:off x="609600" y="4470400"/>
            <a:ext cx="79248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The agent decides which step to take next using the information it has.</a:t>
            </a:r>
            <a:endParaRPr sz="1700">
              <a:solidFill>
                <a:srgbClr val="0B2744"/>
              </a:solidFill>
            </a:endParaRPr>
          </a:p>
        </p:txBody>
      </p:sp>
      <p:sp>
        <p:nvSpPr>
          <p:cNvPr id="84" name="Google Shape;84;p15"/>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Synthetic earnings-analysis example</a:t>
            </a:r>
            <a:endParaRPr sz="820">
              <a:solidFill>
                <a:srgbClr val="738294"/>
              </a:solidFill>
            </a:endParaRPr>
          </a:p>
        </p:txBody>
      </p:sp>
      <p:sp>
        <p:nvSpPr>
          <p:cNvPr id="85" name="Google Shape;85;p15"/>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03</a:t>
            </a:r>
            <a:endParaRPr b="1" sz="900">
              <a:solidFill>
                <a:srgbClr val="738294"/>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6"/>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State, observations, and actions</a:t>
            </a:r>
            <a:endParaRPr b="1" sz="3000">
              <a:solidFill>
                <a:srgbClr val="0B2744"/>
              </a:solidFill>
            </a:endParaRPr>
          </a:p>
        </p:txBody>
      </p:sp>
      <p:sp>
        <p:nvSpPr>
          <p:cNvPr id="91" name="Google Shape;91;p16"/>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6"/>
          <p:cNvSpPr/>
          <p:nvPr/>
        </p:nvSpPr>
        <p:spPr>
          <a:xfrm>
            <a:off x="609600" y="1409700"/>
            <a:ext cx="7924800" cy="92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 name="Google Shape;93;p16"/>
          <p:cNvSpPr txBox="1"/>
          <p:nvPr/>
        </p:nvSpPr>
        <p:spPr>
          <a:xfrm>
            <a:off x="749300" y="1549400"/>
            <a:ext cx="1727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200">
                <a:solidFill>
                  <a:srgbClr val="0B2744"/>
                </a:solidFill>
              </a:rPr>
              <a:t>State</a:t>
            </a:r>
            <a:endParaRPr b="1" sz="2200">
              <a:solidFill>
                <a:srgbClr val="0B2744"/>
              </a:solidFill>
            </a:endParaRPr>
          </a:p>
        </p:txBody>
      </p:sp>
      <p:sp>
        <p:nvSpPr>
          <p:cNvPr id="94" name="Google Shape;94;p16"/>
          <p:cNvSpPr txBox="1"/>
          <p:nvPr/>
        </p:nvSpPr>
        <p:spPr>
          <a:xfrm>
            <a:off x="2692400" y="1511300"/>
            <a:ext cx="26544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What exists in the environment</a:t>
            </a:r>
            <a:endParaRPr b="1" sz="1800">
              <a:solidFill>
                <a:srgbClr val="0B2744"/>
              </a:solidFill>
            </a:endParaRPr>
          </a:p>
        </p:txBody>
      </p:sp>
      <p:sp>
        <p:nvSpPr>
          <p:cNvPr id="95" name="Google Shape;95;p16"/>
          <p:cNvSpPr txBox="1"/>
          <p:nvPr/>
        </p:nvSpPr>
        <p:spPr>
          <a:xfrm>
            <a:off x="5524500" y="1511300"/>
            <a:ext cx="28449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The earnings files and the current feature table.</a:t>
            </a:r>
            <a:endParaRPr sz="1700">
              <a:solidFill>
                <a:srgbClr val="0B2744"/>
              </a:solidFill>
            </a:endParaRPr>
          </a:p>
        </p:txBody>
      </p:sp>
      <p:sp>
        <p:nvSpPr>
          <p:cNvPr id="96" name="Google Shape;96;p16"/>
          <p:cNvSpPr/>
          <p:nvPr/>
        </p:nvSpPr>
        <p:spPr>
          <a:xfrm>
            <a:off x="609600" y="2463800"/>
            <a:ext cx="7924800" cy="92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6"/>
          <p:cNvSpPr txBox="1"/>
          <p:nvPr/>
        </p:nvSpPr>
        <p:spPr>
          <a:xfrm>
            <a:off x="749300" y="2603500"/>
            <a:ext cx="1727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Observation</a:t>
            </a:r>
            <a:endParaRPr b="1" sz="2000">
              <a:solidFill>
                <a:srgbClr val="0B2744"/>
              </a:solidFill>
            </a:endParaRPr>
          </a:p>
        </p:txBody>
      </p:sp>
      <p:sp>
        <p:nvSpPr>
          <p:cNvPr id="98" name="Google Shape;98;p16"/>
          <p:cNvSpPr txBox="1"/>
          <p:nvPr/>
        </p:nvSpPr>
        <p:spPr>
          <a:xfrm>
            <a:off x="2692400" y="2565400"/>
            <a:ext cx="26544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What the agent can see</a:t>
            </a:r>
            <a:endParaRPr b="1" sz="1800">
              <a:solidFill>
                <a:srgbClr val="0B2744"/>
              </a:solidFill>
            </a:endParaRPr>
          </a:p>
        </p:txBody>
      </p:sp>
      <p:sp>
        <p:nvSpPr>
          <p:cNvPr id="99" name="Google Shape;99;p16"/>
          <p:cNvSpPr txBox="1"/>
          <p:nvPr/>
        </p:nvSpPr>
        <p:spPr>
          <a:xfrm>
            <a:off x="5524500" y="2565400"/>
            <a:ext cx="2844900" cy="850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An excerpt returned by a tool or a screenshot of the table.</a:t>
            </a:r>
            <a:endParaRPr sz="1700">
              <a:solidFill>
                <a:srgbClr val="0B2744"/>
              </a:solidFill>
            </a:endParaRPr>
          </a:p>
        </p:txBody>
      </p:sp>
      <p:sp>
        <p:nvSpPr>
          <p:cNvPr id="100" name="Google Shape;100;p16"/>
          <p:cNvSpPr/>
          <p:nvPr/>
        </p:nvSpPr>
        <p:spPr>
          <a:xfrm>
            <a:off x="609600" y="3517900"/>
            <a:ext cx="7924800" cy="92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6"/>
          <p:cNvSpPr txBox="1"/>
          <p:nvPr/>
        </p:nvSpPr>
        <p:spPr>
          <a:xfrm>
            <a:off x="749300" y="3657600"/>
            <a:ext cx="1727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200">
                <a:solidFill>
                  <a:srgbClr val="0B2744"/>
                </a:solidFill>
              </a:rPr>
              <a:t>Action</a:t>
            </a:r>
            <a:endParaRPr b="1" sz="2200">
              <a:solidFill>
                <a:srgbClr val="0B2744"/>
              </a:solidFill>
            </a:endParaRPr>
          </a:p>
        </p:txBody>
      </p:sp>
      <p:sp>
        <p:nvSpPr>
          <p:cNvPr id="102" name="Google Shape;102;p16"/>
          <p:cNvSpPr txBox="1"/>
          <p:nvPr/>
        </p:nvSpPr>
        <p:spPr>
          <a:xfrm>
            <a:off x="2692400" y="3619500"/>
            <a:ext cx="26544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What the agent chooses to do</a:t>
            </a:r>
            <a:endParaRPr b="1" sz="1800">
              <a:solidFill>
                <a:srgbClr val="0B2744"/>
              </a:solidFill>
            </a:endParaRPr>
          </a:p>
        </p:txBody>
      </p:sp>
      <p:sp>
        <p:nvSpPr>
          <p:cNvPr id="103" name="Google Shape;103;p16"/>
          <p:cNvSpPr txBox="1"/>
          <p:nvPr/>
        </p:nvSpPr>
        <p:spPr>
          <a:xfrm>
            <a:off x="5524500" y="3619500"/>
            <a:ext cx="28449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Read a file, run Python, or edit the table.</a:t>
            </a:r>
            <a:endParaRPr sz="1700">
              <a:solidFill>
                <a:srgbClr val="0B2744"/>
              </a:solidFill>
            </a:endParaRPr>
          </a:p>
        </p:txBody>
      </p:sp>
      <p:sp>
        <p:nvSpPr>
          <p:cNvPr id="104" name="Google Shape;104;p16"/>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Agent–environment concepts; schematic examples</a:t>
            </a:r>
            <a:endParaRPr sz="820">
              <a:solidFill>
                <a:srgbClr val="738294"/>
              </a:solidFill>
            </a:endParaRPr>
          </a:p>
        </p:txBody>
      </p:sp>
      <p:sp>
        <p:nvSpPr>
          <p:cNvPr id="105" name="Google Shape;105;p16"/>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04</a:t>
            </a:r>
            <a:endParaRPr b="1" sz="900">
              <a:solidFill>
                <a:srgbClr val="73829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Skills feed guidance into context inside the harness. The LLM receives context and requests an action. The harness executes the request through external tools and adds the returned observation to the next model input." id="110" name="Google Shape;110;p17" title="Connected anatomy of an agent"/>
          <p:cNvPicPr preferRelativeResize="0"/>
          <p:nvPr/>
        </p:nvPicPr>
        <p:blipFill>
          <a:blip r:embed="rId3">
            <a:alphaModFix/>
          </a:blip>
          <a:stretch>
            <a:fillRect/>
          </a:stretch>
        </p:blipFill>
        <p:spPr>
          <a:xfrm>
            <a:off x="609600" y="1422400"/>
            <a:ext cx="7924803" cy="2641601"/>
          </a:xfrm>
          <a:prstGeom prst="rect">
            <a:avLst/>
          </a:prstGeom>
          <a:noFill/>
          <a:ln>
            <a:noFill/>
          </a:ln>
        </p:spPr>
      </p:pic>
      <p:sp>
        <p:nvSpPr>
          <p:cNvPr id="111" name="Google Shape;111;p17"/>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Brain, harness, tools, and skills</a:t>
            </a:r>
            <a:endParaRPr b="1" sz="3000">
              <a:solidFill>
                <a:srgbClr val="0B2744"/>
              </a:solidFill>
            </a:endParaRPr>
          </a:p>
        </p:txBody>
      </p:sp>
      <p:sp>
        <p:nvSpPr>
          <p:cNvPr id="112" name="Google Shape;112;p17"/>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7"/>
          <p:cNvSpPr txBox="1"/>
          <p:nvPr/>
        </p:nvSpPr>
        <p:spPr>
          <a:xfrm>
            <a:off x="609600" y="4457700"/>
            <a:ext cx="7924800" cy="43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The harness manages the loop between the LLM and its tools.</a:t>
            </a:r>
            <a:endParaRPr sz="1700">
              <a:solidFill>
                <a:srgbClr val="0B2744"/>
              </a:solidFill>
            </a:endParaRPr>
          </a:p>
        </p:txBody>
      </p:sp>
      <p:sp>
        <p:nvSpPr>
          <p:cNvPr id="114" name="Google Shape;114;p17"/>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Functional agent diagram; four-part teaching model</a:t>
            </a:r>
            <a:endParaRPr sz="820">
              <a:solidFill>
                <a:srgbClr val="738294"/>
              </a:solidFill>
            </a:endParaRPr>
          </a:p>
        </p:txBody>
      </p:sp>
      <p:sp>
        <p:nvSpPr>
          <p:cNvPr id="115" name="Google Shape;115;p17"/>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05</a:t>
            </a:r>
            <a:endParaRPr b="1" sz="900">
              <a:solidFill>
                <a:srgbClr val="738294"/>
              </a:solidFill>
            </a:endParaRPr>
          </a:p>
        </p:txBody>
      </p:sp>
      <p:sp>
        <p:nvSpPr>
          <p:cNvPr id="116" name="Google Shape;116;p17"/>
          <p:cNvSpPr txBox="1"/>
          <p:nvPr/>
        </p:nvSpPr>
        <p:spPr>
          <a:xfrm>
            <a:off x="736600" y="1549400"/>
            <a:ext cx="1574700" cy="33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u="sng">
                <a:solidFill>
                  <a:srgbClr val="0B2744"/>
                </a:solidFill>
                <a:hlinkClick action="ppaction://hlinksldjump" r:id="rId4">
                  <a:extLst>
                    <a:ext uri="{A12FA001-AC4F-418D-AE19-62706E023703}">
                      <ahyp:hlinkClr val="tx"/>
                    </a:ext>
                  </a:extLst>
                </a:hlinkClick>
              </a:rPr>
              <a:t>Skills</a:t>
            </a:r>
            <a:endParaRPr b="1" sz="1800">
              <a:solidFill>
                <a:srgbClr val="0B2744"/>
              </a:solidFill>
            </a:endParaRPr>
          </a:p>
        </p:txBody>
      </p:sp>
      <p:sp>
        <p:nvSpPr>
          <p:cNvPr id="117" name="Google Shape;117;p17"/>
          <p:cNvSpPr txBox="1"/>
          <p:nvPr/>
        </p:nvSpPr>
        <p:spPr>
          <a:xfrm>
            <a:off x="2438400" y="1320800"/>
            <a:ext cx="3200400" cy="33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u="sng">
                <a:solidFill>
                  <a:srgbClr val="0B2744"/>
                </a:solidFill>
                <a:hlinkClick action="ppaction://hlinksldjump" r:id="rId5">
                  <a:extLst>
                    <a:ext uri="{A12FA001-AC4F-418D-AE19-62706E023703}">
                      <ahyp:hlinkClr val="tx"/>
                    </a:ext>
                  </a:extLst>
                </a:hlinkClick>
              </a:rPr>
              <a:t>Harness</a:t>
            </a:r>
            <a:endParaRPr b="1" sz="1800">
              <a:solidFill>
                <a:srgbClr val="0B2744"/>
              </a:solidFill>
            </a:endParaRPr>
          </a:p>
        </p:txBody>
      </p:sp>
      <p:sp>
        <p:nvSpPr>
          <p:cNvPr id="118" name="Google Shape;118;p17"/>
          <p:cNvSpPr txBox="1"/>
          <p:nvPr/>
        </p:nvSpPr>
        <p:spPr>
          <a:xfrm>
            <a:off x="2882900" y="2641600"/>
            <a:ext cx="1041300" cy="27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a:solidFill>
                  <a:srgbClr val="0B2744"/>
                </a:solidFill>
              </a:rPr>
              <a:t>Context</a:t>
            </a:r>
            <a:endParaRPr b="1">
              <a:solidFill>
                <a:srgbClr val="0B2744"/>
              </a:solidFill>
            </a:endParaRPr>
          </a:p>
        </p:txBody>
      </p:sp>
      <p:sp>
        <p:nvSpPr>
          <p:cNvPr id="119" name="Google Shape;119;p17"/>
          <p:cNvSpPr txBox="1"/>
          <p:nvPr/>
        </p:nvSpPr>
        <p:spPr>
          <a:xfrm>
            <a:off x="4140200" y="2743200"/>
            <a:ext cx="1485900" cy="304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u="sng">
                <a:solidFill>
                  <a:srgbClr val="0B2744"/>
                </a:solidFill>
                <a:hlinkClick action="ppaction://hlinksldjump" r:id="rId6">
                  <a:extLst>
                    <a:ext uri="{A12FA001-AC4F-418D-AE19-62706E023703}">
                      <ahyp:hlinkClr val="tx"/>
                    </a:ext>
                  </a:extLst>
                </a:hlinkClick>
              </a:rPr>
              <a:t>Brain (LLM)</a:t>
            </a:r>
            <a:endParaRPr b="1" sz="1600">
              <a:solidFill>
                <a:srgbClr val="0B2744"/>
              </a:solidFill>
            </a:endParaRPr>
          </a:p>
        </p:txBody>
      </p:sp>
      <p:sp>
        <p:nvSpPr>
          <p:cNvPr id="120" name="Google Shape;120;p17"/>
          <p:cNvSpPr txBox="1"/>
          <p:nvPr/>
        </p:nvSpPr>
        <p:spPr>
          <a:xfrm>
            <a:off x="6616700" y="1549400"/>
            <a:ext cx="1498500" cy="33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u="sng">
                <a:solidFill>
                  <a:srgbClr val="0B2744"/>
                </a:solidFill>
                <a:hlinkClick action="ppaction://hlinksldjump" r:id="rId7">
                  <a:extLst>
                    <a:ext uri="{A12FA001-AC4F-418D-AE19-62706E023703}">
                      <ahyp:hlinkClr val="tx"/>
                    </a:ext>
                  </a:extLst>
                </a:hlinkClick>
              </a:rPr>
              <a:t>Tools</a:t>
            </a:r>
            <a:endParaRPr b="1" sz="1800">
              <a:solidFill>
                <a:srgbClr val="0B2744"/>
              </a:solidFill>
            </a:endParaRPr>
          </a:p>
        </p:txBody>
      </p:sp>
      <p:sp>
        <p:nvSpPr>
          <p:cNvPr id="121" name="Google Shape;121;p17"/>
          <p:cNvSpPr txBox="1"/>
          <p:nvPr/>
        </p:nvSpPr>
        <p:spPr>
          <a:xfrm>
            <a:off x="1968500" y="2171700"/>
            <a:ext cx="1117500" cy="26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Guidance</a:t>
            </a:r>
            <a:endParaRPr sz="1250">
              <a:solidFill>
                <a:srgbClr val="0B2744"/>
              </a:solidFill>
            </a:endParaRPr>
          </a:p>
        </p:txBody>
      </p:sp>
      <p:sp>
        <p:nvSpPr>
          <p:cNvPr id="122" name="Google Shape;122;p17"/>
          <p:cNvSpPr txBox="1"/>
          <p:nvPr/>
        </p:nvSpPr>
        <p:spPr>
          <a:xfrm>
            <a:off x="3416300" y="2108200"/>
            <a:ext cx="1016100" cy="26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Model input</a:t>
            </a:r>
            <a:endParaRPr sz="1250">
              <a:solidFill>
                <a:srgbClr val="0B2744"/>
              </a:solidFill>
            </a:endParaRPr>
          </a:p>
        </p:txBody>
      </p:sp>
      <p:sp>
        <p:nvSpPr>
          <p:cNvPr id="123" name="Google Shape;123;p17"/>
          <p:cNvSpPr txBox="1"/>
          <p:nvPr/>
        </p:nvSpPr>
        <p:spPr>
          <a:xfrm>
            <a:off x="5143500" y="1968500"/>
            <a:ext cx="787500" cy="4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Tool</a:t>
            </a:r>
            <a:endParaRPr sz="1250">
              <a:solidFill>
                <a:srgbClr val="0B2744"/>
              </a:solidFill>
            </a:endParaRPr>
          </a:p>
          <a:p>
            <a:pPr indent="0" lvl="0" marL="0" rtl="0" algn="ctr">
              <a:lnSpc>
                <a:spcPct val="100000"/>
              </a:lnSpc>
              <a:spcBef>
                <a:spcPts val="0"/>
              </a:spcBef>
              <a:spcAft>
                <a:spcPts val="0"/>
              </a:spcAft>
              <a:buNone/>
            </a:pPr>
            <a:r>
              <a:rPr lang="en" sz="1250">
                <a:solidFill>
                  <a:srgbClr val="0B2744"/>
                </a:solidFill>
              </a:rPr>
              <a:t>request</a:t>
            </a:r>
            <a:endParaRPr sz="1250">
              <a:solidFill>
                <a:srgbClr val="0B2744"/>
              </a:solidFill>
            </a:endParaRPr>
          </a:p>
        </p:txBody>
      </p:sp>
      <p:sp>
        <p:nvSpPr>
          <p:cNvPr id="124" name="Google Shape;124;p17"/>
          <p:cNvSpPr txBox="1"/>
          <p:nvPr/>
        </p:nvSpPr>
        <p:spPr>
          <a:xfrm>
            <a:off x="5969000" y="2095500"/>
            <a:ext cx="965100" cy="26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Execute</a:t>
            </a:r>
            <a:endParaRPr sz="1250">
              <a:solidFill>
                <a:srgbClr val="0B2744"/>
              </a:solidFill>
            </a:endParaRPr>
          </a:p>
        </p:txBody>
      </p:sp>
      <p:sp>
        <p:nvSpPr>
          <p:cNvPr id="125" name="Google Shape;125;p17"/>
          <p:cNvSpPr txBox="1"/>
          <p:nvPr/>
        </p:nvSpPr>
        <p:spPr>
          <a:xfrm>
            <a:off x="2997200" y="2844800"/>
            <a:ext cx="1371600" cy="241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Tool result</a:t>
            </a:r>
            <a:endParaRPr sz="1250">
              <a:solidFill>
                <a:srgbClr val="0B2744"/>
              </a:solidFill>
            </a:endParaRPr>
          </a:p>
        </p:txBody>
      </p:sp>
      <p:sp>
        <p:nvSpPr>
          <p:cNvPr id="126" name="Google Shape;126;p17"/>
          <p:cNvSpPr txBox="1"/>
          <p:nvPr/>
        </p:nvSpPr>
        <p:spPr>
          <a:xfrm>
            <a:off x="660400" y="3543300"/>
            <a:ext cx="1676400" cy="48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0B2744"/>
                </a:solidFill>
              </a:rPr>
              <a:t>Procedures and</a:t>
            </a:r>
            <a:endParaRPr sz="1300">
              <a:solidFill>
                <a:srgbClr val="0B2744"/>
              </a:solidFill>
            </a:endParaRPr>
          </a:p>
          <a:p>
            <a:pPr indent="0" lvl="0" marL="0" rtl="0" algn="ctr">
              <a:lnSpc>
                <a:spcPct val="100000"/>
              </a:lnSpc>
              <a:spcBef>
                <a:spcPts val="0"/>
              </a:spcBef>
              <a:spcAft>
                <a:spcPts val="0"/>
              </a:spcAft>
              <a:buNone/>
            </a:pPr>
            <a:r>
              <a:rPr lang="en" sz="1300">
                <a:solidFill>
                  <a:srgbClr val="0B2744"/>
                </a:solidFill>
              </a:rPr>
              <a:t>examples</a:t>
            </a:r>
            <a:endParaRPr sz="1300">
              <a:solidFill>
                <a:srgbClr val="0B2744"/>
              </a:solidFill>
            </a:endParaRPr>
          </a:p>
        </p:txBody>
      </p:sp>
      <p:sp>
        <p:nvSpPr>
          <p:cNvPr id="127" name="Google Shape;127;p17"/>
          <p:cNvSpPr txBox="1"/>
          <p:nvPr/>
        </p:nvSpPr>
        <p:spPr>
          <a:xfrm>
            <a:off x="2400300" y="3619500"/>
            <a:ext cx="3543300" cy="4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0B2744"/>
                </a:solidFill>
              </a:rPr>
              <a:t>Prepares context, executes calls,</a:t>
            </a:r>
            <a:endParaRPr sz="1300">
              <a:solidFill>
                <a:srgbClr val="0B2744"/>
              </a:solidFill>
            </a:endParaRPr>
          </a:p>
          <a:p>
            <a:pPr indent="0" lvl="0" marL="0" rtl="0" algn="ctr">
              <a:lnSpc>
                <a:spcPct val="100000"/>
              </a:lnSpc>
              <a:spcBef>
                <a:spcPts val="0"/>
              </a:spcBef>
              <a:spcAft>
                <a:spcPts val="0"/>
              </a:spcAft>
              <a:buNone/>
            </a:pPr>
            <a:r>
              <a:rPr lang="en" sz="1300">
                <a:solidFill>
                  <a:srgbClr val="0B2744"/>
                </a:solidFill>
              </a:rPr>
              <a:t>and tracks progress</a:t>
            </a:r>
            <a:endParaRPr sz="1300">
              <a:solidFill>
                <a:srgbClr val="0B2744"/>
              </a:solidFill>
            </a:endParaRPr>
          </a:p>
        </p:txBody>
      </p:sp>
      <p:sp>
        <p:nvSpPr>
          <p:cNvPr id="128" name="Google Shape;128;p17"/>
          <p:cNvSpPr txBox="1"/>
          <p:nvPr/>
        </p:nvSpPr>
        <p:spPr>
          <a:xfrm>
            <a:off x="6438900" y="3556000"/>
            <a:ext cx="1993800" cy="4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0B2744"/>
                </a:solidFill>
              </a:rPr>
              <a:t>Files, code, apps,</a:t>
            </a:r>
            <a:endParaRPr sz="1300">
              <a:solidFill>
                <a:srgbClr val="0B2744"/>
              </a:solidFill>
            </a:endParaRPr>
          </a:p>
          <a:p>
            <a:pPr indent="0" lvl="0" marL="0" rtl="0" algn="ctr">
              <a:lnSpc>
                <a:spcPct val="100000"/>
              </a:lnSpc>
              <a:spcBef>
                <a:spcPts val="0"/>
              </a:spcBef>
              <a:spcAft>
                <a:spcPts val="0"/>
              </a:spcAft>
              <a:buNone/>
            </a:pPr>
            <a:r>
              <a:rPr lang="en" sz="1300">
                <a:solidFill>
                  <a:srgbClr val="0B2744"/>
                </a:solidFill>
              </a:rPr>
              <a:t>and APIs</a:t>
            </a:r>
            <a:endParaRPr sz="1300">
              <a:solidFill>
                <a:srgbClr val="0B2744"/>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pic>
        <p:nvPicPr>
          <p:cNvPr descr="Skills feed guidance into context inside the harness. The LLM receives context and requests an action. The harness executes the request through external tools and adds the returned observation to the next model input." id="133" name="Google Shape;133;p18" title="Connected anatomy of an agent"/>
          <p:cNvPicPr preferRelativeResize="0"/>
          <p:nvPr/>
        </p:nvPicPr>
        <p:blipFill>
          <a:blip r:embed="rId3">
            <a:alphaModFix/>
          </a:blip>
          <a:stretch>
            <a:fillRect/>
          </a:stretch>
        </p:blipFill>
        <p:spPr>
          <a:xfrm>
            <a:off x="609600" y="1320800"/>
            <a:ext cx="7924800" cy="3352800"/>
          </a:xfrm>
          <a:prstGeom prst="rect">
            <a:avLst/>
          </a:prstGeom>
          <a:noFill/>
          <a:ln>
            <a:noFill/>
          </a:ln>
        </p:spPr>
      </p:pic>
      <p:sp>
        <p:nvSpPr>
          <p:cNvPr id="134" name="Google Shape;134;p18"/>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How an agent completes a task</a:t>
            </a:r>
            <a:endParaRPr b="1" sz="3000">
              <a:solidFill>
                <a:srgbClr val="0B2744"/>
              </a:solidFill>
            </a:endParaRPr>
          </a:p>
        </p:txBody>
      </p:sp>
      <p:sp>
        <p:nvSpPr>
          <p:cNvPr id="135" name="Google Shape;135;p18"/>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 name="Google Shape;136;p18"/>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Conceptual animation; synthetic research task</a:t>
            </a:r>
            <a:endParaRPr sz="820">
              <a:solidFill>
                <a:srgbClr val="738294"/>
              </a:solidFill>
            </a:endParaRPr>
          </a:p>
        </p:txBody>
      </p:sp>
      <p:sp>
        <p:nvSpPr>
          <p:cNvPr id="137" name="Google Shape;137;p18"/>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06</a:t>
            </a:r>
            <a:endParaRPr b="1" sz="900">
              <a:solidFill>
                <a:srgbClr val="738294"/>
              </a:solidFill>
            </a:endParaRPr>
          </a:p>
        </p:txBody>
      </p:sp>
      <p:sp>
        <p:nvSpPr>
          <p:cNvPr id="138" name="Google Shape;138;p18"/>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u="sng">
                <a:solidFill>
                  <a:srgbClr val="0B2744"/>
                </a:solidFill>
                <a:hlinkClick action="ppaction://hlinksldjump" r:id="rId4">
                  <a:extLst>
                    <a:ext uri="{A12FA001-AC4F-418D-AE19-62706E023703}">
                      <ahyp:hlinkClr val="tx"/>
                    </a:ext>
                  </a:extLst>
                </a:hlinkClick>
              </a:rPr>
              <a:t>← Anatomy map</a:t>
            </a:r>
            <a:endParaRPr sz="1200">
              <a:solidFill>
                <a:srgbClr val="0B274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Coding agents and work agents</a:t>
            </a:r>
            <a:endParaRPr b="1" sz="3000">
              <a:solidFill>
                <a:srgbClr val="0B2744"/>
              </a:solidFill>
            </a:endParaRPr>
          </a:p>
        </p:txBody>
      </p:sp>
      <p:sp>
        <p:nvSpPr>
          <p:cNvPr id="144" name="Google Shape;144;p19"/>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9"/>
          <p:cNvSpPr/>
          <p:nvPr/>
        </p:nvSpPr>
        <p:spPr>
          <a:xfrm>
            <a:off x="4559300" y="1524000"/>
            <a:ext cx="12600" cy="2946300"/>
          </a:xfrm>
          <a:prstGeom prst="rect">
            <a:avLst/>
          </a:prstGeom>
          <a:solidFill>
            <a:srgbClr val="D1D9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19"/>
          <p:cNvSpPr txBox="1"/>
          <p:nvPr/>
        </p:nvSpPr>
        <p:spPr>
          <a:xfrm>
            <a:off x="609600" y="13970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Coding</a:t>
            </a:r>
            <a:endParaRPr b="1" sz="2100">
              <a:solidFill>
                <a:srgbClr val="0B2744"/>
              </a:solidFill>
            </a:endParaRPr>
          </a:p>
        </p:txBody>
      </p:sp>
      <p:sp>
        <p:nvSpPr>
          <p:cNvPr id="147" name="Google Shape;147;p19"/>
          <p:cNvSpPr txBox="1"/>
          <p:nvPr/>
        </p:nvSpPr>
        <p:spPr>
          <a:xfrm>
            <a:off x="609600" y="1892300"/>
            <a:ext cx="36702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Codex · Claude Code</a:t>
            </a:r>
            <a:endParaRPr sz="1800">
              <a:solidFill>
                <a:srgbClr val="0B2744"/>
              </a:solidFill>
            </a:endParaRPr>
          </a:p>
        </p:txBody>
      </p:sp>
      <p:sp>
        <p:nvSpPr>
          <p:cNvPr id="148" name="Google Shape;148;p19"/>
          <p:cNvSpPr txBox="1"/>
          <p:nvPr/>
        </p:nvSpPr>
        <p:spPr>
          <a:xfrm>
            <a:off x="609600" y="24892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Typical work</a:t>
            </a:r>
            <a:endParaRPr b="1" sz="2100">
              <a:solidFill>
                <a:srgbClr val="0B2744"/>
              </a:solidFill>
            </a:endParaRPr>
          </a:p>
        </p:txBody>
      </p:sp>
      <p:sp>
        <p:nvSpPr>
          <p:cNvPr id="149" name="Google Shape;149;p19"/>
          <p:cNvSpPr txBox="1"/>
          <p:nvPr/>
        </p:nvSpPr>
        <p:spPr>
          <a:xfrm>
            <a:off x="609600" y="2984500"/>
            <a:ext cx="36702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Use these for Python, notebooks, repositories, debugging, and repeatable analysis.</a:t>
            </a:r>
            <a:endParaRPr sz="1800">
              <a:solidFill>
                <a:srgbClr val="0B2744"/>
              </a:solidFill>
            </a:endParaRPr>
          </a:p>
        </p:txBody>
      </p:sp>
      <p:sp>
        <p:nvSpPr>
          <p:cNvPr id="150" name="Google Shape;150;p19"/>
          <p:cNvSpPr txBox="1"/>
          <p:nvPr/>
        </p:nvSpPr>
        <p:spPr>
          <a:xfrm>
            <a:off x="4864100" y="13970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Work</a:t>
            </a:r>
            <a:endParaRPr b="1" sz="2100">
              <a:solidFill>
                <a:srgbClr val="0B2744"/>
              </a:solidFill>
            </a:endParaRPr>
          </a:p>
        </p:txBody>
      </p:sp>
      <p:sp>
        <p:nvSpPr>
          <p:cNvPr id="151" name="Google Shape;151;p19"/>
          <p:cNvSpPr txBox="1"/>
          <p:nvPr/>
        </p:nvSpPr>
        <p:spPr>
          <a:xfrm>
            <a:off x="4864100" y="1892300"/>
            <a:ext cx="36702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ChatGPT Work · Claude Cowork</a:t>
            </a:r>
            <a:endParaRPr sz="1800">
              <a:solidFill>
                <a:srgbClr val="0B2744"/>
              </a:solidFill>
            </a:endParaRPr>
          </a:p>
        </p:txBody>
      </p:sp>
      <p:sp>
        <p:nvSpPr>
          <p:cNvPr id="152" name="Google Shape;152;p19"/>
          <p:cNvSpPr txBox="1"/>
          <p:nvPr/>
        </p:nvSpPr>
        <p:spPr>
          <a:xfrm>
            <a:off x="4864100" y="24892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Typical work</a:t>
            </a:r>
            <a:endParaRPr b="1" sz="2100">
              <a:solidFill>
                <a:srgbClr val="0B2744"/>
              </a:solidFill>
            </a:endParaRPr>
          </a:p>
        </p:txBody>
      </p:sp>
      <p:sp>
        <p:nvSpPr>
          <p:cNvPr id="153" name="Google Shape;153;p19"/>
          <p:cNvSpPr txBox="1"/>
          <p:nvPr/>
        </p:nvSpPr>
        <p:spPr>
          <a:xfrm>
            <a:off x="4864100" y="2984500"/>
            <a:ext cx="36702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Use these for research, presentations, documents, spreadsheets, and connected work.</a:t>
            </a:r>
            <a:endParaRPr sz="1800">
              <a:solidFill>
                <a:srgbClr val="0B2744"/>
              </a:solidFill>
            </a:endParaRPr>
          </a:p>
        </p:txBody>
      </p:sp>
      <p:sp>
        <p:nvSpPr>
          <p:cNvPr id="154" name="Google Shape;154;p19"/>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Instructor recommendations; October 2026</a:t>
            </a:r>
            <a:endParaRPr sz="820">
              <a:solidFill>
                <a:srgbClr val="5C6B7D"/>
              </a:solidFill>
            </a:endParaRPr>
          </a:p>
        </p:txBody>
      </p:sp>
      <p:sp>
        <p:nvSpPr>
          <p:cNvPr id="155" name="Google Shape;155;p19"/>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07</a:t>
            </a:r>
            <a:endParaRPr b="1" sz="900">
              <a:solidFill>
                <a:srgbClr val="5C6B7D"/>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descr="Three matching mechanical cutaway illustrations: a silver Prius hatchback on the left, navy Ferrari-style coupe in the center, and navy Lamborghini-style supercar on the right. The cars illustrate different products built around capable models." id="160" name="Google Shape;160;p20" title="Prius, Ferrari and Lamborghini represent chat, coding and work"/>
          <p:cNvPicPr preferRelativeResize="0"/>
          <p:nvPr/>
        </p:nvPicPr>
        <p:blipFill>
          <a:blip r:embed="rId3">
            <a:alphaModFix/>
          </a:blip>
          <a:stretch>
            <a:fillRect/>
          </a:stretch>
        </p:blipFill>
        <p:spPr>
          <a:xfrm>
            <a:off x="609600" y="1612900"/>
            <a:ext cx="7924803" cy="2641601"/>
          </a:xfrm>
          <a:prstGeom prst="rect">
            <a:avLst/>
          </a:prstGeom>
          <a:noFill/>
          <a:ln>
            <a:noFill/>
          </a:ln>
        </p:spPr>
      </p:pic>
      <p:sp>
        <p:nvSpPr>
          <p:cNvPr id="161" name="Google Shape;161;p20"/>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The model and the product</a:t>
            </a:r>
            <a:endParaRPr b="1" sz="3000">
              <a:solidFill>
                <a:srgbClr val="0B2744"/>
              </a:solidFill>
            </a:endParaRPr>
          </a:p>
        </p:txBody>
      </p:sp>
      <p:sp>
        <p:nvSpPr>
          <p:cNvPr id="162" name="Google Shape;162;p20"/>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20"/>
          <p:cNvSpPr txBox="1"/>
          <p:nvPr/>
        </p:nvSpPr>
        <p:spPr>
          <a:xfrm>
            <a:off x="609600" y="1257300"/>
            <a:ext cx="79248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The model is the engine; the product adds tools, context, and controls.</a:t>
            </a:r>
            <a:endParaRPr sz="1800">
              <a:solidFill>
                <a:srgbClr val="0B2744"/>
              </a:solidFill>
            </a:endParaRPr>
          </a:p>
        </p:txBody>
      </p:sp>
      <p:sp>
        <p:nvSpPr>
          <p:cNvPr id="164" name="Google Shape;164;p20"/>
          <p:cNvSpPr txBox="1"/>
          <p:nvPr/>
        </p:nvSpPr>
        <p:spPr>
          <a:xfrm>
            <a:off x="3251200" y="3911600"/>
            <a:ext cx="2641500" cy="419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 sz="2100">
                <a:solidFill>
                  <a:srgbClr val="0B2744"/>
                </a:solidFill>
              </a:rPr>
              <a:t>Ferrari: coding</a:t>
            </a:r>
            <a:endParaRPr b="1" sz="2100">
              <a:solidFill>
                <a:srgbClr val="0B2744"/>
              </a:solidFill>
            </a:endParaRPr>
          </a:p>
        </p:txBody>
      </p:sp>
      <p:sp>
        <p:nvSpPr>
          <p:cNvPr id="165" name="Google Shape;165;p20"/>
          <p:cNvSpPr txBox="1"/>
          <p:nvPr/>
        </p:nvSpPr>
        <p:spPr>
          <a:xfrm>
            <a:off x="3352800" y="4368800"/>
            <a:ext cx="2438400" cy="546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1700">
                <a:solidFill>
                  <a:srgbClr val="0B2744"/>
                </a:solidFill>
              </a:rPr>
              <a:t>Codex · Claude Code</a:t>
            </a:r>
            <a:endParaRPr sz="1700">
              <a:solidFill>
                <a:srgbClr val="0B2744"/>
              </a:solidFill>
            </a:endParaRPr>
          </a:p>
        </p:txBody>
      </p:sp>
      <p:sp>
        <p:nvSpPr>
          <p:cNvPr id="166" name="Google Shape;166;p20"/>
          <p:cNvSpPr txBox="1"/>
          <p:nvPr/>
        </p:nvSpPr>
        <p:spPr>
          <a:xfrm>
            <a:off x="5994400" y="3911600"/>
            <a:ext cx="2641500" cy="419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 sz="2100">
                <a:solidFill>
                  <a:srgbClr val="0B2744"/>
                </a:solidFill>
              </a:rPr>
              <a:t>Lamborghini: work</a:t>
            </a:r>
            <a:endParaRPr b="1" sz="2100">
              <a:solidFill>
                <a:srgbClr val="0B2744"/>
              </a:solidFill>
            </a:endParaRPr>
          </a:p>
        </p:txBody>
      </p:sp>
      <p:sp>
        <p:nvSpPr>
          <p:cNvPr id="167" name="Google Shape;167;p20"/>
          <p:cNvSpPr txBox="1"/>
          <p:nvPr/>
        </p:nvSpPr>
        <p:spPr>
          <a:xfrm>
            <a:off x="6096000" y="4368800"/>
            <a:ext cx="2438400" cy="546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1700">
                <a:solidFill>
                  <a:srgbClr val="0B2744"/>
                </a:solidFill>
              </a:rPr>
              <a:t>ChatGPT Work</a:t>
            </a:r>
            <a:endParaRPr sz="1700">
              <a:solidFill>
                <a:srgbClr val="0B2744"/>
              </a:solidFill>
            </a:endParaRPr>
          </a:p>
          <a:p>
            <a:pPr indent="0" lvl="0" marL="0" rtl="0" algn="ctr">
              <a:lnSpc>
                <a:spcPct val="110000"/>
              </a:lnSpc>
              <a:spcBef>
                <a:spcPts val="0"/>
              </a:spcBef>
              <a:spcAft>
                <a:spcPts val="0"/>
              </a:spcAft>
              <a:buNone/>
            </a:pPr>
            <a:r>
              <a:rPr lang="en" sz="1700">
                <a:solidFill>
                  <a:srgbClr val="0B2744"/>
                </a:solidFill>
              </a:rPr>
              <a:t>Claude Cowork</a:t>
            </a:r>
            <a:endParaRPr sz="1700">
              <a:solidFill>
                <a:srgbClr val="0B2744"/>
              </a:solidFill>
            </a:endParaRPr>
          </a:p>
        </p:txBody>
      </p:sp>
      <p:sp>
        <p:nvSpPr>
          <p:cNvPr id="168" name="Google Shape;168;p20"/>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Instructor analogy; generated illustration</a:t>
            </a:r>
            <a:endParaRPr sz="820">
              <a:solidFill>
                <a:srgbClr val="738294"/>
              </a:solidFill>
            </a:endParaRPr>
          </a:p>
        </p:txBody>
      </p:sp>
      <p:sp>
        <p:nvSpPr>
          <p:cNvPr id="169" name="Google Shape;169;p20"/>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08</a:t>
            </a:r>
            <a:endParaRPr b="1" sz="900">
              <a:solidFill>
                <a:srgbClr val="738294"/>
              </a:solidFill>
            </a:endParaRPr>
          </a:p>
        </p:txBody>
      </p:sp>
      <p:sp>
        <p:nvSpPr>
          <p:cNvPr id="170" name="Google Shape;170;p20"/>
          <p:cNvSpPr txBox="1"/>
          <p:nvPr/>
        </p:nvSpPr>
        <p:spPr>
          <a:xfrm>
            <a:off x="508000" y="3911600"/>
            <a:ext cx="2641500" cy="4191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b="1" lang="en" sz="2100">
                <a:solidFill>
                  <a:srgbClr val="0B2744"/>
                </a:solidFill>
              </a:rPr>
              <a:t>Prius: chat</a:t>
            </a:r>
            <a:endParaRPr b="1" sz="2100">
              <a:solidFill>
                <a:srgbClr val="0B2744"/>
              </a:solidFill>
            </a:endParaRPr>
          </a:p>
        </p:txBody>
      </p:sp>
      <p:sp>
        <p:nvSpPr>
          <p:cNvPr id="171" name="Google Shape;171;p20"/>
          <p:cNvSpPr txBox="1"/>
          <p:nvPr/>
        </p:nvSpPr>
        <p:spPr>
          <a:xfrm>
            <a:off x="609600" y="4368800"/>
            <a:ext cx="2438400" cy="546000"/>
          </a:xfrm>
          <a:prstGeom prst="rect">
            <a:avLst/>
          </a:prstGeom>
          <a:noFill/>
          <a:ln>
            <a:noFill/>
          </a:ln>
        </p:spPr>
        <p:txBody>
          <a:bodyPr anchorCtr="0" anchor="t" bIns="91425" lIns="91425" spcFirstLastPara="1" rIns="91425" wrap="square" tIns="91425">
            <a:noAutofit/>
          </a:bodyPr>
          <a:lstStyle/>
          <a:p>
            <a:pPr indent="0" lvl="0" marL="0" rtl="0" algn="ctr">
              <a:lnSpc>
                <a:spcPct val="110000"/>
              </a:lnSpc>
              <a:spcBef>
                <a:spcPts val="0"/>
              </a:spcBef>
              <a:spcAft>
                <a:spcPts val="0"/>
              </a:spcAft>
              <a:buNone/>
            </a:pPr>
            <a:r>
              <a:rPr lang="en" sz="1700">
                <a:solidFill>
                  <a:srgbClr val="0B2744"/>
                </a:solidFill>
              </a:rPr>
              <a:t>ChatGPT · Claude</a:t>
            </a:r>
            <a:endParaRPr sz="1700">
              <a:solidFill>
                <a:srgbClr val="0B2744"/>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Computer use</a:t>
            </a:r>
            <a:endParaRPr b="1" sz="3000">
              <a:solidFill>
                <a:srgbClr val="0B2744"/>
              </a:solidFill>
            </a:endParaRPr>
          </a:p>
        </p:txBody>
      </p:sp>
      <p:sp>
        <p:nvSpPr>
          <p:cNvPr id="177" name="Google Shape;177;p21"/>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1"/>
          <p:cNvSpPr/>
          <p:nvPr/>
        </p:nvSpPr>
        <p:spPr>
          <a:xfrm>
            <a:off x="609600" y="1536700"/>
            <a:ext cx="23115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9" name="Google Shape;179;p21"/>
          <p:cNvSpPr/>
          <p:nvPr/>
        </p:nvSpPr>
        <p:spPr>
          <a:xfrm>
            <a:off x="609600" y="15367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1"/>
          <p:cNvSpPr txBox="1"/>
          <p:nvPr/>
        </p:nvSpPr>
        <p:spPr>
          <a:xfrm>
            <a:off x="762000" y="1638300"/>
            <a:ext cx="20067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Observation</a:t>
            </a:r>
            <a:endParaRPr b="1" sz="1700">
              <a:solidFill>
                <a:srgbClr val="0B2744"/>
              </a:solidFill>
            </a:endParaRPr>
          </a:p>
        </p:txBody>
      </p:sp>
      <p:sp>
        <p:nvSpPr>
          <p:cNvPr id="181" name="Google Shape;181;p21"/>
          <p:cNvSpPr txBox="1"/>
          <p:nvPr/>
        </p:nvSpPr>
        <p:spPr>
          <a:xfrm>
            <a:off x="762000" y="2006600"/>
            <a:ext cx="20067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Read a screen or page.</a:t>
            </a:r>
            <a:endParaRPr sz="1550">
              <a:solidFill>
                <a:srgbClr val="0B2744"/>
              </a:solidFill>
            </a:endParaRPr>
          </a:p>
        </p:txBody>
      </p:sp>
      <p:sp>
        <p:nvSpPr>
          <p:cNvPr id="182" name="Google Shape;182;p21"/>
          <p:cNvSpPr/>
          <p:nvPr/>
        </p:nvSpPr>
        <p:spPr>
          <a:xfrm>
            <a:off x="3416300" y="1536700"/>
            <a:ext cx="23115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1"/>
          <p:cNvSpPr/>
          <p:nvPr/>
        </p:nvSpPr>
        <p:spPr>
          <a:xfrm>
            <a:off x="3416300" y="15367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1"/>
          <p:cNvSpPr txBox="1"/>
          <p:nvPr/>
        </p:nvSpPr>
        <p:spPr>
          <a:xfrm>
            <a:off x="3568700" y="1638300"/>
            <a:ext cx="20067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Action</a:t>
            </a:r>
            <a:endParaRPr b="1" sz="1700">
              <a:solidFill>
                <a:srgbClr val="0B2744"/>
              </a:solidFill>
            </a:endParaRPr>
          </a:p>
        </p:txBody>
      </p:sp>
      <p:sp>
        <p:nvSpPr>
          <p:cNvPr id="185" name="Google Shape;185;p21"/>
          <p:cNvSpPr txBox="1"/>
          <p:nvPr/>
        </p:nvSpPr>
        <p:spPr>
          <a:xfrm>
            <a:off x="3568700" y="2006600"/>
            <a:ext cx="20067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Click, type, or navigate.</a:t>
            </a:r>
            <a:endParaRPr sz="1550">
              <a:solidFill>
                <a:srgbClr val="0B2744"/>
              </a:solidFill>
            </a:endParaRPr>
          </a:p>
        </p:txBody>
      </p:sp>
      <p:sp>
        <p:nvSpPr>
          <p:cNvPr id="186" name="Google Shape;186;p21"/>
          <p:cNvSpPr/>
          <p:nvPr/>
        </p:nvSpPr>
        <p:spPr>
          <a:xfrm>
            <a:off x="6223000" y="1536700"/>
            <a:ext cx="23115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21"/>
          <p:cNvSpPr/>
          <p:nvPr/>
        </p:nvSpPr>
        <p:spPr>
          <a:xfrm>
            <a:off x="6223000" y="15367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1"/>
          <p:cNvSpPr txBox="1"/>
          <p:nvPr/>
        </p:nvSpPr>
        <p:spPr>
          <a:xfrm>
            <a:off x="6375400" y="1638300"/>
            <a:ext cx="20067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Next observation</a:t>
            </a:r>
            <a:endParaRPr b="1" sz="1700">
              <a:solidFill>
                <a:srgbClr val="0B2744"/>
              </a:solidFill>
            </a:endParaRPr>
          </a:p>
        </p:txBody>
      </p:sp>
      <p:sp>
        <p:nvSpPr>
          <p:cNvPr id="189" name="Google Shape;189;p21"/>
          <p:cNvSpPr txBox="1"/>
          <p:nvPr/>
        </p:nvSpPr>
        <p:spPr>
          <a:xfrm>
            <a:off x="6375400" y="2006600"/>
            <a:ext cx="20067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Inspect what changed.</a:t>
            </a:r>
            <a:endParaRPr sz="1550">
              <a:solidFill>
                <a:srgbClr val="0B2744"/>
              </a:solidFill>
            </a:endParaRPr>
          </a:p>
        </p:txBody>
      </p:sp>
      <p:sp>
        <p:nvSpPr>
          <p:cNvPr id="190" name="Google Shape;190;p21"/>
          <p:cNvSpPr txBox="1"/>
          <p:nvPr/>
        </p:nvSpPr>
        <p:spPr>
          <a:xfrm>
            <a:off x="2933700" y="1803400"/>
            <a:ext cx="44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t>
            </a:r>
            <a:endParaRPr b="1" sz="2400">
              <a:solidFill>
                <a:srgbClr val="0B2744"/>
              </a:solidFill>
            </a:endParaRPr>
          </a:p>
        </p:txBody>
      </p:sp>
      <p:sp>
        <p:nvSpPr>
          <p:cNvPr id="191" name="Google Shape;191;p21"/>
          <p:cNvSpPr txBox="1"/>
          <p:nvPr/>
        </p:nvSpPr>
        <p:spPr>
          <a:xfrm>
            <a:off x="5740400" y="1803400"/>
            <a:ext cx="44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t>
            </a:r>
            <a:endParaRPr b="1" sz="2400">
              <a:solidFill>
                <a:srgbClr val="0B2744"/>
              </a:solidFill>
            </a:endParaRPr>
          </a:p>
        </p:txBody>
      </p:sp>
      <p:sp>
        <p:nvSpPr>
          <p:cNvPr id="192" name="Google Shape;192;p21"/>
          <p:cNvSpPr txBox="1"/>
          <p:nvPr/>
        </p:nvSpPr>
        <p:spPr>
          <a:xfrm>
            <a:off x="609600" y="2921000"/>
            <a:ext cx="79248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Example: copy evidence from an earnings page into a table.</a:t>
            </a:r>
            <a:endParaRPr b="1" sz="2100">
              <a:solidFill>
                <a:srgbClr val="0B2744"/>
              </a:solidFill>
            </a:endParaRPr>
          </a:p>
        </p:txBody>
      </p:sp>
      <p:sp>
        <p:nvSpPr>
          <p:cNvPr id="193" name="Google Shape;193;p21"/>
          <p:cNvSpPr txBox="1"/>
          <p:nvPr/>
        </p:nvSpPr>
        <p:spPr>
          <a:xfrm>
            <a:off x="609600" y="3568700"/>
            <a:ext cx="3759300" cy="1143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My demo choice</a:t>
            </a:r>
            <a:endParaRPr b="1" sz="2000">
              <a:solidFill>
                <a:srgbClr val="0B2744"/>
              </a:solidFill>
            </a:endParaRPr>
          </a:p>
          <a:p>
            <a:pPr indent="0" lvl="0" marL="0" rtl="0" algn="l">
              <a:lnSpc>
                <a:spcPct val="110000"/>
              </a:lnSpc>
              <a:spcBef>
                <a:spcPts val="0"/>
              </a:spcBef>
              <a:spcAft>
                <a:spcPts val="0"/>
              </a:spcAft>
              <a:buNone/>
            </a:pPr>
            <a:r>
              <a:rPr b="1" lang="en" sz="2000">
                <a:solidFill>
                  <a:srgbClr val="0B2744"/>
                </a:solidFill>
              </a:rPr>
              <a:t>ChatGPT Work</a:t>
            </a:r>
            <a:endParaRPr b="1" sz="2000">
              <a:solidFill>
                <a:srgbClr val="0B2744"/>
              </a:solidFill>
            </a:endParaRPr>
          </a:p>
        </p:txBody>
      </p:sp>
      <p:sp>
        <p:nvSpPr>
          <p:cNvPr id="194" name="Google Shape;194;p21"/>
          <p:cNvSpPr txBox="1"/>
          <p:nvPr/>
        </p:nvSpPr>
        <p:spPr>
          <a:xfrm>
            <a:off x="4800600" y="3530600"/>
            <a:ext cx="3733800" cy="107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Longer tasks need clear instructions, appropriate access, and checks along the way.</a:t>
            </a:r>
            <a:endParaRPr sz="1700">
              <a:solidFill>
                <a:srgbClr val="0B2744"/>
              </a:solidFill>
            </a:endParaRPr>
          </a:p>
        </p:txBody>
      </p:sp>
      <p:sp>
        <p:nvSpPr>
          <p:cNvPr id="195" name="Google Shape;195;p21"/>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Schematic computer-use example</a:t>
            </a:r>
            <a:endParaRPr sz="820">
              <a:solidFill>
                <a:srgbClr val="5C6B7D"/>
              </a:solidFill>
            </a:endParaRPr>
          </a:p>
        </p:txBody>
      </p:sp>
      <p:sp>
        <p:nvSpPr>
          <p:cNvPr id="196" name="Google Shape;196;p21"/>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09</a:t>
            </a:r>
            <a:endParaRPr b="1" sz="900">
              <a:solidFill>
                <a:srgbClr val="5C6B7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Media generation</a:t>
            </a:r>
            <a:endParaRPr b="1" sz="3000">
              <a:solidFill>
                <a:srgbClr val="0B2744"/>
              </a:solidFill>
            </a:endParaRPr>
          </a:p>
        </p:txBody>
      </p:sp>
      <p:sp>
        <p:nvSpPr>
          <p:cNvPr id="202" name="Google Shape;202;p22"/>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2"/>
          <p:cNvSpPr/>
          <p:nvPr/>
        </p:nvSpPr>
        <p:spPr>
          <a:xfrm>
            <a:off x="609600" y="1422400"/>
            <a:ext cx="2438400" cy="313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2"/>
          <p:cNvSpPr/>
          <p:nvPr/>
        </p:nvSpPr>
        <p:spPr>
          <a:xfrm>
            <a:off x="609600" y="1422400"/>
            <a:ext cx="2438400" cy="507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5" name="Google Shape;205;p22"/>
          <p:cNvSpPr txBox="1"/>
          <p:nvPr/>
        </p:nvSpPr>
        <p:spPr>
          <a:xfrm>
            <a:off x="736600" y="1638300"/>
            <a:ext cx="21843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Image generation</a:t>
            </a:r>
            <a:endParaRPr b="1" sz="2000">
              <a:solidFill>
                <a:srgbClr val="0B2744"/>
              </a:solidFill>
            </a:endParaRPr>
          </a:p>
        </p:txBody>
      </p:sp>
      <p:sp>
        <p:nvSpPr>
          <p:cNvPr id="206" name="Google Shape;206;p22"/>
          <p:cNvSpPr txBox="1"/>
          <p:nvPr/>
        </p:nvSpPr>
        <p:spPr>
          <a:xfrm>
            <a:off x="736600" y="2298700"/>
            <a:ext cx="2184300" cy="952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ChatGPT Images</a:t>
            </a:r>
            <a:endParaRPr b="1" sz="1900">
              <a:solidFill>
                <a:srgbClr val="0B2744"/>
              </a:solidFill>
            </a:endParaRPr>
          </a:p>
          <a:p>
            <a:pPr indent="0" lvl="0" marL="0" rtl="0" algn="l">
              <a:lnSpc>
                <a:spcPct val="110000"/>
              </a:lnSpc>
              <a:spcBef>
                <a:spcPts val="0"/>
              </a:spcBef>
              <a:spcAft>
                <a:spcPts val="0"/>
              </a:spcAft>
              <a:buNone/>
            </a:pPr>
            <a:r>
              <a:rPr b="1" lang="en" sz="1900">
                <a:solidFill>
                  <a:srgbClr val="0B2744"/>
                </a:solidFill>
              </a:rPr>
              <a:t>Nano Banana</a:t>
            </a:r>
            <a:endParaRPr b="1" sz="1900">
              <a:solidFill>
                <a:srgbClr val="0B2744"/>
              </a:solidFill>
            </a:endParaRPr>
          </a:p>
        </p:txBody>
      </p:sp>
      <p:sp>
        <p:nvSpPr>
          <p:cNvPr id="207" name="Google Shape;207;p22"/>
          <p:cNvSpPr txBox="1"/>
          <p:nvPr/>
        </p:nvSpPr>
        <p:spPr>
          <a:xfrm>
            <a:off x="736600" y="3479800"/>
            <a:ext cx="2184300" cy="101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Use an image model to create or edit an illustration.</a:t>
            </a:r>
            <a:endParaRPr sz="1700">
              <a:solidFill>
                <a:srgbClr val="0B2744"/>
              </a:solidFill>
            </a:endParaRPr>
          </a:p>
        </p:txBody>
      </p:sp>
      <p:sp>
        <p:nvSpPr>
          <p:cNvPr id="208" name="Google Shape;208;p22"/>
          <p:cNvSpPr/>
          <p:nvPr/>
        </p:nvSpPr>
        <p:spPr>
          <a:xfrm>
            <a:off x="3352800" y="1422400"/>
            <a:ext cx="2438400" cy="313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2"/>
          <p:cNvSpPr/>
          <p:nvPr/>
        </p:nvSpPr>
        <p:spPr>
          <a:xfrm>
            <a:off x="3352800" y="1422400"/>
            <a:ext cx="2438400" cy="507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2"/>
          <p:cNvSpPr txBox="1"/>
          <p:nvPr/>
        </p:nvSpPr>
        <p:spPr>
          <a:xfrm>
            <a:off x="3479800" y="1638300"/>
            <a:ext cx="21843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Video generation</a:t>
            </a:r>
            <a:endParaRPr b="1" sz="2000">
              <a:solidFill>
                <a:srgbClr val="0B2744"/>
              </a:solidFill>
            </a:endParaRPr>
          </a:p>
        </p:txBody>
      </p:sp>
      <p:sp>
        <p:nvSpPr>
          <p:cNvPr id="211" name="Google Shape;211;p22"/>
          <p:cNvSpPr txBox="1"/>
          <p:nvPr/>
        </p:nvSpPr>
        <p:spPr>
          <a:xfrm>
            <a:off x="3479800" y="2298700"/>
            <a:ext cx="2184300" cy="952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Runway</a:t>
            </a:r>
            <a:endParaRPr b="1" sz="1900">
              <a:solidFill>
                <a:srgbClr val="0B2744"/>
              </a:solidFill>
            </a:endParaRPr>
          </a:p>
          <a:p>
            <a:pPr indent="0" lvl="0" marL="0" rtl="0" algn="l">
              <a:lnSpc>
                <a:spcPct val="110000"/>
              </a:lnSpc>
              <a:spcBef>
                <a:spcPts val="0"/>
              </a:spcBef>
              <a:spcAft>
                <a:spcPts val="0"/>
              </a:spcAft>
              <a:buNone/>
            </a:pPr>
            <a:r>
              <a:rPr b="1" lang="en" sz="1900">
                <a:solidFill>
                  <a:srgbClr val="0B2744"/>
                </a:solidFill>
              </a:rPr>
              <a:t>Seedance</a:t>
            </a:r>
            <a:endParaRPr b="1" sz="1900">
              <a:solidFill>
                <a:srgbClr val="0B2744"/>
              </a:solidFill>
            </a:endParaRPr>
          </a:p>
        </p:txBody>
      </p:sp>
      <p:sp>
        <p:nvSpPr>
          <p:cNvPr id="212" name="Google Shape;212;p22"/>
          <p:cNvSpPr txBox="1"/>
          <p:nvPr/>
        </p:nvSpPr>
        <p:spPr>
          <a:xfrm>
            <a:off x="3479800" y="3479800"/>
            <a:ext cx="2184300" cy="101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Use a video model to generate a moving scene.</a:t>
            </a:r>
            <a:endParaRPr sz="1700">
              <a:solidFill>
                <a:srgbClr val="0B2744"/>
              </a:solidFill>
            </a:endParaRPr>
          </a:p>
        </p:txBody>
      </p:sp>
      <p:sp>
        <p:nvSpPr>
          <p:cNvPr id="213" name="Google Shape;213;p22"/>
          <p:cNvSpPr/>
          <p:nvPr/>
        </p:nvSpPr>
        <p:spPr>
          <a:xfrm>
            <a:off x="6096000" y="1422400"/>
            <a:ext cx="2438400" cy="313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22"/>
          <p:cNvSpPr/>
          <p:nvPr/>
        </p:nvSpPr>
        <p:spPr>
          <a:xfrm>
            <a:off x="6096000" y="1422400"/>
            <a:ext cx="2438400" cy="507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22"/>
          <p:cNvSpPr txBox="1"/>
          <p:nvPr/>
        </p:nvSpPr>
        <p:spPr>
          <a:xfrm>
            <a:off x="6223000" y="1638300"/>
            <a:ext cx="2184300" cy="711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Code and rendering</a:t>
            </a:r>
            <a:endParaRPr b="1" sz="2000">
              <a:solidFill>
                <a:srgbClr val="0B2744"/>
              </a:solidFill>
            </a:endParaRPr>
          </a:p>
        </p:txBody>
      </p:sp>
      <p:sp>
        <p:nvSpPr>
          <p:cNvPr id="216" name="Google Shape;216;p22"/>
          <p:cNvSpPr txBox="1"/>
          <p:nvPr/>
        </p:nvSpPr>
        <p:spPr>
          <a:xfrm>
            <a:off x="6223000" y="2298700"/>
            <a:ext cx="2184300" cy="952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SVG · Python · web graphics</a:t>
            </a:r>
            <a:endParaRPr b="1" sz="1900">
              <a:solidFill>
                <a:srgbClr val="0B2744"/>
              </a:solidFill>
            </a:endParaRPr>
          </a:p>
        </p:txBody>
      </p:sp>
      <p:sp>
        <p:nvSpPr>
          <p:cNvPr id="217" name="Google Shape;217;p22"/>
          <p:cNvSpPr txBox="1"/>
          <p:nvPr/>
        </p:nvSpPr>
        <p:spPr>
          <a:xfrm>
            <a:off x="6223000" y="3479800"/>
            <a:ext cx="2184300" cy="101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Have an agent write code that renders an image or animation.</a:t>
            </a:r>
            <a:endParaRPr sz="1700">
              <a:solidFill>
                <a:srgbClr val="0B2744"/>
              </a:solidFill>
            </a:endParaRPr>
          </a:p>
        </p:txBody>
      </p:sp>
      <p:sp>
        <p:nvSpPr>
          <p:cNvPr id="218" name="Google Shape;218;p22"/>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Three routes to generating media</a:t>
            </a:r>
            <a:endParaRPr sz="820">
              <a:solidFill>
                <a:srgbClr val="5C6B7D"/>
              </a:solidFill>
            </a:endParaRPr>
          </a:p>
        </p:txBody>
      </p:sp>
      <p:sp>
        <p:nvSpPr>
          <p:cNvPr id="219" name="Google Shape;219;p22"/>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10</a:t>
            </a:r>
            <a:endParaRPr b="1" sz="900">
              <a:solidFill>
                <a:srgbClr val="5C6B7D"/>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An idealized crank rotates while the piston moves vertically. The connecting rod remains the same length, showing motion generated from geometric constraints." id="224" name="Google Shape;224;p23" title="Code-generated slider-crank animation"/>
          <p:cNvPicPr preferRelativeResize="0"/>
          <p:nvPr/>
        </p:nvPicPr>
        <p:blipFill>
          <a:blip r:embed="rId3">
            <a:alphaModFix/>
          </a:blip>
          <a:stretch>
            <a:fillRect/>
          </a:stretch>
        </p:blipFill>
        <p:spPr>
          <a:xfrm>
            <a:off x="767229" y="1282700"/>
            <a:ext cx="3418541" cy="3352800"/>
          </a:xfrm>
          <a:prstGeom prst="rect">
            <a:avLst/>
          </a:prstGeom>
          <a:noFill/>
          <a:ln>
            <a:noFill/>
          </a:ln>
        </p:spPr>
      </p:pic>
      <p:sp>
        <p:nvSpPr>
          <p:cNvPr id="225" name="Google Shape;225;p23"/>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Generating media with code</a:t>
            </a:r>
            <a:endParaRPr b="1" sz="3000">
              <a:solidFill>
                <a:srgbClr val="0B2744"/>
              </a:solidFill>
            </a:endParaRPr>
          </a:p>
        </p:txBody>
      </p:sp>
      <p:sp>
        <p:nvSpPr>
          <p:cNvPr id="226" name="Google Shape;226;p23"/>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3"/>
          <p:cNvSpPr txBox="1"/>
          <p:nvPr/>
        </p:nvSpPr>
        <p:spPr>
          <a:xfrm>
            <a:off x="4635500" y="1435100"/>
            <a:ext cx="3898800" cy="101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Ask the agent to animate a mechanism.</a:t>
            </a:r>
            <a:endParaRPr b="1" sz="2100">
              <a:solidFill>
                <a:srgbClr val="0B2744"/>
              </a:solidFill>
            </a:endParaRPr>
          </a:p>
        </p:txBody>
      </p:sp>
      <p:sp>
        <p:nvSpPr>
          <p:cNvPr id="228" name="Google Shape;228;p23"/>
          <p:cNvSpPr/>
          <p:nvPr/>
        </p:nvSpPr>
        <p:spPr>
          <a:xfrm>
            <a:off x="4635500" y="2400300"/>
            <a:ext cx="3898800" cy="13971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9" name="Google Shape;229;p23"/>
          <p:cNvSpPr txBox="1"/>
          <p:nvPr/>
        </p:nvSpPr>
        <p:spPr>
          <a:xfrm>
            <a:off x="4737100" y="2501900"/>
            <a:ext cx="36957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430">
                <a:solidFill>
                  <a:srgbClr val="0B2744"/>
                </a:solidFill>
                <a:latin typeface="Courier New"/>
                <a:ea typeface="Courier New"/>
                <a:cs typeface="Courier New"/>
                <a:sym typeface="Courier New"/>
              </a:rPr>
              <a:t>angle = time * speed</a:t>
            </a:r>
            <a:endParaRPr sz="143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30">
                <a:solidFill>
                  <a:srgbClr val="0B2744"/>
                </a:solidFill>
                <a:latin typeface="Courier New"/>
                <a:ea typeface="Courier New"/>
                <a:cs typeface="Courier New"/>
                <a:sym typeface="Courier New"/>
              </a:rPr>
              <a:t>pin = crank(angle)</a:t>
            </a:r>
            <a:endParaRPr sz="143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30">
                <a:solidFill>
                  <a:srgbClr val="0B2744"/>
                </a:solidFill>
                <a:latin typeface="Courier New"/>
                <a:ea typeface="Courier New"/>
                <a:cs typeface="Courier New"/>
                <a:sym typeface="Courier New"/>
              </a:rPr>
              <a:t>piston = slider(pin, rod_length)</a:t>
            </a:r>
            <a:endParaRPr sz="143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430">
                <a:solidFill>
                  <a:srgbClr val="0B2744"/>
                </a:solidFill>
                <a:latin typeface="Courier New"/>
                <a:ea typeface="Courier New"/>
                <a:cs typeface="Courier New"/>
                <a:sym typeface="Courier New"/>
              </a:rPr>
              <a:t>render(pin, piston)</a:t>
            </a:r>
            <a:endParaRPr sz="1430">
              <a:solidFill>
                <a:srgbClr val="0B2744"/>
              </a:solidFill>
              <a:latin typeface="Courier New"/>
              <a:ea typeface="Courier New"/>
              <a:cs typeface="Courier New"/>
              <a:sym typeface="Courier New"/>
            </a:endParaRPr>
          </a:p>
        </p:txBody>
      </p:sp>
      <p:sp>
        <p:nvSpPr>
          <p:cNvPr id="230" name="Google Shape;230;p23"/>
          <p:cNvSpPr txBox="1"/>
          <p:nvPr/>
        </p:nvSpPr>
        <p:spPr>
          <a:xfrm>
            <a:off x="4635500" y="4038600"/>
            <a:ext cx="3898800" cy="78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The program updates the geometry for each frame.</a:t>
            </a:r>
            <a:endParaRPr sz="1800">
              <a:solidFill>
                <a:srgbClr val="0B2744"/>
              </a:solidFill>
            </a:endParaRPr>
          </a:p>
        </p:txBody>
      </p:sp>
      <p:sp>
        <p:nvSpPr>
          <p:cNvPr id="231" name="Google Shape;231;p23"/>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Code-generated mechanism; anatomy-inspired illustration</a:t>
            </a:r>
            <a:endParaRPr sz="820">
              <a:solidFill>
                <a:srgbClr val="738294"/>
              </a:solidFill>
            </a:endParaRPr>
          </a:p>
        </p:txBody>
      </p:sp>
      <p:sp>
        <p:nvSpPr>
          <p:cNvPr id="232" name="Google Shape;232;p23"/>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11</a:t>
            </a:r>
            <a:endParaRPr b="1" sz="900">
              <a:solidFill>
                <a:srgbClr val="738294"/>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descr="Skills feed guidance into context inside the harness. The LLM receives context and requests an action. The harness executes the request through external tools and adds the returned observation to the next model input." id="237" name="Google Shape;237;p24" title="Connected anatomy of an agent"/>
          <p:cNvPicPr preferRelativeResize="0"/>
          <p:nvPr/>
        </p:nvPicPr>
        <p:blipFill>
          <a:blip r:embed="rId3">
            <a:alphaModFix/>
          </a:blip>
          <a:stretch>
            <a:fillRect/>
          </a:stretch>
        </p:blipFill>
        <p:spPr>
          <a:xfrm>
            <a:off x="609600" y="1422400"/>
            <a:ext cx="7924803" cy="2641601"/>
          </a:xfrm>
          <a:prstGeom prst="rect">
            <a:avLst/>
          </a:prstGeom>
          <a:noFill/>
          <a:ln>
            <a:noFill/>
          </a:ln>
        </p:spPr>
      </p:pic>
      <p:sp>
        <p:nvSpPr>
          <p:cNvPr id="238" name="Google Shape;238;p24"/>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How the harness uses tools</a:t>
            </a:r>
            <a:endParaRPr b="1" sz="3000">
              <a:solidFill>
                <a:srgbClr val="0B2744"/>
              </a:solidFill>
            </a:endParaRPr>
          </a:p>
        </p:txBody>
      </p:sp>
      <p:sp>
        <p:nvSpPr>
          <p:cNvPr id="239" name="Google Shape;239;p24"/>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0" name="Google Shape;240;p24"/>
          <p:cNvSpPr txBox="1"/>
          <p:nvPr/>
        </p:nvSpPr>
        <p:spPr>
          <a:xfrm>
            <a:off x="609600" y="4406900"/>
            <a:ext cx="7924800" cy="43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A tool result becomes part of the input for the next model call.</a:t>
            </a:r>
            <a:endParaRPr sz="1800">
              <a:solidFill>
                <a:srgbClr val="0B2744"/>
              </a:solidFill>
            </a:endParaRPr>
          </a:p>
        </p:txBody>
      </p:sp>
      <p:sp>
        <p:nvSpPr>
          <p:cNvPr id="241" name="Google Shape;241;p24"/>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The same agent diagram, focused on tool execution</a:t>
            </a:r>
            <a:endParaRPr sz="820">
              <a:solidFill>
                <a:srgbClr val="738294"/>
              </a:solidFill>
            </a:endParaRPr>
          </a:p>
        </p:txBody>
      </p:sp>
      <p:sp>
        <p:nvSpPr>
          <p:cNvPr id="242" name="Google Shape;242;p24"/>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12</a:t>
            </a:r>
            <a:endParaRPr b="1" sz="900">
              <a:solidFill>
                <a:srgbClr val="738294"/>
              </a:solidFill>
            </a:endParaRPr>
          </a:p>
        </p:txBody>
      </p:sp>
      <p:sp>
        <p:nvSpPr>
          <p:cNvPr id="243" name="Google Shape;243;p24"/>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u="sng">
                <a:solidFill>
                  <a:srgbClr val="0B2744"/>
                </a:solidFill>
                <a:hlinkClick action="ppaction://hlinksldjump" r:id="rId4">
                  <a:extLst>
                    <a:ext uri="{A12FA001-AC4F-418D-AE19-62706E023703}">
                      <ahyp:hlinkClr val="tx"/>
                    </a:ext>
                  </a:extLst>
                </a:hlinkClick>
              </a:rPr>
              <a:t>← Anatomy map</a:t>
            </a:r>
            <a:endParaRPr sz="1200">
              <a:solidFill>
                <a:srgbClr val="0B2744"/>
              </a:solidFill>
            </a:endParaRPr>
          </a:p>
        </p:txBody>
      </p:sp>
      <p:sp>
        <p:nvSpPr>
          <p:cNvPr id="244" name="Google Shape;244;p24"/>
          <p:cNvSpPr txBox="1"/>
          <p:nvPr/>
        </p:nvSpPr>
        <p:spPr>
          <a:xfrm>
            <a:off x="736600" y="1549400"/>
            <a:ext cx="1574700" cy="33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u="sng">
                <a:solidFill>
                  <a:srgbClr val="0B2744"/>
                </a:solidFill>
                <a:hlinkClick action="ppaction://hlinksldjump" r:id="rId5">
                  <a:extLst>
                    <a:ext uri="{A12FA001-AC4F-418D-AE19-62706E023703}">
                      <ahyp:hlinkClr val="tx"/>
                    </a:ext>
                  </a:extLst>
                </a:hlinkClick>
              </a:rPr>
              <a:t>Skills</a:t>
            </a:r>
            <a:endParaRPr b="1" sz="1800">
              <a:solidFill>
                <a:srgbClr val="0B2744"/>
              </a:solidFill>
            </a:endParaRPr>
          </a:p>
        </p:txBody>
      </p:sp>
      <p:sp>
        <p:nvSpPr>
          <p:cNvPr id="245" name="Google Shape;245;p24"/>
          <p:cNvSpPr txBox="1"/>
          <p:nvPr/>
        </p:nvSpPr>
        <p:spPr>
          <a:xfrm>
            <a:off x="2438400" y="1320800"/>
            <a:ext cx="3200400" cy="33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u="sng">
                <a:solidFill>
                  <a:srgbClr val="0B2744"/>
                </a:solidFill>
                <a:hlinkClick action="ppaction://hlinksldjump" r:id="rId6">
                  <a:extLst>
                    <a:ext uri="{A12FA001-AC4F-418D-AE19-62706E023703}">
                      <ahyp:hlinkClr val="tx"/>
                    </a:ext>
                  </a:extLst>
                </a:hlinkClick>
              </a:rPr>
              <a:t>Harness</a:t>
            </a:r>
            <a:endParaRPr b="1" sz="1800">
              <a:solidFill>
                <a:srgbClr val="0B2744"/>
              </a:solidFill>
            </a:endParaRPr>
          </a:p>
        </p:txBody>
      </p:sp>
      <p:sp>
        <p:nvSpPr>
          <p:cNvPr id="246" name="Google Shape;246;p24"/>
          <p:cNvSpPr txBox="1"/>
          <p:nvPr/>
        </p:nvSpPr>
        <p:spPr>
          <a:xfrm>
            <a:off x="2882900" y="2641600"/>
            <a:ext cx="1041300" cy="279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a:solidFill>
                  <a:srgbClr val="0B2744"/>
                </a:solidFill>
              </a:rPr>
              <a:t>Context</a:t>
            </a:r>
            <a:endParaRPr b="1">
              <a:solidFill>
                <a:srgbClr val="0B2744"/>
              </a:solidFill>
            </a:endParaRPr>
          </a:p>
        </p:txBody>
      </p:sp>
      <p:sp>
        <p:nvSpPr>
          <p:cNvPr id="247" name="Google Shape;247;p24"/>
          <p:cNvSpPr txBox="1"/>
          <p:nvPr/>
        </p:nvSpPr>
        <p:spPr>
          <a:xfrm>
            <a:off x="4140200" y="2743200"/>
            <a:ext cx="1485900" cy="304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600" u="sng">
                <a:solidFill>
                  <a:srgbClr val="0B2744"/>
                </a:solidFill>
                <a:hlinkClick action="ppaction://hlinksldjump" r:id="rId7">
                  <a:extLst>
                    <a:ext uri="{A12FA001-AC4F-418D-AE19-62706E023703}">
                      <ahyp:hlinkClr val="tx"/>
                    </a:ext>
                  </a:extLst>
                </a:hlinkClick>
              </a:rPr>
              <a:t>Brain (LLM)</a:t>
            </a:r>
            <a:endParaRPr b="1" sz="1600">
              <a:solidFill>
                <a:srgbClr val="0B2744"/>
              </a:solidFill>
            </a:endParaRPr>
          </a:p>
        </p:txBody>
      </p:sp>
      <p:sp>
        <p:nvSpPr>
          <p:cNvPr id="248" name="Google Shape;248;p24"/>
          <p:cNvSpPr txBox="1"/>
          <p:nvPr/>
        </p:nvSpPr>
        <p:spPr>
          <a:xfrm>
            <a:off x="6616700" y="1549400"/>
            <a:ext cx="1498500" cy="3303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800" u="sng">
                <a:solidFill>
                  <a:srgbClr val="0B2744"/>
                </a:solidFill>
                <a:hlinkClick action="ppaction://hlinksldjump" r:id="rId8">
                  <a:extLst>
                    <a:ext uri="{A12FA001-AC4F-418D-AE19-62706E023703}">
                      <ahyp:hlinkClr val="tx"/>
                    </a:ext>
                  </a:extLst>
                </a:hlinkClick>
              </a:rPr>
              <a:t>Tools</a:t>
            </a:r>
            <a:endParaRPr b="1" sz="1800">
              <a:solidFill>
                <a:srgbClr val="0B2744"/>
              </a:solidFill>
            </a:endParaRPr>
          </a:p>
        </p:txBody>
      </p:sp>
      <p:sp>
        <p:nvSpPr>
          <p:cNvPr id="249" name="Google Shape;249;p24"/>
          <p:cNvSpPr txBox="1"/>
          <p:nvPr/>
        </p:nvSpPr>
        <p:spPr>
          <a:xfrm>
            <a:off x="1968500" y="2171700"/>
            <a:ext cx="1117500" cy="26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Guidance</a:t>
            </a:r>
            <a:endParaRPr sz="1250">
              <a:solidFill>
                <a:srgbClr val="0B2744"/>
              </a:solidFill>
            </a:endParaRPr>
          </a:p>
        </p:txBody>
      </p:sp>
      <p:sp>
        <p:nvSpPr>
          <p:cNvPr id="250" name="Google Shape;250;p24"/>
          <p:cNvSpPr txBox="1"/>
          <p:nvPr/>
        </p:nvSpPr>
        <p:spPr>
          <a:xfrm>
            <a:off x="3416300" y="2108200"/>
            <a:ext cx="1016100" cy="26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Model input</a:t>
            </a:r>
            <a:endParaRPr sz="1250">
              <a:solidFill>
                <a:srgbClr val="0B2744"/>
              </a:solidFill>
            </a:endParaRPr>
          </a:p>
        </p:txBody>
      </p:sp>
      <p:sp>
        <p:nvSpPr>
          <p:cNvPr id="251" name="Google Shape;251;p24"/>
          <p:cNvSpPr txBox="1"/>
          <p:nvPr/>
        </p:nvSpPr>
        <p:spPr>
          <a:xfrm>
            <a:off x="5143500" y="1968500"/>
            <a:ext cx="787500" cy="4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Tool</a:t>
            </a:r>
            <a:endParaRPr sz="1250">
              <a:solidFill>
                <a:srgbClr val="0B2744"/>
              </a:solidFill>
            </a:endParaRPr>
          </a:p>
          <a:p>
            <a:pPr indent="0" lvl="0" marL="0" rtl="0" algn="ctr">
              <a:lnSpc>
                <a:spcPct val="100000"/>
              </a:lnSpc>
              <a:spcBef>
                <a:spcPts val="0"/>
              </a:spcBef>
              <a:spcAft>
                <a:spcPts val="0"/>
              </a:spcAft>
              <a:buNone/>
            </a:pPr>
            <a:r>
              <a:rPr lang="en" sz="1250">
                <a:solidFill>
                  <a:srgbClr val="0B2744"/>
                </a:solidFill>
              </a:rPr>
              <a:t>request</a:t>
            </a:r>
            <a:endParaRPr sz="1250">
              <a:solidFill>
                <a:srgbClr val="0B2744"/>
              </a:solidFill>
            </a:endParaRPr>
          </a:p>
        </p:txBody>
      </p:sp>
      <p:sp>
        <p:nvSpPr>
          <p:cNvPr id="252" name="Google Shape;252;p24"/>
          <p:cNvSpPr txBox="1"/>
          <p:nvPr/>
        </p:nvSpPr>
        <p:spPr>
          <a:xfrm>
            <a:off x="5969000" y="2095500"/>
            <a:ext cx="965100" cy="26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Execute</a:t>
            </a:r>
            <a:endParaRPr sz="1250">
              <a:solidFill>
                <a:srgbClr val="0B2744"/>
              </a:solidFill>
            </a:endParaRPr>
          </a:p>
        </p:txBody>
      </p:sp>
      <p:sp>
        <p:nvSpPr>
          <p:cNvPr id="253" name="Google Shape;253;p24"/>
          <p:cNvSpPr txBox="1"/>
          <p:nvPr/>
        </p:nvSpPr>
        <p:spPr>
          <a:xfrm>
            <a:off x="2997200" y="2844800"/>
            <a:ext cx="1371600" cy="241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250">
                <a:solidFill>
                  <a:srgbClr val="0B2744"/>
                </a:solidFill>
              </a:rPr>
              <a:t>Tool result</a:t>
            </a:r>
            <a:endParaRPr sz="1250">
              <a:solidFill>
                <a:srgbClr val="0B2744"/>
              </a:solidFill>
            </a:endParaRPr>
          </a:p>
        </p:txBody>
      </p:sp>
      <p:sp>
        <p:nvSpPr>
          <p:cNvPr id="254" name="Google Shape;254;p24"/>
          <p:cNvSpPr txBox="1"/>
          <p:nvPr/>
        </p:nvSpPr>
        <p:spPr>
          <a:xfrm>
            <a:off x="660400" y="3543300"/>
            <a:ext cx="1676400" cy="482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0B2744"/>
                </a:solidFill>
              </a:rPr>
              <a:t>Procedures and</a:t>
            </a:r>
            <a:endParaRPr sz="1300">
              <a:solidFill>
                <a:srgbClr val="0B2744"/>
              </a:solidFill>
            </a:endParaRPr>
          </a:p>
          <a:p>
            <a:pPr indent="0" lvl="0" marL="0" rtl="0" algn="ctr">
              <a:lnSpc>
                <a:spcPct val="100000"/>
              </a:lnSpc>
              <a:spcBef>
                <a:spcPts val="0"/>
              </a:spcBef>
              <a:spcAft>
                <a:spcPts val="0"/>
              </a:spcAft>
              <a:buNone/>
            </a:pPr>
            <a:r>
              <a:rPr lang="en" sz="1300">
                <a:solidFill>
                  <a:srgbClr val="0B2744"/>
                </a:solidFill>
              </a:rPr>
              <a:t>examples</a:t>
            </a:r>
            <a:endParaRPr sz="1300">
              <a:solidFill>
                <a:srgbClr val="0B2744"/>
              </a:solidFill>
            </a:endParaRPr>
          </a:p>
        </p:txBody>
      </p:sp>
      <p:sp>
        <p:nvSpPr>
          <p:cNvPr id="255" name="Google Shape;255;p24"/>
          <p:cNvSpPr txBox="1"/>
          <p:nvPr/>
        </p:nvSpPr>
        <p:spPr>
          <a:xfrm>
            <a:off x="2400300" y="3619500"/>
            <a:ext cx="3543300" cy="4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0B2744"/>
                </a:solidFill>
              </a:rPr>
              <a:t>Prepares context, executes calls,</a:t>
            </a:r>
            <a:endParaRPr sz="1300">
              <a:solidFill>
                <a:srgbClr val="0B2744"/>
              </a:solidFill>
            </a:endParaRPr>
          </a:p>
          <a:p>
            <a:pPr indent="0" lvl="0" marL="0" rtl="0" algn="ctr">
              <a:lnSpc>
                <a:spcPct val="100000"/>
              </a:lnSpc>
              <a:spcBef>
                <a:spcPts val="0"/>
              </a:spcBef>
              <a:spcAft>
                <a:spcPts val="0"/>
              </a:spcAft>
              <a:buNone/>
            </a:pPr>
            <a:r>
              <a:rPr lang="en" sz="1300">
                <a:solidFill>
                  <a:srgbClr val="0B2744"/>
                </a:solidFill>
              </a:rPr>
              <a:t>and tracks progress</a:t>
            </a:r>
            <a:endParaRPr sz="1300">
              <a:solidFill>
                <a:srgbClr val="0B2744"/>
              </a:solidFill>
            </a:endParaRPr>
          </a:p>
        </p:txBody>
      </p:sp>
      <p:sp>
        <p:nvSpPr>
          <p:cNvPr id="256" name="Google Shape;256;p24"/>
          <p:cNvSpPr txBox="1"/>
          <p:nvPr/>
        </p:nvSpPr>
        <p:spPr>
          <a:xfrm>
            <a:off x="6438900" y="3556000"/>
            <a:ext cx="1993800" cy="4698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1300">
                <a:solidFill>
                  <a:srgbClr val="0B2744"/>
                </a:solidFill>
              </a:rPr>
              <a:t>Files, code, apps,</a:t>
            </a:r>
            <a:endParaRPr sz="1300">
              <a:solidFill>
                <a:srgbClr val="0B2744"/>
              </a:solidFill>
            </a:endParaRPr>
          </a:p>
          <a:p>
            <a:pPr indent="0" lvl="0" marL="0" rtl="0" algn="ctr">
              <a:lnSpc>
                <a:spcPct val="100000"/>
              </a:lnSpc>
              <a:spcBef>
                <a:spcPts val="0"/>
              </a:spcBef>
              <a:spcAft>
                <a:spcPts val="0"/>
              </a:spcAft>
              <a:buNone/>
            </a:pPr>
            <a:r>
              <a:rPr lang="en" sz="1300">
                <a:solidFill>
                  <a:srgbClr val="0B2744"/>
                </a:solidFill>
              </a:rPr>
              <a:t>and APIs</a:t>
            </a:r>
            <a:endParaRPr sz="1300">
              <a:solidFill>
                <a:srgbClr val="0B2744"/>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Model Context Protocol (MCP)</a:t>
            </a:r>
            <a:endParaRPr b="1" sz="3000">
              <a:solidFill>
                <a:srgbClr val="0B2744"/>
              </a:solidFill>
            </a:endParaRPr>
          </a:p>
        </p:txBody>
      </p:sp>
      <p:sp>
        <p:nvSpPr>
          <p:cNvPr id="262" name="Google Shape;262;p25"/>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3" name="Google Shape;263;p25"/>
          <p:cNvSpPr/>
          <p:nvPr/>
        </p:nvSpPr>
        <p:spPr>
          <a:xfrm>
            <a:off x="609600" y="1701800"/>
            <a:ext cx="1828800" cy="1231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4" name="Google Shape;264;p25"/>
          <p:cNvSpPr txBox="1"/>
          <p:nvPr/>
        </p:nvSpPr>
        <p:spPr>
          <a:xfrm>
            <a:off x="711200" y="1892300"/>
            <a:ext cx="16509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Agent</a:t>
            </a:r>
            <a:endParaRPr b="1" sz="1550">
              <a:solidFill>
                <a:srgbClr val="0B2744"/>
              </a:solidFill>
            </a:endParaRPr>
          </a:p>
        </p:txBody>
      </p:sp>
      <p:sp>
        <p:nvSpPr>
          <p:cNvPr id="265" name="Google Shape;265;p25"/>
          <p:cNvSpPr txBox="1"/>
          <p:nvPr/>
        </p:nvSpPr>
        <p:spPr>
          <a:xfrm>
            <a:off x="711200" y="2374900"/>
            <a:ext cx="1650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0B2744"/>
                </a:solidFill>
              </a:rPr>
              <a:t>Chooses an action</a:t>
            </a:r>
            <a:endParaRPr sz="1500">
              <a:solidFill>
                <a:srgbClr val="0B2744"/>
              </a:solidFill>
            </a:endParaRPr>
          </a:p>
        </p:txBody>
      </p:sp>
      <p:sp>
        <p:nvSpPr>
          <p:cNvPr id="266" name="Google Shape;266;p25"/>
          <p:cNvSpPr txBox="1"/>
          <p:nvPr/>
        </p:nvSpPr>
        <p:spPr>
          <a:xfrm>
            <a:off x="2413000" y="2070100"/>
            <a:ext cx="3303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t>
            </a:r>
            <a:endParaRPr b="1" sz="2400">
              <a:solidFill>
                <a:srgbClr val="0B2744"/>
              </a:solidFill>
            </a:endParaRPr>
          </a:p>
        </p:txBody>
      </p:sp>
      <p:sp>
        <p:nvSpPr>
          <p:cNvPr id="267" name="Google Shape;267;p25"/>
          <p:cNvSpPr/>
          <p:nvPr/>
        </p:nvSpPr>
        <p:spPr>
          <a:xfrm>
            <a:off x="2641600" y="1701800"/>
            <a:ext cx="1828800" cy="1231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8" name="Google Shape;268;p25"/>
          <p:cNvSpPr txBox="1"/>
          <p:nvPr/>
        </p:nvSpPr>
        <p:spPr>
          <a:xfrm>
            <a:off x="2743200" y="1892300"/>
            <a:ext cx="16509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MCP client</a:t>
            </a:r>
            <a:endParaRPr b="1" sz="1550">
              <a:solidFill>
                <a:srgbClr val="0B2744"/>
              </a:solidFill>
            </a:endParaRPr>
          </a:p>
        </p:txBody>
      </p:sp>
      <p:sp>
        <p:nvSpPr>
          <p:cNvPr id="269" name="Google Shape;269;p25"/>
          <p:cNvSpPr txBox="1"/>
          <p:nvPr/>
        </p:nvSpPr>
        <p:spPr>
          <a:xfrm>
            <a:off x="2743200" y="2374900"/>
            <a:ext cx="1650900" cy="533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0B2744"/>
                </a:solidFill>
              </a:rPr>
              <a:t>Connects to server</a:t>
            </a:r>
            <a:endParaRPr sz="1500">
              <a:solidFill>
                <a:srgbClr val="0B2744"/>
              </a:solidFill>
            </a:endParaRPr>
          </a:p>
        </p:txBody>
      </p:sp>
      <p:sp>
        <p:nvSpPr>
          <p:cNvPr id="270" name="Google Shape;270;p25"/>
          <p:cNvSpPr txBox="1"/>
          <p:nvPr/>
        </p:nvSpPr>
        <p:spPr>
          <a:xfrm>
            <a:off x="4445000" y="2070100"/>
            <a:ext cx="3303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t>
            </a:r>
            <a:endParaRPr b="1" sz="2400">
              <a:solidFill>
                <a:srgbClr val="0B2744"/>
              </a:solidFill>
            </a:endParaRPr>
          </a:p>
        </p:txBody>
      </p:sp>
      <p:sp>
        <p:nvSpPr>
          <p:cNvPr id="271" name="Google Shape;271;p25"/>
          <p:cNvSpPr/>
          <p:nvPr/>
        </p:nvSpPr>
        <p:spPr>
          <a:xfrm>
            <a:off x="4673600" y="1701800"/>
            <a:ext cx="1828800" cy="1231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2" name="Google Shape;272;p25"/>
          <p:cNvSpPr txBox="1"/>
          <p:nvPr/>
        </p:nvSpPr>
        <p:spPr>
          <a:xfrm>
            <a:off x="4775200" y="1892300"/>
            <a:ext cx="16509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MCP SERVER</a:t>
            </a:r>
            <a:endParaRPr b="1" sz="1550">
              <a:solidFill>
                <a:srgbClr val="0B2744"/>
              </a:solidFill>
            </a:endParaRPr>
          </a:p>
        </p:txBody>
      </p:sp>
      <p:sp>
        <p:nvSpPr>
          <p:cNvPr id="273" name="Google Shape;273;p25"/>
          <p:cNvSpPr txBox="1"/>
          <p:nvPr/>
        </p:nvSpPr>
        <p:spPr>
          <a:xfrm>
            <a:off x="4775200" y="2374900"/>
            <a:ext cx="1650900" cy="533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0B2744"/>
                </a:solidFill>
              </a:rPr>
              <a:t>Exposes tools</a:t>
            </a:r>
            <a:endParaRPr sz="1500">
              <a:solidFill>
                <a:srgbClr val="0B2744"/>
              </a:solidFill>
            </a:endParaRPr>
          </a:p>
        </p:txBody>
      </p:sp>
      <p:sp>
        <p:nvSpPr>
          <p:cNvPr id="274" name="Google Shape;274;p25"/>
          <p:cNvSpPr txBox="1"/>
          <p:nvPr/>
        </p:nvSpPr>
        <p:spPr>
          <a:xfrm>
            <a:off x="6477000" y="2070100"/>
            <a:ext cx="3303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t>
            </a:r>
            <a:endParaRPr b="1" sz="2400">
              <a:solidFill>
                <a:srgbClr val="0B2744"/>
              </a:solidFill>
            </a:endParaRPr>
          </a:p>
        </p:txBody>
      </p:sp>
      <p:sp>
        <p:nvSpPr>
          <p:cNvPr id="275" name="Google Shape;275;p25"/>
          <p:cNvSpPr/>
          <p:nvPr/>
        </p:nvSpPr>
        <p:spPr>
          <a:xfrm>
            <a:off x="6705600" y="1701800"/>
            <a:ext cx="1828800" cy="1231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5"/>
          <p:cNvSpPr txBox="1"/>
          <p:nvPr/>
        </p:nvSpPr>
        <p:spPr>
          <a:xfrm>
            <a:off x="6807200" y="1892300"/>
            <a:ext cx="16509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APP / API</a:t>
            </a:r>
            <a:endParaRPr b="1" sz="1550">
              <a:solidFill>
                <a:srgbClr val="0B2744"/>
              </a:solidFill>
            </a:endParaRPr>
          </a:p>
        </p:txBody>
      </p:sp>
      <p:sp>
        <p:nvSpPr>
          <p:cNvPr id="277" name="Google Shape;277;p25"/>
          <p:cNvSpPr txBox="1"/>
          <p:nvPr/>
        </p:nvSpPr>
        <p:spPr>
          <a:xfrm>
            <a:off x="6807200" y="2374900"/>
            <a:ext cx="1650900" cy="533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0B2744"/>
                </a:solidFill>
              </a:rPr>
              <a:t>Data and actions</a:t>
            </a:r>
            <a:endParaRPr sz="1500">
              <a:solidFill>
                <a:srgbClr val="0B2744"/>
              </a:solidFill>
            </a:endParaRPr>
          </a:p>
        </p:txBody>
      </p:sp>
      <p:sp>
        <p:nvSpPr>
          <p:cNvPr id="278" name="Google Shape;278;p25"/>
          <p:cNvSpPr txBox="1"/>
          <p:nvPr/>
        </p:nvSpPr>
        <p:spPr>
          <a:xfrm>
            <a:off x="609600" y="3365500"/>
            <a:ext cx="7924800" cy="46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300">
                <a:solidFill>
                  <a:srgbClr val="0B2744"/>
                </a:solidFill>
              </a:rPr>
              <a:t>A protocol defines how systems communicate.</a:t>
            </a:r>
            <a:endParaRPr b="1" sz="2300">
              <a:solidFill>
                <a:srgbClr val="0B2744"/>
              </a:solidFill>
            </a:endParaRPr>
          </a:p>
        </p:txBody>
      </p:sp>
      <p:sp>
        <p:nvSpPr>
          <p:cNvPr id="279" name="Google Shape;279;p25"/>
          <p:cNvSpPr txBox="1"/>
          <p:nvPr/>
        </p:nvSpPr>
        <p:spPr>
          <a:xfrm>
            <a:off x="609600" y="4064000"/>
            <a:ext cx="7924800" cy="673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MCP standardizes agent connections, like HTTP does for the web. Tools can also use ordinary APIs.</a:t>
            </a:r>
            <a:endParaRPr sz="1800">
              <a:solidFill>
                <a:srgbClr val="0B2744"/>
              </a:solidFill>
            </a:endParaRPr>
          </a:p>
        </p:txBody>
      </p:sp>
      <p:sp>
        <p:nvSpPr>
          <p:cNvPr id="280" name="Google Shape;280;p25"/>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MCP official introduction</a:t>
            </a:r>
            <a:endParaRPr sz="820">
              <a:solidFill>
                <a:srgbClr val="5C6B7D"/>
              </a:solidFill>
            </a:endParaRPr>
          </a:p>
        </p:txBody>
      </p:sp>
      <p:sp>
        <p:nvSpPr>
          <p:cNvPr id="281" name="Google Shape;281;p25"/>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13</a:t>
            </a:r>
            <a:endParaRPr b="1" sz="900">
              <a:solidFill>
                <a:srgbClr val="5C6B7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6"/>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Connecting your sources of context</a:t>
            </a:r>
            <a:endParaRPr b="1" sz="3000">
              <a:solidFill>
                <a:srgbClr val="0B2744"/>
              </a:solidFill>
            </a:endParaRPr>
          </a:p>
        </p:txBody>
      </p:sp>
      <p:sp>
        <p:nvSpPr>
          <p:cNvPr id="287" name="Google Shape;287;p26"/>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8" name="Google Shape;288;p26"/>
          <p:cNvSpPr/>
          <p:nvPr/>
        </p:nvSpPr>
        <p:spPr>
          <a:xfrm>
            <a:off x="609600" y="1460500"/>
            <a:ext cx="38100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9" name="Google Shape;289;p26"/>
          <p:cNvSpPr/>
          <p:nvPr/>
        </p:nvSpPr>
        <p:spPr>
          <a:xfrm>
            <a:off x="609600" y="14605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0" name="Google Shape;290;p26"/>
          <p:cNvSpPr txBox="1"/>
          <p:nvPr/>
        </p:nvSpPr>
        <p:spPr>
          <a:xfrm>
            <a:off x="762000" y="1562100"/>
            <a:ext cx="35052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EMAIL</a:t>
            </a:r>
            <a:endParaRPr b="1" sz="1700">
              <a:solidFill>
                <a:srgbClr val="0B2744"/>
              </a:solidFill>
            </a:endParaRPr>
          </a:p>
        </p:txBody>
      </p:sp>
      <p:sp>
        <p:nvSpPr>
          <p:cNvPr id="291" name="Google Shape;291;p26"/>
          <p:cNvSpPr txBox="1"/>
          <p:nvPr/>
        </p:nvSpPr>
        <p:spPr>
          <a:xfrm>
            <a:off x="762000" y="1930400"/>
            <a:ext cx="35052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Requests and commitments</a:t>
            </a:r>
            <a:endParaRPr sz="1550">
              <a:solidFill>
                <a:srgbClr val="0B2744"/>
              </a:solidFill>
            </a:endParaRPr>
          </a:p>
        </p:txBody>
      </p:sp>
      <p:sp>
        <p:nvSpPr>
          <p:cNvPr id="292" name="Google Shape;292;p26"/>
          <p:cNvSpPr/>
          <p:nvPr/>
        </p:nvSpPr>
        <p:spPr>
          <a:xfrm>
            <a:off x="4724400" y="1460500"/>
            <a:ext cx="38100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3" name="Google Shape;293;p26"/>
          <p:cNvSpPr/>
          <p:nvPr/>
        </p:nvSpPr>
        <p:spPr>
          <a:xfrm>
            <a:off x="4724400" y="14605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4" name="Google Shape;294;p26"/>
          <p:cNvSpPr txBox="1"/>
          <p:nvPr/>
        </p:nvSpPr>
        <p:spPr>
          <a:xfrm>
            <a:off x="4876800" y="1562100"/>
            <a:ext cx="35052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CALENDAR</a:t>
            </a:r>
            <a:endParaRPr b="1" sz="1700">
              <a:solidFill>
                <a:srgbClr val="0B2744"/>
              </a:solidFill>
            </a:endParaRPr>
          </a:p>
        </p:txBody>
      </p:sp>
      <p:sp>
        <p:nvSpPr>
          <p:cNvPr id="295" name="Google Shape;295;p26"/>
          <p:cNvSpPr txBox="1"/>
          <p:nvPr/>
        </p:nvSpPr>
        <p:spPr>
          <a:xfrm>
            <a:off x="4876800" y="1930400"/>
            <a:ext cx="35052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Time and upcoming events</a:t>
            </a:r>
            <a:endParaRPr sz="1550">
              <a:solidFill>
                <a:srgbClr val="0B2744"/>
              </a:solidFill>
            </a:endParaRPr>
          </a:p>
        </p:txBody>
      </p:sp>
      <p:sp>
        <p:nvSpPr>
          <p:cNvPr id="296" name="Google Shape;296;p26"/>
          <p:cNvSpPr/>
          <p:nvPr/>
        </p:nvSpPr>
        <p:spPr>
          <a:xfrm>
            <a:off x="609600" y="2832100"/>
            <a:ext cx="38100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7" name="Google Shape;297;p26"/>
          <p:cNvSpPr/>
          <p:nvPr/>
        </p:nvSpPr>
        <p:spPr>
          <a:xfrm>
            <a:off x="609600" y="28321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8" name="Google Shape;298;p26"/>
          <p:cNvSpPr txBox="1"/>
          <p:nvPr/>
        </p:nvSpPr>
        <p:spPr>
          <a:xfrm>
            <a:off x="762000" y="2933700"/>
            <a:ext cx="35052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SLACK</a:t>
            </a:r>
            <a:endParaRPr b="1" sz="1700">
              <a:solidFill>
                <a:srgbClr val="0B2744"/>
              </a:solidFill>
            </a:endParaRPr>
          </a:p>
        </p:txBody>
      </p:sp>
      <p:sp>
        <p:nvSpPr>
          <p:cNvPr id="299" name="Google Shape;299;p26"/>
          <p:cNvSpPr txBox="1"/>
          <p:nvPr/>
        </p:nvSpPr>
        <p:spPr>
          <a:xfrm>
            <a:off x="762000" y="3302000"/>
            <a:ext cx="35052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Course and team discussion</a:t>
            </a:r>
            <a:endParaRPr sz="1550">
              <a:solidFill>
                <a:srgbClr val="0B2744"/>
              </a:solidFill>
            </a:endParaRPr>
          </a:p>
        </p:txBody>
      </p:sp>
      <p:sp>
        <p:nvSpPr>
          <p:cNvPr id="300" name="Google Shape;300;p26"/>
          <p:cNvSpPr/>
          <p:nvPr/>
        </p:nvSpPr>
        <p:spPr>
          <a:xfrm>
            <a:off x="4724400" y="2832100"/>
            <a:ext cx="3810000" cy="10668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26"/>
          <p:cNvSpPr/>
          <p:nvPr/>
        </p:nvSpPr>
        <p:spPr>
          <a:xfrm>
            <a:off x="4724400" y="2832100"/>
            <a:ext cx="38100" cy="10668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2" name="Google Shape;302;p26"/>
          <p:cNvSpPr txBox="1"/>
          <p:nvPr/>
        </p:nvSpPr>
        <p:spPr>
          <a:xfrm>
            <a:off x="4876800" y="2933700"/>
            <a:ext cx="35052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TRANSCRIPTS</a:t>
            </a:r>
            <a:endParaRPr b="1" sz="1700">
              <a:solidFill>
                <a:srgbClr val="0B2744"/>
              </a:solidFill>
            </a:endParaRPr>
          </a:p>
        </p:txBody>
      </p:sp>
      <p:sp>
        <p:nvSpPr>
          <p:cNvPr id="303" name="Google Shape;303;p26"/>
          <p:cNvSpPr txBox="1"/>
          <p:nvPr/>
        </p:nvSpPr>
        <p:spPr>
          <a:xfrm>
            <a:off x="4876800" y="3302000"/>
            <a:ext cx="35052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Fireflies · Granola</a:t>
            </a:r>
            <a:endParaRPr sz="1550">
              <a:solidFill>
                <a:srgbClr val="0B2744"/>
              </a:solidFill>
            </a:endParaRPr>
          </a:p>
          <a:p>
            <a:pPr indent="0" lvl="0" marL="0" rtl="0" algn="l">
              <a:lnSpc>
                <a:spcPct val="110000"/>
              </a:lnSpc>
              <a:spcBef>
                <a:spcPts val="0"/>
              </a:spcBef>
              <a:spcAft>
                <a:spcPts val="0"/>
              </a:spcAft>
              <a:buNone/>
            </a:pPr>
            <a:r>
              <a:rPr lang="en" sz="1550">
                <a:solidFill>
                  <a:srgbClr val="0B2744"/>
                </a:solidFill>
              </a:rPr>
              <a:t>Meeting decisions and detail</a:t>
            </a:r>
            <a:endParaRPr sz="1550">
              <a:solidFill>
                <a:srgbClr val="0B2744"/>
              </a:solidFill>
            </a:endParaRPr>
          </a:p>
        </p:txBody>
      </p:sp>
      <p:sp>
        <p:nvSpPr>
          <p:cNvPr id="304" name="Google Shape;304;p26"/>
          <p:cNvSpPr txBox="1"/>
          <p:nvPr/>
        </p:nvSpPr>
        <p:spPr>
          <a:xfrm>
            <a:off x="609600" y="4343400"/>
            <a:ext cx="7924800" cy="507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For me, meeting transcripts are the most useful context source.</a:t>
            </a:r>
            <a:endParaRPr b="1" sz="1900">
              <a:solidFill>
                <a:srgbClr val="0B2744"/>
              </a:solidFill>
            </a:endParaRPr>
          </a:p>
        </p:txBody>
      </p:sp>
      <p:sp>
        <p:nvSpPr>
          <p:cNvPr id="305" name="Google Shape;305;p26"/>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Instructor workflow; schematic source categories</a:t>
            </a:r>
            <a:endParaRPr sz="820">
              <a:solidFill>
                <a:srgbClr val="5C6B7D"/>
              </a:solidFill>
            </a:endParaRPr>
          </a:p>
        </p:txBody>
      </p:sp>
      <p:sp>
        <p:nvSpPr>
          <p:cNvPr id="306" name="Google Shape;306;p26"/>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14</a:t>
            </a:r>
            <a:endParaRPr b="1" sz="900">
              <a:solidFill>
                <a:srgbClr val="5C6B7D"/>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7"/>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Skills</a:t>
            </a:r>
            <a:endParaRPr b="1" sz="3000">
              <a:solidFill>
                <a:srgbClr val="0B2744"/>
              </a:solidFill>
            </a:endParaRPr>
          </a:p>
        </p:txBody>
      </p:sp>
      <p:sp>
        <p:nvSpPr>
          <p:cNvPr id="312" name="Google Shape;312;p27"/>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3" name="Google Shape;313;p27"/>
          <p:cNvSpPr/>
          <p:nvPr/>
        </p:nvSpPr>
        <p:spPr>
          <a:xfrm>
            <a:off x="4559300" y="1524000"/>
            <a:ext cx="12600" cy="2946300"/>
          </a:xfrm>
          <a:prstGeom prst="rect">
            <a:avLst/>
          </a:prstGeom>
          <a:solidFill>
            <a:srgbClr val="D1D9D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4" name="Google Shape;314;p27"/>
          <p:cNvSpPr txBox="1"/>
          <p:nvPr/>
        </p:nvSpPr>
        <p:spPr>
          <a:xfrm>
            <a:off x="609600" y="13970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Reusable instructions</a:t>
            </a:r>
            <a:endParaRPr b="1" sz="2100">
              <a:solidFill>
                <a:srgbClr val="0B2744"/>
              </a:solidFill>
            </a:endParaRPr>
          </a:p>
        </p:txBody>
      </p:sp>
      <p:sp>
        <p:nvSpPr>
          <p:cNvPr id="315" name="Google Shape;315;p27"/>
          <p:cNvSpPr txBox="1"/>
          <p:nvPr/>
        </p:nvSpPr>
        <p:spPr>
          <a:xfrm>
            <a:off x="609600" y="1892300"/>
            <a:ext cx="36702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A skill contains the instructions, examples, and scripts for a particular task.</a:t>
            </a:r>
            <a:endParaRPr sz="1800">
              <a:solidFill>
                <a:srgbClr val="0B2744"/>
              </a:solidFill>
            </a:endParaRPr>
          </a:p>
        </p:txBody>
      </p:sp>
      <p:sp>
        <p:nvSpPr>
          <p:cNvPr id="316" name="Google Shape;316;p27"/>
          <p:cNvSpPr txBox="1"/>
          <p:nvPr/>
        </p:nvSpPr>
        <p:spPr>
          <a:xfrm>
            <a:off x="609600" y="28829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A labeling guide</a:t>
            </a:r>
            <a:endParaRPr b="1" sz="2100">
              <a:solidFill>
                <a:srgbClr val="0B2744"/>
              </a:solidFill>
            </a:endParaRPr>
          </a:p>
        </p:txBody>
      </p:sp>
      <p:sp>
        <p:nvSpPr>
          <p:cNvPr id="317" name="Google Shape;317;p27"/>
          <p:cNvSpPr txBox="1"/>
          <p:nvPr/>
        </p:nvSpPr>
        <p:spPr>
          <a:xfrm>
            <a:off x="609600" y="3378200"/>
            <a:ext cx="36702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For earnings analysis, it defines labels and explains what evidence to keep.</a:t>
            </a:r>
            <a:endParaRPr sz="1800">
              <a:solidFill>
                <a:srgbClr val="0B2744"/>
              </a:solidFill>
            </a:endParaRPr>
          </a:p>
        </p:txBody>
      </p:sp>
      <p:sp>
        <p:nvSpPr>
          <p:cNvPr id="318" name="Google Shape;318;p27"/>
          <p:cNvSpPr txBox="1"/>
          <p:nvPr/>
        </p:nvSpPr>
        <p:spPr>
          <a:xfrm>
            <a:off x="4864100" y="13970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Guidance in context</a:t>
            </a:r>
            <a:endParaRPr b="1" sz="2100">
              <a:solidFill>
                <a:srgbClr val="0B2744"/>
              </a:solidFill>
            </a:endParaRPr>
          </a:p>
        </p:txBody>
      </p:sp>
      <p:sp>
        <p:nvSpPr>
          <p:cNvPr id="319" name="Google Shape;319;p27"/>
          <p:cNvSpPr txBox="1"/>
          <p:nvPr/>
        </p:nvSpPr>
        <p:spPr>
          <a:xfrm>
            <a:off x="4864100" y="1892300"/>
            <a:ext cx="36702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The harness loads relevant guidance into context, and scripts can run through tools.</a:t>
            </a:r>
            <a:endParaRPr sz="1800">
              <a:solidFill>
                <a:srgbClr val="0B2744"/>
              </a:solidFill>
            </a:endParaRPr>
          </a:p>
        </p:txBody>
      </p:sp>
      <p:sp>
        <p:nvSpPr>
          <p:cNvPr id="320" name="Google Shape;320;p27"/>
          <p:cNvSpPr txBox="1"/>
          <p:nvPr/>
        </p:nvSpPr>
        <p:spPr>
          <a:xfrm>
            <a:off x="4864100" y="3009900"/>
            <a:ext cx="36702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Updating a skill</a:t>
            </a:r>
            <a:endParaRPr b="1" sz="2100">
              <a:solidFill>
                <a:srgbClr val="0B2744"/>
              </a:solidFill>
            </a:endParaRPr>
          </a:p>
        </p:txBody>
      </p:sp>
      <p:sp>
        <p:nvSpPr>
          <p:cNvPr id="321" name="Google Shape;321;p27"/>
          <p:cNvSpPr txBox="1"/>
          <p:nvPr/>
        </p:nvSpPr>
        <p:spPr>
          <a:xfrm>
            <a:off x="4864100" y="3505200"/>
            <a:ext cx="36702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Edit the procedure and examples, then check the results. The model's weights stay the same.</a:t>
            </a:r>
            <a:endParaRPr sz="1800">
              <a:solidFill>
                <a:srgbClr val="0B2744"/>
              </a:solidFill>
            </a:endParaRPr>
          </a:p>
        </p:txBody>
      </p:sp>
      <p:sp>
        <p:nvSpPr>
          <p:cNvPr id="322" name="Google Shape;322;p27"/>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Reusable guidance; the library analogy</a:t>
            </a:r>
            <a:endParaRPr sz="820">
              <a:solidFill>
                <a:srgbClr val="5C6B7D"/>
              </a:solidFill>
            </a:endParaRPr>
          </a:p>
        </p:txBody>
      </p:sp>
      <p:sp>
        <p:nvSpPr>
          <p:cNvPr id="323" name="Google Shape;323;p27"/>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15</a:t>
            </a:r>
            <a:endParaRPr b="1" sz="900">
              <a:solidFill>
                <a:srgbClr val="5C6B7D"/>
              </a:solidFill>
            </a:endParaRPr>
          </a:p>
        </p:txBody>
      </p:sp>
      <p:sp>
        <p:nvSpPr>
          <p:cNvPr id="324" name="Google Shape;324;p27"/>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rgbClr val="0B2744"/>
                </a:solidFill>
                <a:hlinkClick action="ppaction://hlinksldjump" r:id="rId3">
                  <a:extLst>
                    <a:ext uri="{A12FA001-AC4F-418D-AE19-62706E023703}">
                      <ahyp:hlinkClr val="tx"/>
                    </a:ext>
                  </a:extLst>
                </a:hlinkClick>
              </a:rPr>
              <a:t>← Anatomy map</a:t>
            </a:r>
            <a:endParaRPr sz="1200">
              <a:solidFill>
                <a:srgbClr val="0B2744"/>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8"/>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Example: a labeling skill</a:t>
            </a:r>
            <a:endParaRPr b="1" sz="3000">
              <a:solidFill>
                <a:srgbClr val="0B2744"/>
              </a:solidFill>
            </a:endParaRPr>
          </a:p>
        </p:txBody>
      </p:sp>
      <p:sp>
        <p:nvSpPr>
          <p:cNvPr id="330" name="Google Shape;330;p28"/>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1" name="Google Shape;331;p28"/>
          <p:cNvSpPr/>
          <p:nvPr/>
        </p:nvSpPr>
        <p:spPr>
          <a:xfrm>
            <a:off x="609600" y="1397000"/>
            <a:ext cx="7924800" cy="29463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2" name="Google Shape;332;p28"/>
          <p:cNvSpPr txBox="1"/>
          <p:nvPr/>
        </p:nvSpPr>
        <p:spPr>
          <a:xfrm>
            <a:off x="812800" y="1536700"/>
            <a:ext cx="75183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b="1" lang="en" sz="2000">
                <a:solidFill>
                  <a:srgbClr val="0B2744"/>
                </a:solidFill>
                <a:latin typeface="Courier New"/>
                <a:ea typeface="Courier New"/>
                <a:cs typeface="Courier New"/>
                <a:sym typeface="Courier New"/>
              </a:rPr>
              <a:t>SKILL: label-earnings-commentary</a:t>
            </a:r>
            <a:endParaRPr b="1" sz="2000">
              <a:solidFill>
                <a:srgbClr val="0B2744"/>
              </a:solidFill>
              <a:latin typeface="Courier New"/>
              <a:ea typeface="Courier New"/>
              <a:cs typeface="Courier New"/>
              <a:sym typeface="Courier New"/>
            </a:endParaRPr>
          </a:p>
        </p:txBody>
      </p:sp>
      <p:sp>
        <p:nvSpPr>
          <p:cNvPr id="333" name="Google Shape;333;p28"/>
          <p:cNvSpPr txBox="1"/>
          <p:nvPr/>
        </p:nvSpPr>
        <p:spPr>
          <a:xfrm>
            <a:off x="812800" y="2070100"/>
            <a:ext cx="7518300" cy="219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latin typeface="Courier New"/>
                <a:ea typeface="Courier New"/>
                <a:cs typeface="Courier New"/>
                <a:sym typeface="Courier New"/>
              </a:rPr>
              <a:t>1. Read the excerpt and keep its document ID.</a:t>
            </a:r>
            <a:endParaRPr sz="17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700">
                <a:solidFill>
                  <a:srgbClr val="0B2744"/>
                </a:solidFill>
                <a:latin typeface="Courier New"/>
                <a:ea typeface="Courier New"/>
                <a:cs typeface="Courier New"/>
                <a:sym typeface="Courier New"/>
              </a:rPr>
              <a:t>2. Mark yes if costs are explicitly linked to lower margins.</a:t>
            </a:r>
            <a:endParaRPr sz="17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700">
                <a:solidFill>
                  <a:srgbClr val="0B2744"/>
                </a:solidFill>
                <a:latin typeface="Courier New"/>
                <a:ea typeface="Courier New"/>
                <a:cs typeface="Courier New"/>
                <a:sym typeface="Courier New"/>
              </a:rPr>
              <a:t>3. Quote the text that supports the label.</a:t>
            </a:r>
            <a:endParaRPr sz="17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700">
                <a:solidFill>
                  <a:srgbClr val="0B2744"/>
                </a:solidFill>
                <a:latin typeface="Courier New"/>
                <a:ea typeface="Courier New"/>
                <a:cs typeface="Courier New"/>
                <a:sym typeface="Courier New"/>
              </a:rPr>
              <a:t>4. If evidence is missing, choose unclear.</a:t>
            </a:r>
            <a:endParaRPr sz="170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700">
                <a:solidFill>
                  <a:srgbClr val="0B2744"/>
                </a:solidFill>
                <a:latin typeface="Courier New"/>
                <a:ea typeface="Courier New"/>
                <a:cs typeface="Courier New"/>
                <a:sym typeface="Courier New"/>
              </a:rPr>
              <a:t>5. Assert exactly one row per document.</a:t>
            </a:r>
            <a:endParaRPr sz="1700">
              <a:solidFill>
                <a:srgbClr val="0B2744"/>
              </a:solidFill>
              <a:latin typeface="Courier New"/>
              <a:ea typeface="Courier New"/>
              <a:cs typeface="Courier New"/>
              <a:sym typeface="Courier New"/>
            </a:endParaRPr>
          </a:p>
        </p:txBody>
      </p:sp>
      <p:sp>
        <p:nvSpPr>
          <p:cNvPr id="334" name="Google Shape;334;p28"/>
          <p:cNvSpPr txBox="1"/>
          <p:nvPr/>
        </p:nvSpPr>
        <p:spPr>
          <a:xfrm>
            <a:off x="609600" y="4546600"/>
            <a:ext cx="79248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The skill gives the agent a repeatable procedure for using the excerpt.</a:t>
            </a:r>
            <a:endParaRPr b="1" sz="1800">
              <a:solidFill>
                <a:srgbClr val="0B2744"/>
              </a:solidFill>
            </a:endParaRPr>
          </a:p>
        </p:txBody>
      </p:sp>
      <p:sp>
        <p:nvSpPr>
          <p:cNvPr id="335" name="Google Shape;335;p28"/>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Synthetic earnings-labeling procedure</a:t>
            </a:r>
            <a:endParaRPr sz="820">
              <a:solidFill>
                <a:srgbClr val="5C6B7D"/>
              </a:solidFill>
            </a:endParaRPr>
          </a:p>
        </p:txBody>
      </p:sp>
      <p:sp>
        <p:nvSpPr>
          <p:cNvPr id="336" name="Google Shape;336;p28"/>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16</a:t>
            </a:r>
            <a:endParaRPr b="1" sz="900">
              <a:solidFill>
                <a:srgbClr val="5C6B7D"/>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9"/>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The LLM as a building block</a:t>
            </a:r>
            <a:endParaRPr b="1" sz="3000">
              <a:solidFill>
                <a:srgbClr val="0B2744"/>
              </a:solidFill>
            </a:endParaRPr>
          </a:p>
        </p:txBody>
      </p:sp>
      <p:sp>
        <p:nvSpPr>
          <p:cNvPr id="342" name="Google Shape;342;p29"/>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3" name="Google Shape;343;p29"/>
          <p:cNvSpPr/>
          <p:nvPr/>
        </p:nvSpPr>
        <p:spPr>
          <a:xfrm>
            <a:off x="609600" y="1422400"/>
            <a:ext cx="4953000" cy="30225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4" name="Google Shape;344;p29"/>
          <p:cNvSpPr txBox="1"/>
          <p:nvPr/>
        </p:nvSpPr>
        <p:spPr>
          <a:xfrm>
            <a:off x="736600" y="1536700"/>
            <a:ext cx="4698900" cy="2806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latin typeface="Courier New"/>
                <a:ea typeface="Courier New"/>
                <a:cs typeface="Courier New"/>
                <a:sym typeface="Courier New"/>
              </a:rPr>
              <a:t>{</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"model": "MODEL_ID",</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"input": [</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{"role": "system",</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"content": "Quote evidence."},</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{"role": "user",</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"content": "Label excerpt E01."}</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600">
                <a:solidFill>
                  <a:srgbClr val="0B2744"/>
                </a:solidFill>
                <a:latin typeface="Courier New"/>
                <a:ea typeface="Courier New"/>
                <a:cs typeface="Courier New"/>
                <a:sym typeface="Courier New"/>
              </a:rPr>
              <a:t>}</a:t>
            </a:r>
            <a:endParaRPr sz="1600">
              <a:solidFill>
                <a:srgbClr val="0B2744"/>
              </a:solidFill>
              <a:latin typeface="Courier New"/>
              <a:ea typeface="Courier New"/>
              <a:cs typeface="Courier New"/>
              <a:sym typeface="Courier New"/>
            </a:endParaRPr>
          </a:p>
        </p:txBody>
      </p:sp>
      <p:sp>
        <p:nvSpPr>
          <p:cNvPr id="345" name="Google Shape;345;p29"/>
          <p:cNvSpPr txBox="1"/>
          <p:nvPr/>
        </p:nvSpPr>
        <p:spPr>
          <a:xfrm>
            <a:off x="5892800" y="1536700"/>
            <a:ext cx="26034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Input</a:t>
            </a:r>
            <a:endParaRPr b="1" sz="2100">
              <a:solidFill>
                <a:srgbClr val="0B2744"/>
              </a:solidFill>
            </a:endParaRPr>
          </a:p>
        </p:txBody>
      </p:sp>
      <p:sp>
        <p:nvSpPr>
          <p:cNvPr id="346" name="Google Shape;346;p29"/>
          <p:cNvSpPr txBox="1"/>
          <p:nvPr/>
        </p:nvSpPr>
        <p:spPr>
          <a:xfrm>
            <a:off x="5892800" y="2032000"/>
            <a:ext cx="2603400" cy="88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Your code supplies the instructions and context.</a:t>
            </a:r>
            <a:endParaRPr sz="1800">
              <a:solidFill>
                <a:srgbClr val="0B2744"/>
              </a:solidFill>
            </a:endParaRPr>
          </a:p>
        </p:txBody>
      </p:sp>
      <p:sp>
        <p:nvSpPr>
          <p:cNvPr id="347" name="Google Shape;347;p29"/>
          <p:cNvSpPr txBox="1"/>
          <p:nvPr/>
        </p:nvSpPr>
        <p:spPr>
          <a:xfrm>
            <a:off x="5892800" y="3149600"/>
            <a:ext cx="26034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Output</a:t>
            </a:r>
            <a:endParaRPr b="1" sz="2100">
              <a:solidFill>
                <a:srgbClr val="0B2744"/>
              </a:solidFill>
            </a:endParaRPr>
          </a:p>
        </p:txBody>
      </p:sp>
      <p:sp>
        <p:nvSpPr>
          <p:cNvPr id="348" name="Google Shape;348;p29"/>
          <p:cNvSpPr txBox="1"/>
          <p:nvPr/>
        </p:nvSpPr>
        <p:spPr>
          <a:xfrm>
            <a:off x="5892800" y="3644900"/>
            <a:ext cx="26034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It receives text or a request to call a tool.</a:t>
            </a:r>
            <a:endParaRPr sz="1800">
              <a:solidFill>
                <a:srgbClr val="0B2744"/>
              </a:solidFill>
            </a:endParaRPr>
          </a:p>
        </p:txBody>
      </p:sp>
      <p:sp>
        <p:nvSpPr>
          <p:cNvPr id="349" name="Google Shape;349;p29"/>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Simplified API request; MODEL_ID is illustrative</a:t>
            </a:r>
            <a:endParaRPr sz="820">
              <a:solidFill>
                <a:srgbClr val="5C6B7D"/>
              </a:solidFill>
            </a:endParaRPr>
          </a:p>
        </p:txBody>
      </p:sp>
      <p:sp>
        <p:nvSpPr>
          <p:cNvPr id="350" name="Google Shape;350;p29"/>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17</a:t>
            </a:r>
            <a:endParaRPr b="1" sz="900">
              <a:solidFill>
                <a:srgbClr val="5C6B7D"/>
              </a:solidFill>
            </a:endParaRPr>
          </a:p>
        </p:txBody>
      </p:sp>
      <p:sp>
        <p:nvSpPr>
          <p:cNvPr id="351" name="Google Shape;351;p29"/>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u="sng">
                <a:solidFill>
                  <a:srgbClr val="0B2744"/>
                </a:solidFill>
                <a:hlinkClick action="ppaction://hlinksldjump" r:id="rId3">
                  <a:extLst>
                    <a:ext uri="{A12FA001-AC4F-418D-AE19-62706E023703}">
                      <ahyp:hlinkClr val="tx"/>
                    </a:ext>
                  </a:extLst>
                </a:hlinkClick>
              </a:rPr>
              <a:t>← Anatomy map</a:t>
            </a:r>
            <a:endParaRPr sz="1200">
              <a:solidFill>
                <a:srgbClr val="0B274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0"/>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What goes into the LLM</a:t>
            </a:r>
            <a:endParaRPr b="1" sz="3000">
              <a:solidFill>
                <a:srgbClr val="0B2744"/>
              </a:solidFill>
            </a:endParaRPr>
          </a:p>
        </p:txBody>
      </p:sp>
      <p:sp>
        <p:nvSpPr>
          <p:cNvPr id="357" name="Google Shape;357;p30"/>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8" name="Google Shape;358;p30"/>
          <p:cNvSpPr/>
          <p:nvPr/>
        </p:nvSpPr>
        <p:spPr>
          <a:xfrm>
            <a:off x="609600" y="1409700"/>
            <a:ext cx="7924800" cy="59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9" name="Google Shape;359;p30"/>
          <p:cNvSpPr txBox="1"/>
          <p:nvPr/>
        </p:nvSpPr>
        <p:spPr>
          <a:xfrm>
            <a:off x="749300" y="1447800"/>
            <a:ext cx="1650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SYSTEM</a:t>
            </a:r>
            <a:endParaRPr b="1" sz="1550">
              <a:solidFill>
                <a:srgbClr val="0B2744"/>
              </a:solidFill>
            </a:endParaRPr>
          </a:p>
        </p:txBody>
      </p:sp>
      <p:sp>
        <p:nvSpPr>
          <p:cNvPr id="360" name="Google Shape;360;p30"/>
          <p:cNvSpPr txBox="1"/>
          <p:nvPr/>
        </p:nvSpPr>
        <p:spPr>
          <a:xfrm>
            <a:off x="2501900" y="1447800"/>
            <a:ext cx="2412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Instructions</a:t>
            </a:r>
            <a:endParaRPr sz="1600">
              <a:solidFill>
                <a:srgbClr val="0B2744"/>
              </a:solidFill>
            </a:endParaRPr>
          </a:p>
        </p:txBody>
      </p:sp>
      <p:sp>
        <p:nvSpPr>
          <p:cNvPr id="361" name="Google Shape;361;p30"/>
          <p:cNvSpPr txBox="1"/>
          <p:nvPr/>
        </p:nvSpPr>
        <p:spPr>
          <a:xfrm>
            <a:off x="5080000" y="1447800"/>
            <a:ext cx="32892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Quote evidence; use unclear when needed.</a:t>
            </a:r>
            <a:endParaRPr sz="1550">
              <a:solidFill>
                <a:srgbClr val="0B2744"/>
              </a:solidFill>
            </a:endParaRPr>
          </a:p>
        </p:txBody>
      </p:sp>
      <p:sp>
        <p:nvSpPr>
          <p:cNvPr id="362" name="Google Shape;362;p30"/>
          <p:cNvSpPr/>
          <p:nvPr/>
        </p:nvSpPr>
        <p:spPr>
          <a:xfrm>
            <a:off x="609600" y="2057400"/>
            <a:ext cx="7924800" cy="59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3" name="Google Shape;363;p30"/>
          <p:cNvSpPr txBox="1"/>
          <p:nvPr/>
        </p:nvSpPr>
        <p:spPr>
          <a:xfrm>
            <a:off x="749300" y="2095500"/>
            <a:ext cx="1650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USER</a:t>
            </a:r>
            <a:endParaRPr b="1" sz="1550">
              <a:solidFill>
                <a:srgbClr val="0B2744"/>
              </a:solidFill>
            </a:endParaRPr>
          </a:p>
        </p:txBody>
      </p:sp>
      <p:sp>
        <p:nvSpPr>
          <p:cNvPr id="364" name="Google Shape;364;p30"/>
          <p:cNvSpPr txBox="1"/>
          <p:nvPr/>
        </p:nvSpPr>
        <p:spPr>
          <a:xfrm>
            <a:off x="2501900" y="2095500"/>
            <a:ext cx="2412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Task and data</a:t>
            </a:r>
            <a:endParaRPr sz="1600">
              <a:solidFill>
                <a:srgbClr val="0B2744"/>
              </a:solidFill>
            </a:endParaRPr>
          </a:p>
        </p:txBody>
      </p:sp>
      <p:sp>
        <p:nvSpPr>
          <p:cNvPr id="365" name="Google Shape;365;p30"/>
          <p:cNvSpPr txBox="1"/>
          <p:nvPr/>
        </p:nvSpPr>
        <p:spPr>
          <a:xfrm>
            <a:off x="5080000" y="2095500"/>
            <a:ext cx="32892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Label this earnings excerpt.</a:t>
            </a:r>
            <a:endParaRPr sz="1550">
              <a:solidFill>
                <a:srgbClr val="0B2744"/>
              </a:solidFill>
            </a:endParaRPr>
          </a:p>
        </p:txBody>
      </p:sp>
      <p:sp>
        <p:nvSpPr>
          <p:cNvPr id="366" name="Google Shape;366;p30"/>
          <p:cNvSpPr/>
          <p:nvPr/>
        </p:nvSpPr>
        <p:spPr>
          <a:xfrm>
            <a:off x="609600" y="2705100"/>
            <a:ext cx="7924800" cy="59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7" name="Google Shape;367;p30"/>
          <p:cNvSpPr txBox="1"/>
          <p:nvPr/>
        </p:nvSpPr>
        <p:spPr>
          <a:xfrm>
            <a:off x="749300" y="2743200"/>
            <a:ext cx="1650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ASSISTANT</a:t>
            </a:r>
            <a:endParaRPr b="1" sz="1550">
              <a:solidFill>
                <a:srgbClr val="0B2744"/>
              </a:solidFill>
            </a:endParaRPr>
          </a:p>
        </p:txBody>
      </p:sp>
      <p:sp>
        <p:nvSpPr>
          <p:cNvPr id="368" name="Google Shape;368;p30"/>
          <p:cNvSpPr txBox="1"/>
          <p:nvPr/>
        </p:nvSpPr>
        <p:spPr>
          <a:xfrm>
            <a:off x="2501900" y="2743200"/>
            <a:ext cx="2412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Text or a tool request</a:t>
            </a:r>
            <a:endParaRPr sz="1600">
              <a:solidFill>
                <a:srgbClr val="0B2744"/>
              </a:solidFill>
            </a:endParaRPr>
          </a:p>
        </p:txBody>
      </p:sp>
      <p:sp>
        <p:nvSpPr>
          <p:cNvPr id="369" name="Google Shape;369;p30"/>
          <p:cNvSpPr txBox="1"/>
          <p:nvPr/>
        </p:nvSpPr>
        <p:spPr>
          <a:xfrm>
            <a:off x="5080000" y="2743200"/>
            <a:ext cx="32892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Request read_excerpt for E01.</a:t>
            </a:r>
            <a:endParaRPr sz="1550">
              <a:solidFill>
                <a:srgbClr val="0B2744"/>
              </a:solidFill>
            </a:endParaRPr>
          </a:p>
        </p:txBody>
      </p:sp>
      <p:sp>
        <p:nvSpPr>
          <p:cNvPr id="370" name="Google Shape;370;p30"/>
          <p:cNvSpPr/>
          <p:nvPr/>
        </p:nvSpPr>
        <p:spPr>
          <a:xfrm>
            <a:off x="609600" y="3352800"/>
            <a:ext cx="7924800" cy="59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1" name="Google Shape;371;p30"/>
          <p:cNvSpPr txBox="1"/>
          <p:nvPr/>
        </p:nvSpPr>
        <p:spPr>
          <a:xfrm>
            <a:off x="749300" y="3390900"/>
            <a:ext cx="1650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TOOL RESULT</a:t>
            </a:r>
            <a:endParaRPr b="1" sz="1550">
              <a:solidFill>
                <a:srgbClr val="0B2744"/>
              </a:solidFill>
            </a:endParaRPr>
          </a:p>
        </p:txBody>
      </p:sp>
      <p:sp>
        <p:nvSpPr>
          <p:cNvPr id="372" name="Google Shape;372;p30"/>
          <p:cNvSpPr txBox="1"/>
          <p:nvPr/>
        </p:nvSpPr>
        <p:spPr>
          <a:xfrm>
            <a:off x="2501900" y="3390900"/>
            <a:ext cx="2412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Returned observation</a:t>
            </a:r>
            <a:endParaRPr sz="1600">
              <a:solidFill>
                <a:srgbClr val="0B2744"/>
              </a:solidFill>
            </a:endParaRPr>
          </a:p>
        </p:txBody>
      </p:sp>
      <p:sp>
        <p:nvSpPr>
          <p:cNvPr id="373" name="Google Shape;373;p30"/>
          <p:cNvSpPr txBox="1"/>
          <p:nvPr/>
        </p:nvSpPr>
        <p:spPr>
          <a:xfrm>
            <a:off x="5080000" y="3390900"/>
            <a:ext cx="32892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The retrieved earnings excerpt.</a:t>
            </a:r>
            <a:endParaRPr sz="1550">
              <a:solidFill>
                <a:srgbClr val="0B2744"/>
              </a:solidFill>
            </a:endParaRPr>
          </a:p>
        </p:txBody>
      </p:sp>
      <p:sp>
        <p:nvSpPr>
          <p:cNvPr id="374" name="Google Shape;374;p30"/>
          <p:cNvSpPr/>
          <p:nvPr/>
        </p:nvSpPr>
        <p:spPr>
          <a:xfrm>
            <a:off x="609600" y="4000500"/>
            <a:ext cx="7924800" cy="59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5" name="Google Shape;375;p30"/>
          <p:cNvSpPr txBox="1"/>
          <p:nvPr/>
        </p:nvSpPr>
        <p:spPr>
          <a:xfrm>
            <a:off x="749300" y="4038600"/>
            <a:ext cx="16509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550">
                <a:solidFill>
                  <a:srgbClr val="0B2744"/>
                </a:solidFill>
              </a:rPr>
              <a:t>TOOL DEFINITIONS</a:t>
            </a:r>
            <a:endParaRPr b="1" sz="1550">
              <a:solidFill>
                <a:srgbClr val="0B2744"/>
              </a:solidFill>
            </a:endParaRPr>
          </a:p>
        </p:txBody>
      </p:sp>
      <p:sp>
        <p:nvSpPr>
          <p:cNvPr id="376" name="Google Shape;376;p30"/>
          <p:cNvSpPr txBox="1"/>
          <p:nvPr/>
        </p:nvSpPr>
        <p:spPr>
          <a:xfrm>
            <a:off x="2501900" y="4038600"/>
            <a:ext cx="2412900" cy="546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Available functions</a:t>
            </a:r>
            <a:endParaRPr sz="1600">
              <a:solidFill>
                <a:srgbClr val="0B2744"/>
              </a:solidFill>
            </a:endParaRPr>
          </a:p>
        </p:txBody>
      </p:sp>
      <p:sp>
        <p:nvSpPr>
          <p:cNvPr id="377" name="Google Shape;377;p30"/>
          <p:cNvSpPr txBox="1"/>
          <p:nvPr/>
        </p:nvSpPr>
        <p:spPr>
          <a:xfrm>
            <a:off x="5080000" y="4038600"/>
            <a:ext cx="32892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50">
                <a:solidFill>
                  <a:srgbClr val="0B2744"/>
                </a:solidFill>
              </a:rPr>
              <a:t>Names, descriptions, and argument schemas.</a:t>
            </a:r>
            <a:endParaRPr sz="1550">
              <a:solidFill>
                <a:srgbClr val="0B2744"/>
              </a:solidFill>
            </a:endParaRPr>
          </a:p>
        </p:txBody>
      </p:sp>
      <p:sp>
        <p:nvSpPr>
          <p:cNvPr id="378" name="Google Shape;378;p30"/>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Message roles; provider schemas differ</a:t>
            </a:r>
            <a:endParaRPr sz="820">
              <a:solidFill>
                <a:srgbClr val="738294"/>
              </a:solidFill>
            </a:endParaRPr>
          </a:p>
        </p:txBody>
      </p:sp>
      <p:sp>
        <p:nvSpPr>
          <p:cNvPr id="379" name="Google Shape;379;p30"/>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18</a:t>
            </a:r>
            <a:endParaRPr b="1" sz="900">
              <a:solidFill>
                <a:srgbClr val="73829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1"/>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Tool calls: requests and results</a:t>
            </a:r>
            <a:endParaRPr b="1" sz="3000">
              <a:solidFill>
                <a:srgbClr val="0B2744"/>
              </a:solidFill>
            </a:endParaRPr>
          </a:p>
        </p:txBody>
      </p:sp>
      <p:sp>
        <p:nvSpPr>
          <p:cNvPr id="385" name="Google Shape;385;p31"/>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31"/>
          <p:cNvSpPr txBox="1"/>
          <p:nvPr/>
        </p:nvSpPr>
        <p:spPr>
          <a:xfrm>
            <a:off x="609600" y="1409700"/>
            <a:ext cx="37212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1 · MODEL REQUESTS</a:t>
            </a:r>
            <a:endParaRPr b="1" sz="1800">
              <a:solidFill>
                <a:srgbClr val="0B2744"/>
              </a:solidFill>
            </a:endParaRPr>
          </a:p>
        </p:txBody>
      </p:sp>
      <p:sp>
        <p:nvSpPr>
          <p:cNvPr id="387" name="Google Shape;387;p31"/>
          <p:cNvSpPr txBox="1"/>
          <p:nvPr/>
        </p:nvSpPr>
        <p:spPr>
          <a:xfrm>
            <a:off x="4800600" y="1409700"/>
            <a:ext cx="37338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2 · APPLICATION RETURNS</a:t>
            </a:r>
            <a:endParaRPr b="1" sz="1800">
              <a:solidFill>
                <a:srgbClr val="0B2744"/>
              </a:solidFill>
            </a:endParaRPr>
          </a:p>
        </p:txBody>
      </p:sp>
      <p:sp>
        <p:nvSpPr>
          <p:cNvPr id="388" name="Google Shape;388;p31"/>
          <p:cNvSpPr/>
          <p:nvPr/>
        </p:nvSpPr>
        <p:spPr>
          <a:xfrm>
            <a:off x="609600" y="1866900"/>
            <a:ext cx="3733800" cy="2006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9" name="Google Shape;389;p31"/>
          <p:cNvSpPr/>
          <p:nvPr/>
        </p:nvSpPr>
        <p:spPr>
          <a:xfrm>
            <a:off x="4800600" y="1866900"/>
            <a:ext cx="3733800" cy="2006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0" name="Google Shape;390;p31"/>
          <p:cNvSpPr txBox="1"/>
          <p:nvPr/>
        </p:nvSpPr>
        <p:spPr>
          <a:xfrm>
            <a:off x="698500" y="1955800"/>
            <a:ext cx="3568800" cy="1828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40">
                <a:solidFill>
                  <a:srgbClr val="0B2744"/>
                </a:solidFill>
                <a:latin typeface="Courier New"/>
                <a:ea typeface="Courier New"/>
                <a:cs typeface="Courier New"/>
                <a:sym typeface="Courier New"/>
              </a:rPr>
              <a:t>{</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"type": "function_call",</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"name": "read_excerpt",</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"call_id": "call_01",</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"arguments": "{\"id\":\"E01\"}"</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340">
                <a:solidFill>
                  <a:srgbClr val="0B2744"/>
                </a:solidFill>
                <a:latin typeface="Courier New"/>
                <a:ea typeface="Courier New"/>
                <a:cs typeface="Courier New"/>
                <a:sym typeface="Courier New"/>
              </a:rPr>
              <a:t>}</a:t>
            </a:r>
            <a:endParaRPr sz="1340">
              <a:solidFill>
                <a:srgbClr val="0B2744"/>
              </a:solidFill>
              <a:latin typeface="Courier New"/>
              <a:ea typeface="Courier New"/>
              <a:cs typeface="Courier New"/>
              <a:sym typeface="Courier New"/>
            </a:endParaRPr>
          </a:p>
        </p:txBody>
      </p:sp>
      <p:sp>
        <p:nvSpPr>
          <p:cNvPr id="391" name="Google Shape;391;p31"/>
          <p:cNvSpPr txBox="1"/>
          <p:nvPr/>
        </p:nvSpPr>
        <p:spPr>
          <a:xfrm>
            <a:off x="4902200" y="1955800"/>
            <a:ext cx="3555900" cy="1828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40">
                <a:solidFill>
                  <a:srgbClr val="0B2744"/>
                </a:solidFill>
                <a:latin typeface="Courier New"/>
                <a:ea typeface="Courier New"/>
                <a:cs typeface="Courier New"/>
                <a:sym typeface="Courier New"/>
              </a:rPr>
              <a:t>{</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"type": "function_call_output",</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"call_id": "call_01",</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340">
                <a:solidFill>
                  <a:srgbClr val="0B2744"/>
                </a:solidFill>
                <a:latin typeface="Courier New"/>
                <a:ea typeface="Courier New"/>
                <a:cs typeface="Courier New"/>
                <a:sym typeface="Courier New"/>
              </a:rPr>
              <a:t> "output": "Costs pressure margins."</a:t>
            </a:r>
            <a:endParaRPr sz="134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340">
                <a:solidFill>
                  <a:srgbClr val="0B2744"/>
                </a:solidFill>
                <a:latin typeface="Courier New"/>
                <a:ea typeface="Courier New"/>
                <a:cs typeface="Courier New"/>
                <a:sym typeface="Courier New"/>
              </a:rPr>
              <a:t>}</a:t>
            </a:r>
            <a:endParaRPr sz="1340">
              <a:solidFill>
                <a:srgbClr val="0B2744"/>
              </a:solidFill>
              <a:latin typeface="Courier New"/>
              <a:ea typeface="Courier New"/>
              <a:cs typeface="Courier New"/>
              <a:sym typeface="Courier New"/>
            </a:endParaRPr>
          </a:p>
        </p:txBody>
      </p:sp>
      <p:sp>
        <p:nvSpPr>
          <p:cNvPr id="392" name="Google Shape;392;p31"/>
          <p:cNvSpPr txBox="1"/>
          <p:nvPr/>
        </p:nvSpPr>
        <p:spPr>
          <a:xfrm>
            <a:off x="609600" y="4140200"/>
            <a:ext cx="79248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The call_id links the result to the request.</a:t>
            </a:r>
            <a:endParaRPr b="1" sz="1800">
              <a:solidFill>
                <a:srgbClr val="0B2744"/>
              </a:solidFill>
            </a:endParaRPr>
          </a:p>
          <a:p>
            <a:pPr indent="0" lvl="0" marL="0" rtl="0" algn="l">
              <a:lnSpc>
                <a:spcPct val="110000"/>
              </a:lnSpc>
              <a:spcBef>
                <a:spcPts val="0"/>
              </a:spcBef>
              <a:spcAft>
                <a:spcPts val="0"/>
              </a:spcAft>
              <a:buNone/>
            </a:pPr>
            <a:r>
              <a:rPr b="1" lang="en" sz="1800">
                <a:solidFill>
                  <a:srgbClr val="0B2744"/>
                </a:solidFill>
              </a:rPr>
              <a:t>The model resumes with that result in context.</a:t>
            </a:r>
            <a:endParaRPr b="1" sz="1800">
              <a:solidFill>
                <a:srgbClr val="0B2744"/>
              </a:solidFill>
            </a:endParaRPr>
          </a:p>
        </p:txBody>
      </p:sp>
      <p:sp>
        <p:nvSpPr>
          <p:cNvPr id="393" name="Google Shape;393;p31"/>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Responses-style tool call; simplified example</a:t>
            </a:r>
            <a:endParaRPr sz="820">
              <a:solidFill>
                <a:srgbClr val="5C6B7D"/>
              </a:solidFill>
            </a:endParaRPr>
          </a:p>
        </p:txBody>
      </p:sp>
      <p:sp>
        <p:nvSpPr>
          <p:cNvPr id="394" name="Google Shape;394;p31"/>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19</a:t>
            </a:r>
            <a:endParaRPr b="1" sz="900">
              <a:solidFill>
                <a:srgbClr val="5C6B7D"/>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2"/>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Text becomes tokens. Context is finite.</a:t>
            </a:r>
            <a:endParaRPr b="1" sz="3000">
              <a:solidFill>
                <a:srgbClr val="0B2744"/>
              </a:solidFill>
            </a:endParaRPr>
          </a:p>
        </p:txBody>
      </p:sp>
      <p:sp>
        <p:nvSpPr>
          <p:cNvPr id="400" name="Google Shape;400;p32"/>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1" name="Google Shape;401;p32"/>
          <p:cNvSpPr txBox="1"/>
          <p:nvPr/>
        </p:nvSpPr>
        <p:spPr>
          <a:xfrm>
            <a:off x="609600" y="1358900"/>
            <a:ext cx="79248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“Uncertainty pressures margins.”</a:t>
            </a:r>
            <a:endParaRPr b="1" sz="2400">
              <a:solidFill>
                <a:srgbClr val="0B2744"/>
              </a:solidFill>
            </a:endParaRPr>
          </a:p>
        </p:txBody>
      </p:sp>
      <p:sp>
        <p:nvSpPr>
          <p:cNvPr id="402" name="Google Shape;402;p32"/>
          <p:cNvSpPr/>
          <p:nvPr/>
        </p:nvSpPr>
        <p:spPr>
          <a:xfrm>
            <a:off x="609600" y="2120900"/>
            <a:ext cx="698400" cy="6096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3" name="Google Shape;403;p32"/>
          <p:cNvSpPr txBox="1"/>
          <p:nvPr/>
        </p:nvSpPr>
        <p:spPr>
          <a:xfrm>
            <a:off x="660400" y="2197100"/>
            <a:ext cx="5970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lang="en" sz="1700">
                <a:solidFill>
                  <a:srgbClr val="0B2744"/>
                </a:solidFill>
                <a:latin typeface="Courier New"/>
                <a:ea typeface="Courier New"/>
                <a:cs typeface="Courier New"/>
                <a:sym typeface="Courier New"/>
              </a:rPr>
              <a:t>Un</a:t>
            </a:r>
            <a:endParaRPr sz="1700">
              <a:solidFill>
                <a:srgbClr val="0B2744"/>
              </a:solidFill>
              <a:latin typeface="Courier New"/>
              <a:ea typeface="Courier New"/>
              <a:cs typeface="Courier New"/>
              <a:sym typeface="Courier New"/>
            </a:endParaRPr>
          </a:p>
        </p:txBody>
      </p:sp>
      <p:sp>
        <p:nvSpPr>
          <p:cNvPr id="404" name="Google Shape;404;p32"/>
          <p:cNvSpPr/>
          <p:nvPr/>
        </p:nvSpPr>
        <p:spPr>
          <a:xfrm>
            <a:off x="1447800" y="2120900"/>
            <a:ext cx="1219200" cy="609600"/>
          </a:xfrm>
          <a:prstGeom prst="rect">
            <a:avLst/>
          </a:prstGeom>
          <a:solidFill>
            <a:srgbClr val="FFF2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32"/>
          <p:cNvSpPr txBox="1"/>
          <p:nvPr/>
        </p:nvSpPr>
        <p:spPr>
          <a:xfrm>
            <a:off x="1498600" y="2197100"/>
            <a:ext cx="11175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lang="en" sz="1700">
                <a:solidFill>
                  <a:srgbClr val="0B2744"/>
                </a:solidFill>
                <a:latin typeface="Courier New"/>
                <a:ea typeface="Courier New"/>
                <a:cs typeface="Courier New"/>
                <a:sym typeface="Courier New"/>
              </a:rPr>
              <a:t>certain</a:t>
            </a:r>
            <a:endParaRPr sz="1700">
              <a:solidFill>
                <a:srgbClr val="0B2744"/>
              </a:solidFill>
              <a:latin typeface="Courier New"/>
              <a:ea typeface="Courier New"/>
              <a:cs typeface="Courier New"/>
              <a:sym typeface="Courier New"/>
            </a:endParaRPr>
          </a:p>
        </p:txBody>
      </p:sp>
      <p:sp>
        <p:nvSpPr>
          <p:cNvPr id="406" name="Google Shape;406;p32"/>
          <p:cNvSpPr/>
          <p:nvPr/>
        </p:nvSpPr>
        <p:spPr>
          <a:xfrm>
            <a:off x="2806700" y="2120900"/>
            <a:ext cx="685800" cy="6096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7" name="Google Shape;407;p32"/>
          <p:cNvSpPr txBox="1"/>
          <p:nvPr/>
        </p:nvSpPr>
        <p:spPr>
          <a:xfrm>
            <a:off x="2857500" y="2197100"/>
            <a:ext cx="584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lang="en" sz="1700">
                <a:solidFill>
                  <a:srgbClr val="0B2744"/>
                </a:solidFill>
                <a:latin typeface="Courier New"/>
                <a:ea typeface="Courier New"/>
                <a:cs typeface="Courier New"/>
                <a:sym typeface="Courier New"/>
              </a:rPr>
              <a:t>ty</a:t>
            </a:r>
            <a:endParaRPr sz="1700">
              <a:solidFill>
                <a:srgbClr val="0B2744"/>
              </a:solidFill>
              <a:latin typeface="Courier New"/>
              <a:ea typeface="Courier New"/>
              <a:cs typeface="Courier New"/>
              <a:sym typeface="Courier New"/>
            </a:endParaRPr>
          </a:p>
        </p:txBody>
      </p:sp>
      <p:sp>
        <p:nvSpPr>
          <p:cNvPr id="408" name="Google Shape;408;p32"/>
          <p:cNvSpPr/>
          <p:nvPr/>
        </p:nvSpPr>
        <p:spPr>
          <a:xfrm>
            <a:off x="3632200" y="2120900"/>
            <a:ext cx="1841400" cy="609600"/>
          </a:xfrm>
          <a:prstGeom prst="rect">
            <a:avLst/>
          </a:prstGeom>
          <a:solidFill>
            <a:srgbClr val="FFF2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32"/>
          <p:cNvSpPr txBox="1"/>
          <p:nvPr/>
        </p:nvSpPr>
        <p:spPr>
          <a:xfrm>
            <a:off x="3683000" y="2197100"/>
            <a:ext cx="17400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lang="en" sz="1700">
                <a:solidFill>
                  <a:srgbClr val="0B2744"/>
                </a:solidFill>
                <a:latin typeface="Courier New"/>
                <a:ea typeface="Courier New"/>
                <a:cs typeface="Courier New"/>
                <a:sym typeface="Courier New"/>
              </a:rPr>
              <a:t>pressures</a:t>
            </a:r>
            <a:endParaRPr sz="1700">
              <a:solidFill>
                <a:srgbClr val="0B2744"/>
              </a:solidFill>
              <a:latin typeface="Courier New"/>
              <a:ea typeface="Courier New"/>
              <a:cs typeface="Courier New"/>
              <a:sym typeface="Courier New"/>
            </a:endParaRPr>
          </a:p>
        </p:txBody>
      </p:sp>
      <p:sp>
        <p:nvSpPr>
          <p:cNvPr id="410" name="Google Shape;410;p32"/>
          <p:cNvSpPr/>
          <p:nvPr/>
        </p:nvSpPr>
        <p:spPr>
          <a:xfrm>
            <a:off x="5613400" y="2120900"/>
            <a:ext cx="1740000" cy="6096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1" name="Google Shape;411;p32"/>
          <p:cNvSpPr txBox="1"/>
          <p:nvPr/>
        </p:nvSpPr>
        <p:spPr>
          <a:xfrm>
            <a:off x="5664200" y="2197100"/>
            <a:ext cx="16383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lang="en" sz="1700">
                <a:solidFill>
                  <a:srgbClr val="0B2744"/>
                </a:solidFill>
                <a:latin typeface="Courier New"/>
                <a:ea typeface="Courier New"/>
                <a:cs typeface="Courier New"/>
                <a:sym typeface="Courier New"/>
              </a:rPr>
              <a:t>margins</a:t>
            </a:r>
            <a:endParaRPr sz="1700">
              <a:solidFill>
                <a:srgbClr val="0B2744"/>
              </a:solidFill>
              <a:latin typeface="Courier New"/>
              <a:ea typeface="Courier New"/>
              <a:cs typeface="Courier New"/>
              <a:sym typeface="Courier New"/>
            </a:endParaRPr>
          </a:p>
        </p:txBody>
      </p:sp>
      <p:sp>
        <p:nvSpPr>
          <p:cNvPr id="412" name="Google Shape;412;p32"/>
          <p:cNvSpPr/>
          <p:nvPr/>
        </p:nvSpPr>
        <p:spPr>
          <a:xfrm>
            <a:off x="7493000" y="2120900"/>
            <a:ext cx="622200" cy="609600"/>
          </a:xfrm>
          <a:prstGeom prst="rect">
            <a:avLst/>
          </a:prstGeom>
          <a:solidFill>
            <a:srgbClr val="FFF2D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3" name="Google Shape;413;p32"/>
          <p:cNvSpPr txBox="1"/>
          <p:nvPr/>
        </p:nvSpPr>
        <p:spPr>
          <a:xfrm>
            <a:off x="7543800" y="2197100"/>
            <a:ext cx="5208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200"/>
              </a:spcAft>
              <a:buNone/>
            </a:pPr>
            <a:r>
              <a:rPr lang="en" sz="1700">
                <a:solidFill>
                  <a:srgbClr val="0B2744"/>
                </a:solidFill>
                <a:latin typeface="Courier New"/>
                <a:ea typeface="Courier New"/>
                <a:cs typeface="Courier New"/>
                <a:sym typeface="Courier New"/>
              </a:rPr>
              <a:t>.</a:t>
            </a:r>
            <a:endParaRPr sz="1700">
              <a:solidFill>
                <a:srgbClr val="0B2744"/>
              </a:solidFill>
              <a:latin typeface="Courier New"/>
              <a:ea typeface="Courier New"/>
              <a:cs typeface="Courier New"/>
              <a:sym typeface="Courier New"/>
            </a:endParaRPr>
          </a:p>
        </p:txBody>
      </p:sp>
      <p:sp>
        <p:nvSpPr>
          <p:cNvPr id="414" name="Google Shape;414;p32"/>
          <p:cNvSpPr txBox="1"/>
          <p:nvPr/>
        </p:nvSpPr>
        <p:spPr>
          <a:xfrm>
            <a:off x="609600" y="2844800"/>
            <a:ext cx="79248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5C6B7D"/>
                </a:solidFill>
              </a:rPr>
              <a:t>Illustrative split · real boundaries depend on the tokenizer</a:t>
            </a:r>
            <a:endParaRPr>
              <a:solidFill>
                <a:srgbClr val="5C6B7D"/>
              </a:solidFill>
            </a:endParaRPr>
          </a:p>
        </p:txBody>
      </p:sp>
      <p:sp>
        <p:nvSpPr>
          <p:cNvPr id="415" name="Google Shape;415;p32"/>
          <p:cNvSpPr txBox="1"/>
          <p:nvPr/>
        </p:nvSpPr>
        <p:spPr>
          <a:xfrm>
            <a:off x="609600" y="3390900"/>
            <a:ext cx="79248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300">
                <a:solidFill>
                  <a:srgbClr val="0B2744"/>
                </a:solidFill>
              </a:rPr>
              <a:t>Tokens are chunks, not always whole words.</a:t>
            </a:r>
            <a:endParaRPr b="1" sz="2300">
              <a:solidFill>
                <a:srgbClr val="0B2744"/>
              </a:solidFill>
            </a:endParaRPr>
          </a:p>
        </p:txBody>
      </p:sp>
      <p:sp>
        <p:nvSpPr>
          <p:cNvPr id="416" name="Google Shape;416;p32"/>
          <p:cNvSpPr txBox="1"/>
          <p:nvPr/>
        </p:nvSpPr>
        <p:spPr>
          <a:xfrm>
            <a:off x="609600" y="4000500"/>
            <a:ext cx="7924800" cy="850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Text → tokens → IDs → model → tokens → text</a:t>
            </a:r>
            <a:endParaRPr b="1" sz="1800">
              <a:solidFill>
                <a:srgbClr val="0B2744"/>
              </a:solidFill>
            </a:endParaRPr>
          </a:p>
        </p:txBody>
      </p:sp>
      <p:sp>
        <p:nvSpPr>
          <p:cNvPr id="417" name="Google Shape;417;p32"/>
          <p:cNvSpPr txBox="1"/>
          <p:nvPr/>
        </p:nvSpPr>
        <p:spPr>
          <a:xfrm>
            <a:off x="609600" y="4927600"/>
            <a:ext cx="68580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5C6B7D"/>
                </a:solidFill>
              </a:rPr>
              <a:t>Illustrative token split</a:t>
            </a:r>
            <a:endParaRPr sz="820">
              <a:solidFill>
                <a:srgbClr val="5C6B7D"/>
              </a:solidFill>
            </a:endParaRPr>
          </a:p>
        </p:txBody>
      </p:sp>
      <p:sp>
        <p:nvSpPr>
          <p:cNvPr id="418" name="Google Shape;418;p32"/>
          <p:cNvSpPr txBox="1"/>
          <p:nvPr/>
        </p:nvSpPr>
        <p:spPr>
          <a:xfrm>
            <a:off x="8039100" y="49149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5C6B7D"/>
                </a:solidFill>
              </a:rPr>
              <a:t>20</a:t>
            </a:r>
            <a:endParaRPr b="1" sz="900">
              <a:solidFill>
                <a:srgbClr val="5C6B7D"/>
              </a:solidFill>
            </a:endParaRPr>
          </a:p>
        </p:txBody>
      </p:sp>
      <p:sp>
        <p:nvSpPr>
          <p:cNvPr id="419" name="Google Shape;419;p32"/>
          <p:cNvSpPr txBox="1"/>
          <p:nvPr/>
        </p:nvSpPr>
        <p:spPr>
          <a:xfrm>
            <a:off x="609600" y="4508500"/>
            <a:ext cx="7924800" cy="4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0B2744"/>
                </a:solidFill>
              </a:rPr>
              <a:t>Context: instructions, messages, data, tool results + output budget.</a:t>
            </a:r>
            <a:endParaRPr sz="1600">
              <a:solidFill>
                <a:srgbClr val="0B2744"/>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descr="Instructions, tool definitions, a loaded skill, messages, and tool results consume space in a schematic 100% budget with 20% response reserve. New output does not all fit; a later managed example reduces history and results." id="424" name="Google Shape;424;p33" title="Animated context-window budget"/>
          <p:cNvPicPr preferRelativeResize="0"/>
          <p:nvPr/>
        </p:nvPicPr>
        <p:blipFill>
          <a:blip r:embed="rId3">
            <a:alphaModFix/>
          </a:blip>
          <a:stretch>
            <a:fillRect/>
          </a:stretch>
        </p:blipFill>
        <p:spPr>
          <a:xfrm>
            <a:off x="609600" y="1511300"/>
            <a:ext cx="7924800" cy="2667000"/>
          </a:xfrm>
          <a:prstGeom prst="rect">
            <a:avLst/>
          </a:prstGeom>
          <a:noFill/>
          <a:ln>
            <a:noFill/>
          </a:ln>
        </p:spPr>
      </p:pic>
      <p:sp>
        <p:nvSpPr>
          <p:cNvPr id="425" name="Google Shape;425;p33"/>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What occupies the context window?</a:t>
            </a:r>
            <a:endParaRPr b="1" sz="3000">
              <a:solidFill>
                <a:srgbClr val="0B2744"/>
              </a:solidFill>
            </a:endParaRPr>
          </a:p>
        </p:txBody>
      </p:sp>
      <p:sp>
        <p:nvSpPr>
          <p:cNvPr id="426" name="Google Shape;426;p33"/>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7" name="Google Shape;427;p33"/>
          <p:cNvSpPr txBox="1"/>
          <p:nvPr/>
        </p:nvSpPr>
        <p:spPr>
          <a:xfrm>
            <a:off x="609600" y="4470400"/>
            <a:ext cx="79248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Each call needs room for its input and the model's response.</a:t>
            </a:r>
            <a:endParaRPr sz="1800">
              <a:solidFill>
                <a:srgbClr val="0B2744"/>
              </a:solidFill>
            </a:endParaRPr>
          </a:p>
        </p:txBody>
      </p:sp>
      <p:sp>
        <p:nvSpPr>
          <p:cNvPr id="428" name="Google Shape;428;p33"/>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Schematic context budget; not measured API usage</a:t>
            </a:r>
            <a:endParaRPr sz="820">
              <a:solidFill>
                <a:srgbClr val="738294"/>
              </a:solidFill>
            </a:endParaRPr>
          </a:p>
        </p:txBody>
      </p:sp>
      <p:sp>
        <p:nvSpPr>
          <p:cNvPr id="429" name="Google Shape;429;p33"/>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21</a:t>
            </a:r>
            <a:endParaRPr b="1" sz="900">
              <a:solidFill>
                <a:srgbClr val="738294"/>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4"/>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Managing the context window</a:t>
            </a:r>
            <a:endParaRPr b="1" sz="3000">
              <a:solidFill>
                <a:srgbClr val="0B2744"/>
              </a:solidFill>
            </a:endParaRPr>
          </a:p>
        </p:txBody>
      </p:sp>
      <p:sp>
        <p:nvSpPr>
          <p:cNvPr id="435" name="Google Shape;435;p34"/>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6" name="Google Shape;436;p34"/>
          <p:cNvSpPr txBox="1"/>
          <p:nvPr/>
        </p:nvSpPr>
        <p:spPr>
          <a:xfrm>
            <a:off x="609600" y="1435100"/>
            <a:ext cx="3759300" cy="1308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Keep the task, constraints, essential evidence, and current progress available to the model.</a:t>
            </a:r>
            <a:endParaRPr b="1" sz="2000">
              <a:solidFill>
                <a:srgbClr val="0B2744"/>
              </a:solidFill>
            </a:endParaRPr>
          </a:p>
        </p:txBody>
      </p:sp>
      <p:sp>
        <p:nvSpPr>
          <p:cNvPr id="437" name="Google Shape;437;p34"/>
          <p:cNvSpPr txBox="1"/>
          <p:nvPr/>
        </p:nvSpPr>
        <p:spPr>
          <a:xfrm>
            <a:off x="609600" y="3009900"/>
            <a:ext cx="3759300" cy="1714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900">
                <a:solidFill>
                  <a:srgbClr val="0B2744"/>
                </a:solidFill>
              </a:rPr>
              <a:t>Retrieve relevant excerpts, save bulky results in files, and summarize earlier steps so the next call has useful context.</a:t>
            </a:r>
            <a:endParaRPr sz="1900">
              <a:solidFill>
                <a:srgbClr val="0B2744"/>
              </a:solidFill>
            </a:endParaRPr>
          </a:p>
        </p:txBody>
      </p:sp>
      <p:sp>
        <p:nvSpPr>
          <p:cNvPr id="438" name="Google Shape;438;p34"/>
          <p:cNvSpPr/>
          <p:nvPr/>
        </p:nvSpPr>
        <p:spPr>
          <a:xfrm>
            <a:off x="4826000" y="1473200"/>
            <a:ext cx="3517800" cy="800100"/>
          </a:xfrm>
          <a:prstGeom prst="rect">
            <a:avLst/>
          </a:prstGeom>
          <a:solidFill>
            <a:srgbClr val="F2F6FA"/>
          </a:solidFill>
          <a:ln cap="flat" cmpd="sng" w="12700">
            <a:solidFill>
              <a:srgbClr val="0B27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9" name="Google Shape;439;p34"/>
          <p:cNvSpPr txBox="1"/>
          <p:nvPr/>
        </p:nvSpPr>
        <p:spPr>
          <a:xfrm>
            <a:off x="4953000" y="1612900"/>
            <a:ext cx="3264000" cy="584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Full tool output</a:t>
            </a:r>
            <a:endParaRPr b="1" sz="2000">
              <a:solidFill>
                <a:srgbClr val="0B2744"/>
              </a:solidFill>
            </a:endParaRPr>
          </a:p>
        </p:txBody>
      </p:sp>
      <p:sp>
        <p:nvSpPr>
          <p:cNvPr id="440" name="Google Shape;440;p34"/>
          <p:cNvSpPr/>
          <p:nvPr/>
        </p:nvSpPr>
        <p:spPr>
          <a:xfrm>
            <a:off x="4826000" y="2908300"/>
            <a:ext cx="3517800" cy="1422300"/>
          </a:xfrm>
          <a:prstGeom prst="rect">
            <a:avLst/>
          </a:prstGeom>
          <a:solidFill>
            <a:srgbClr val="F2F6FA"/>
          </a:solidFill>
          <a:ln cap="flat" cmpd="sng" w="12700">
            <a:solidFill>
              <a:srgbClr val="0B27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1" name="Google Shape;441;p34"/>
          <p:cNvSpPr txBox="1"/>
          <p:nvPr/>
        </p:nvSpPr>
        <p:spPr>
          <a:xfrm>
            <a:off x="4953000" y="3048000"/>
            <a:ext cx="3264000" cy="40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Next model input</a:t>
            </a:r>
            <a:endParaRPr b="1" sz="2000">
              <a:solidFill>
                <a:srgbClr val="0B2744"/>
              </a:solidFill>
            </a:endParaRPr>
          </a:p>
        </p:txBody>
      </p:sp>
      <p:sp>
        <p:nvSpPr>
          <p:cNvPr id="442" name="Google Shape;442;p34"/>
          <p:cNvSpPr txBox="1"/>
          <p:nvPr/>
        </p:nvSpPr>
        <p:spPr>
          <a:xfrm>
            <a:off x="4953000" y="3568700"/>
            <a:ext cx="3264000" cy="73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Relevant excerpts</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 progress notes</a:t>
            </a:r>
            <a:endParaRPr sz="1800">
              <a:solidFill>
                <a:srgbClr val="0B2744"/>
              </a:solidFill>
            </a:endParaRPr>
          </a:p>
        </p:txBody>
      </p:sp>
      <p:sp>
        <p:nvSpPr>
          <p:cNvPr id="443" name="Google Shape;443;p34"/>
          <p:cNvSpPr txBox="1"/>
          <p:nvPr/>
        </p:nvSpPr>
        <p:spPr>
          <a:xfrm>
            <a:off x="6210300" y="2311400"/>
            <a:ext cx="457200" cy="46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500">
                <a:solidFill>
                  <a:srgbClr val="0B2744"/>
                </a:solidFill>
              </a:rPr>
              <a:t>↓</a:t>
            </a:r>
            <a:endParaRPr b="1" sz="2500">
              <a:solidFill>
                <a:srgbClr val="0B2744"/>
              </a:solidFill>
            </a:endParaRPr>
          </a:p>
        </p:txBody>
      </p:sp>
      <p:sp>
        <p:nvSpPr>
          <p:cNvPr id="444" name="Google Shape;444;p34"/>
          <p:cNvSpPr txBox="1"/>
          <p:nvPr/>
        </p:nvSpPr>
        <p:spPr>
          <a:xfrm>
            <a:off x="6832600" y="2374900"/>
            <a:ext cx="15876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50">
                <a:solidFill>
                  <a:srgbClr val="0B2744"/>
                </a:solidFill>
              </a:rPr>
              <a:t>Select / summarize</a:t>
            </a:r>
            <a:endParaRPr sz="1350">
              <a:solidFill>
                <a:srgbClr val="0B2744"/>
              </a:solidFill>
            </a:endParaRPr>
          </a:p>
        </p:txBody>
      </p:sp>
      <p:sp>
        <p:nvSpPr>
          <p:cNvPr id="445" name="Google Shape;445;p34"/>
          <p:cNvSpPr txBox="1"/>
          <p:nvPr/>
        </p:nvSpPr>
        <p:spPr>
          <a:xfrm>
            <a:off x="4851400" y="4432300"/>
            <a:ext cx="35052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The full result stays in a file.</a:t>
            </a:r>
            <a:endParaRPr sz="1600">
              <a:solidFill>
                <a:srgbClr val="0B2744"/>
              </a:solidFill>
            </a:endParaRPr>
          </a:p>
        </p:txBody>
      </p:sp>
      <p:sp>
        <p:nvSpPr>
          <p:cNvPr id="446" name="Google Shape;446;p34"/>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Context selection, retrieval, and compaction</a:t>
            </a:r>
            <a:endParaRPr sz="820">
              <a:solidFill>
                <a:srgbClr val="738294"/>
              </a:solidFill>
            </a:endParaRPr>
          </a:p>
        </p:txBody>
      </p:sp>
      <p:sp>
        <p:nvSpPr>
          <p:cNvPr id="447" name="Google Shape;447;p34"/>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22</a:t>
            </a:r>
            <a:endParaRPr b="1" sz="900">
              <a:solidFill>
                <a:srgbClr val="738294"/>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35"/>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Which component would you inspect?</a:t>
            </a:r>
            <a:endParaRPr b="1" sz="3000">
              <a:solidFill>
                <a:srgbClr val="0B2744"/>
              </a:solidFill>
            </a:endParaRPr>
          </a:p>
        </p:txBody>
      </p:sp>
      <p:sp>
        <p:nvSpPr>
          <p:cNvPr id="453" name="Google Shape;453;p35"/>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4" name="Google Shape;454;p35"/>
          <p:cNvSpPr/>
          <p:nvPr/>
        </p:nvSpPr>
        <p:spPr>
          <a:xfrm>
            <a:off x="609600" y="1371600"/>
            <a:ext cx="7924800" cy="6732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5" name="Google Shape;455;p35"/>
          <p:cNvSpPr txBox="1"/>
          <p:nvPr/>
        </p:nvSpPr>
        <p:spPr>
          <a:xfrm>
            <a:off x="749300" y="1460500"/>
            <a:ext cx="5208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A</a:t>
            </a:r>
            <a:endParaRPr b="1" sz="2400">
              <a:solidFill>
                <a:srgbClr val="0B2744"/>
              </a:solidFill>
            </a:endParaRPr>
          </a:p>
        </p:txBody>
      </p:sp>
      <p:sp>
        <p:nvSpPr>
          <p:cNvPr id="456" name="Google Shape;456;p35"/>
          <p:cNvSpPr txBox="1"/>
          <p:nvPr/>
        </p:nvSpPr>
        <p:spPr>
          <a:xfrm>
            <a:off x="1409700" y="1435100"/>
            <a:ext cx="69597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The agent cannot access the earnings files.</a:t>
            </a:r>
            <a:endParaRPr sz="1800">
              <a:solidFill>
                <a:srgbClr val="0B2744"/>
              </a:solidFill>
            </a:endParaRPr>
          </a:p>
        </p:txBody>
      </p:sp>
      <p:sp>
        <p:nvSpPr>
          <p:cNvPr id="457" name="Google Shape;457;p35"/>
          <p:cNvSpPr/>
          <p:nvPr/>
        </p:nvSpPr>
        <p:spPr>
          <a:xfrm>
            <a:off x="609600" y="2133600"/>
            <a:ext cx="7924800" cy="6732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58" name="Google Shape;458;p35"/>
          <p:cNvSpPr txBox="1"/>
          <p:nvPr/>
        </p:nvSpPr>
        <p:spPr>
          <a:xfrm>
            <a:off x="749300" y="2222500"/>
            <a:ext cx="5208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B</a:t>
            </a:r>
            <a:endParaRPr b="1" sz="2400">
              <a:solidFill>
                <a:srgbClr val="0B2744"/>
              </a:solidFill>
            </a:endParaRPr>
          </a:p>
        </p:txBody>
      </p:sp>
      <p:sp>
        <p:nvSpPr>
          <p:cNvPr id="459" name="Google Shape;459;p35"/>
          <p:cNvSpPr txBox="1"/>
          <p:nvPr/>
        </p:nvSpPr>
        <p:spPr>
          <a:xfrm>
            <a:off x="1409700" y="2197100"/>
            <a:ext cx="69597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The guide uses two definitions of margin pressure.</a:t>
            </a:r>
            <a:endParaRPr sz="1800">
              <a:solidFill>
                <a:srgbClr val="0B2744"/>
              </a:solidFill>
            </a:endParaRPr>
          </a:p>
        </p:txBody>
      </p:sp>
      <p:sp>
        <p:nvSpPr>
          <p:cNvPr id="460" name="Google Shape;460;p35"/>
          <p:cNvSpPr/>
          <p:nvPr/>
        </p:nvSpPr>
        <p:spPr>
          <a:xfrm>
            <a:off x="609600" y="2895600"/>
            <a:ext cx="7924800" cy="6732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1" name="Google Shape;461;p35"/>
          <p:cNvSpPr txBox="1"/>
          <p:nvPr/>
        </p:nvSpPr>
        <p:spPr>
          <a:xfrm>
            <a:off x="749300" y="2984500"/>
            <a:ext cx="5208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C</a:t>
            </a:r>
            <a:endParaRPr b="1" sz="2400">
              <a:solidFill>
                <a:srgbClr val="0B2744"/>
              </a:solidFill>
            </a:endParaRPr>
          </a:p>
        </p:txBody>
      </p:sp>
      <p:sp>
        <p:nvSpPr>
          <p:cNvPr id="462" name="Google Shape;462;p35"/>
          <p:cNvSpPr txBox="1"/>
          <p:nvPr/>
        </p:nvSpPr>
        <p:spPr>
          <a:xfrm>
            <a:off x="1409700" y="2959100"/>
            <a:ext cx="69597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The model still fails with correct data, clear guidance, and useful tools.</a:t>
            </a:r>
            <a:endParaRPr sz="1700">
              <a:solidFill>
                <a:srgbClr val="0B2744"/>
              </a:solidFill>
            </a:endParaRPr>
          </a:p>
        </p:txBody>
      </p:sp>
      <p:sp>
        <p:nvSpPr>
          <p:cNvPr id="463" name="Google Shape;463;p35"/>
          <p:cNvSpPr/>
          <p:nvPr/>
        </p:nvSpPr>
        <p:spPr>
          <a:xfrm>
            <a:off x="609600" y="3657600"/>
            <a:ext cx="7924800" cy="6732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4" name="Google Shape;464;p35"/>
          <p:cNvSpPr txBox="1"/>
          <p:nvPr/>
        </p:nvSpPr>
        <p:spPr>
          <a:xfrm>
            <a:off x="749300" y="3746500"/>
            <a:ext cx="520800" cy="482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400">
                <a:solidFill>
                  <a:srgbClr val="0B2744"/>
                </a:solidFill>
              </a:rPr>
              <a:t>D</a:t>
            </a:r>
            <a:endParaRPr b="1" sz="2400">
              <a:solidFill>
                <a:srgbClr val="0B2744"/>
              </a:solidFill>
            </a:endParaRPr>
          </a:p>
        </p:txBody>
      </p:sp>
      <p:sp>
        <p:nvSpPr>
          <p:cNvPr id="465" name="Google Shape;465;p35"/>
          <p:cNvSpPr txBox="1"/>
          <p:nvPr/>
        </p:nvSpPr>
        <p:spPr>
          <a:xfrm>
            <a:off x="1409700" y="3721100"/>
            <a:ext cx="6959700" cy="635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The tool returns correct data, but the next model call never receives it.</a:t>
            </a:r>
            <a:endParaRPr sz="1700">
              <a:solidFill>
                <a:srgbClr val="0B2744"/>
              </a:solidFill>
            </a:endParaRPr>
          </a:p>
        </p:txBody>
      </p:sp>
      <p:sp>
        <p:nvSpPr>
          <p:cNvPr id="466" name="Google Shape;466;p35"/>
          <p:cNvSpPr txBox="1"/>
          <p:nvPr/>
        </p:nvSpPr>
        <p:spPr>
          <a:xfrm>
            <a:off x="609600" y="4533900"/>
            <a:ext cx="79248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What would you check first, and how would you test it?</a:t>
            </a:r>
            <a:endParaRPr b="1" sz="1800">
              <a:solidFill>
                <a:srgbClr val="0B2744"/>
              </a:solidFill>
            </a:endParaRPr>
          </a:p>
        </p:txBody>
      </p:sp>
      <p:sp>
        <p:nvSpPr>
          <p:cNvPr id="467" name="Google Shape;467;p35"/>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Discussion exercise</a:t>
            </a:r>
            <a:endParaRPr sz="820">
              <a:solidFill>
                <a:srgbClr val="738294"/>
              </a:solidFill>
            </a:endParaRPr>
          </a:p>
        </p:txBody>
      </p:sp>
      <p:sp>
        <p:nvSpPr>
          <p:cNvPr id="468" name="Google Shape;468;p35"/>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23</a:t>
            </a:r>
            <a:endParaRPr b="1" sz="900">
              <a:solidFill>
                <a:srgbClr val="738294"/>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pic>
        <p:nvPicPr>
          <p:cNvPr descr="Skills feed guidance into context inside the harness. The LLM receives context and requests an action. The harness executes the request through external tools and adds the returned observation to the next model input." id="473" name="Google Shape;473;p36" title="Connected anatomy of an agent"/>
          <p:cNvPicPr preferRelativeResize="0"/>
          <p:nvPr/>
        </p:nvPicPr>
        <p:blipFill>
          <a:blip r:embed="rId3">
            <a:alphaModFix/>
          </a:blip>
          <a:stretch>
            <a:fillRect/>
          </a:stretch>
        </p:blipFill>
        <p:spPr>
          <a:xfrm>
            <a:off x="4178300" y="1600200"/>
            <a:ext cx="4419602" cy="1473201"/>
          </a:xfrm>
          <a:prstGeom prst="rect">
            <a:avLst/>
          </a:prstGeom>
          <a:noFill/>
          <a:ln>
            <a:noFill/>
          </a:ln>
        </p:spPr>
      </p:pic>
      <p:sp>
        <p:nvSpPr>
          <p:cNvPr id="474" name="Google Shape;474;p36"/>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Diagnosing an agent</a:t>
            </a:r>
            <a:endParaRPr b="1" sz="3000">
              <a:solidFill>
                <a:srgbClr val="0B2744"/>
              </a:solidFill>
            </a:endParaRPr>
          </a:p>
        </p:txBody>
      </p:sp>
      <p:sp>
        <p:nvSpPr>
          <p:cNvPr id="475" name="Google Shape;475;p36"/>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6" name="Google Shape;476;p36"/>
          <p:cNvSpPr txBox="1"/>
          <p:nvPr/>
        </p:nvSpPr>
        <p:spPr>
          <a:xfrm>
            <a:off x="609600" y="1409700"/>
            <a:ext cx="34797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A · Tools</a:t>
            </a:r>
            <a:endParaRPr b="1" sz="2000">
              <a:solidFill>
                <a:srgbClr val="0B2744"/>
              </a:solidFill>
            </a:endParaRPr>
          </a:p>
        </p:txBody>
      </p:sp>
      <p:sp>
        <p:nvSpPr>
          <p:cNvPr id="477" name="Google Shape;477;p36"/>
          <p:cNvSpPr txBox="1"/>
          <p:nvPr/>
        </p:nvSpPr>
        <p:spPr>
          <a:xfrm>
            <a:off x="609600" y="1778000"/>
            <a:ext cx="3479700" cy="495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50">
                <a:solidFill>
                  <a:srgbClr val="0B2744"/>
                </a:solidFill>
              </a:rPr>
              <a:t>Check access and permissions.</a:t>
            </a:r>
            <a:endParaRPr sz="1650">
              <a:solidFill>
                <a:srgbClr val="0B2744"/>
              </a:solidFill>
            </a:endParaRPr>
          </a:p>
        </p:txBody>
      </p:sp>
      <p:sp>
        <p:nvSpPr>
          <p:cNvPr id="478" name="Google Shape;478;p36"/>
          <p:cNvSpPr txBox="1"/>
          <p:nvPr/>
        </p:nvSpPr>
        <p:spPr>
          <a:xfrm>
            <a:off x="609600" y="2222500"/>
            <a:ext cx="34797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B · Skills</a:t>
            </a:r>
            <a:endParaRPr b="1" sz="2000">
              <a:solidFill>
                <a:srgbClr val="0B2744"/>
              </a:solidFill>
            </a:endParaRPr>
          </a:p>
        </p:txBody>
      </p:sp>
      <p:sp>
        <p:nvSpPr>
          <p:cNvPr id="479" name="Google Shape;479;p36"/>
          <p:cNvSpPr txBox="1"/>
          <p:nvPr/>
        </p:nvSpPr>
        <p:spPr>
          <a:xfrm>
            <a:off x="609600" y="2590800"/>
            <a:ext cx="3479700" cy="584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50">
                <a:solidFill>
                  <a:srgbClr val="0B2744"/>
                </a:solidFill>
              </a:rPr>
              <a:t>Check the labeling rules.</a:t>
            </a:r>
            <a:endParaRPr sz="1650">
              <a:solidFill>
                <a:srgbClr val="0B2744"/>
              </a:solidFill>
            </a:endParaRPr>
          </a:p>
        </p:txBody>
      </p:sp>
      <p:sp>
        <p:nvSpPr>
          <p:cNvPr id="480" name="Google Shape;480;p36"/>
          <p:cNvSpPr txBox="1"/>
          <p:nvPr/>
        </p:nvSpPr>
        <p:spPr>
          <a:xfrm>
            <a:off x="609600" y="3035300"/>
            <a:ext cx="34797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C · Brain</a:t>
            </a:r>
            <a:endParaRPr b="1" sz="2000">
              <a:solidFill>
                <a:srgbClr val="0B2744"/>
              </a:solidFill>
            </a:endParaRPr>
          </a:p>
        </p:txBody>
      </p:sp>
      <p:sp>
        <p:nvSpPr>
          <p:cNvPr id="481" name="Google Shape;481;p36"/>
          <p:cNvSpPr txBox="1"/>
          <p:nvPr/>
        </p:nvSpPr>
        <p:spPr>
          <a:xfrm>
            <a:off x="609600" y="3403600"/>
            <a:ext cx="3479700" cy="584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50">
                <a:solidFill>
                  <a:srgbClr val="0B2744"/>
                </a:solidFill>
              </a:rPr>
              <a:t>Compare models on the same task.</a:t>
            </a:r>
            <a:endParaRPr sz="1650">
              <a:solidFill>
                <a:srgbClr val="0B2744"/>
              </a:solidFill>
            </a:endParaRPr>
          </a:p>
        </p:txBody>
      </p:sp>
      <p:sp>
        <p:nvSpPr>
          <p:cNvPr id="482" name="Google Shape;482;p36"/>
          <p:cNvSpPr txBox="1"/>
          <p:nvPr/>
        </p:nvSpPr>
        <p:spPr>
          <a:xfrm>
            <a:off x="609600" y="3848100"/>
            <a:ext cx="3479700" cy="393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D · Harness</a:t>
            </a:r>
            <a:endParaRPr b="1" sz="2000">
              <a:solidFill>
                <a:srgbClr val="0B2744"/>
              </a:solidFill>
            </a:endParaRPr>
          </a:p>
        </p:txBody>
      </p:sp>
      <p:sp>
        <p:nvSpPr>
          <p:cNvPr id="483" name="Google Shape;483;p36"/>
          <p:cNvSpPr txBox="1"/>
          <p:nvPr/>
        </p:nvSpPr>
        <p:spPr>
          <a:xfrm>
            <a:off x="609600" y="4216400"/>
            <a:ext cx="3479700" cy="584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50">
                <a:solidFill>
                  <a:srgbClr val="0B2744"/>
                </a:solidFill>
              </a:rPr>
              <a:t>Check the next call's context.</a:t>
            </a:r>
            <a:endParaRPr sz="1650">
              <a:solidFill>
                <a:srgbClr val="0B2744"/>
              </a:solidFill>
            </a:endParaRPr>
          </a:p>
        </p:txBody>
      </p:sp>
      <p:sp>
        <p:nvSpPr>
          <p:cNvPr id="484" name="Google Shape;484;p36"/>
          <p:cNvSpPr txBox="1"/>
          <p:nvPr/>
        </p:nvSpPr>
        <p:spPr>
          <a:xfrm>
            <a:off x="4356100" y="3314700"/>
            <a:ext cx="4152900" cy="140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Sometimes the model is the limiting factor, even with good tools, relevant context, and clear guidance.</a:t>
            </a:r>
            <a:endParaRPr b="1" sz="2000">
              <a:solidFill>
                <a:srgbClr val="0B2744"/>
              </a:solidFill>
            </a:endParaRPr>
          </a:p>
        </p:txBody>
      </p:sp>
      <p:sp>
        <p:nvSpPr>
          <p:cNvPr id="485" name="Google Shape;485;p36"/>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Suggested first checks; multiple causes are possible</a:t>
            </a:r>
            <a:endParaRPr sz="820">
              <a:solidFill>
                <a:srgbClr val="738294"/>
              </a:solidFill>
            </a:endParaRPr>
          </a:p>
        </p:txBody>
      </p:sp>
      <p:sp>
        <p:nvSpPr>
          <p:cNvPr id="486" name="Google Shape;486;p36"/>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24</a:t>
            </a:r>
            <a:endParaRPr b="1" sz="900">
              <a:solidFill>
                <a:srgbClr val="738294"/>
              </a:solidFill>
            </a:endParaRPr>
          </a:p>
        </p:txBody>
      </p:sp>
      <p:sp>
        <p:nvSpPr>
          <p:cNvPr id="487" name="Google Shape;487;p36"/>
          <p:cNvSpPr txBox="1"/>
          <p:nvPr/>
        </p:nvSpPr>
        <p:spPr>
          <a:xfrm>
            <a:off x="4249127" y="1671027"/>
            <a:ext cx="878400" cy="184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170" u="sng">
                <a:solidFill>
                  <a:srgbClr val="0B2744"/>
                </a:solidFill>
                <a:hlinkClick action="ppaction://hlinksldjump" r:id="rId4">
                  <a:extLst>
                    <a:ext uri="{A12FA001-AC4F-418D-AE19-62706E023703}">
                      <ahyp:hlinkClr val="tx"/>
                    </a:ext>
                  </a:extLst>
                </a:hlinkClick>
              </a:rPr>
              <a:t>Skills</a:t>
            </a:r>
            <a:endParaRPr b="1" sz="1170">
              <a:solidFill>
                <a:srgbClr val="0B2744"/>
              </a:solidFill>
            </a:endParaRPr>
          </a:p>
        </p:txBody>
      </p:sp>
      <p:sp>
        <p:nvSpPr>
          <p:cNvPr id="488" name="Google Shape;488;p36"/>
          <p:cNvSpPr txBox="1"/>
          <p:nvPr/>
        </p:nvSpPr>
        <p:spPr>
          <a:xfrm>
            <a:off x="5198208" y="1543538"/>
            <a:ext cx="1784700" cy="184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170" u="sng">
                <a:solidFill>
                  <a:srgbClr val="0B2744"/>
                </a:solidFill>
                <a:hlinkClick action="ppaction://hlinksldjump" r:id="rId5">
                  <a:extLst>
                    <a:ext uri="{A12FA001-AC4F-418D-AE19-62706E023703}">
                      <ahyp:hlinkClr val="tx"/>
                    </a:ext>
                  </a:extLst>
                </a:hlinkClick>
              </a:rPr>
              <a:t>Harness</a:t>
            </a:r>
            <a:endParaRPr b="1" sz="1170">
              <a:solidFill>
                <a:srgbClr val="0B2744"/>
              </a:solidFill>
            </a:endParaRPr>
          </a:p>
        </p:txBody>
      </p:sp>
      <p:sp>
        <p:nvSpPr>
          <p:cNvPr id="489" name="Google Shape;489;p36"/>
          <p:cNvSpPr txBox="1"/>
          <p:nvPr/>
        </p:nvSpPr>
        <p:spPr>
          <a:xfrm>
            <a:off x="5304702" y="2280138"/>
            <a:ext cx="863700" cy="155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000">
                <a:solidFill>
                  <a:srgbClr val="0B2744"/>
                </a:solidFill>
              </a:rPr>
              <a:t>Context</a:t>
            </a:r>
            <a:endParaRPr b="1" sz="1000">
              <a:solidFill>
                <a:srgbClr val="0B2744"/>
              </a:solidFill>
            </a:endParaRPr>
          </a:p>
        </p:txBody>
      </p:sp>
      <p:sp>
        <p:nvSpPr>
          <p:cNvPr id="490" name="Google Shape;490;p36"/>
          <p:cNvSpPr txBox="1"/>
          <p:nvPr/>
        </p:nvSpPr>
        <p:spPr>
          <a:xfrm>
            <a:off x="6147288" y="2336800"/>
            <a:ext cx="828600" cy="1701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040">
                <a:solidFill>
                  <a:srgbClr val="0B2744"/>
                </a:solidFill>
              </a:rPr>
              <a:t>LLM</a:t>
            </a:r>
            <a:endParaRPr b="1" sz="1040">
              <a:solidFill>
                <a:srgbClr val="0B2744"/>
              </a:solidFill>
            </a:endParaRPr>
          </a:p>
        </p:txBody>
      </p:sp>
      <p:sp>
        <p:nvSpPr>
          <p:cNvPr id="491" name="Google Shape;491;p36"/>
          <p:cNvSpPr txBox="1"/>
          <p:nvPr/>
        </p:nvSpPr>
        <p:spPr>
          <a:xfrm>
            <a:off x="7528413" y="1671027"/>
            <a:ext cx="835800" cy="1842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b="1" lang="en" sz="1170" u="sng">
                <a:solidFill>
                  <a:srgbClr val="0B2744"/>
                </a:solidFill>
                <a:hlinkClick action="ppaction://hlinksldjump" r:id="rId6">
                  <a:extLst>
                    <a:ext uri="{A12FA001-AC4F-418D-AE19-62706E023703}">
                      <ahyp:hlinkClr val="tx"/>
                    </a:ext>
                  </a:extLst>
                </a:hlinkClick>
              </a:rPr>
              <a:t>Tools</a:t>
            </a:r>
            <a:endParaRPr b="1" sz="1170">
              <a:solidFill>
                <a:srgbClr val="0B2744"/>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744"/>
        </a:solidFill>
      </p:bgPr>
    </p:bg>
    <p:spTree>
      <p:nvGrpSpPr>
        <p:cNvPr id="495" name="Shape 495"/>
        <p:cNvGrpSpPr/>
        <p:nvPr/>
      </p:nvGrpSpPr>
      <p:grpSpPr>
        <a:xfrm>
          <a:off x="0" y="0"/>
          <a:ext cx="0" cy="0"/>
          <a:chOff x="0" y="0"/>
          <a:chExt cx="0" cy="0"/>
        </a:xfrm>
      </p:grpSpPr>
      <p:sp>
        <p:nvSpPr>
          <p:cNvPr id="496" name="Google Shape;496;p37"/>
          <p:cNvSpPr txBox="1"/>
          <p:nvPr>
            <p:ph type="ctrTitle"/>
          </p:nvPr>
        </p:nvSpPr>
        <p:spPr>
          <a:xfrm>
            <a:off x="914400" y="1371600"/>
            <a:ext cx="7569300" cy="14223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3800">
                <a:solidFill>
                  <a:srgbClr val="FFFFFF"/>
                </a:solidFill>
              </a:rPr>
              <a:t>How LLMs</a:t>
            </a:r>
            <a:endParaRPr b="1" sz="3800">
              <a:solidFill>
                <a:srgbClr val="FFFFFF"/>
              </a:solidFill>
            </a:endParaRPr>
          </a:p>
          <a:p>
            <a:pPr indent="0" lvl="0" marL="0" marR="0" rtl="0" algn="l">
              <a:lnSpc>
                <a:spcPct val="110000"/>
              </a:lnSpc>
              <a:spcBef>
                <a:spcPts val="0"/>
              </a:spcBef>
              <a:spcAft>
                <a:spcPts val="0"/>
              </a:spcAft>
              <a:buNone/>
            </a:pPr>
            <a:r>
              <a:rPr b="1" lang="en" sz="3800">
                <a:solidFill>
                  <a:srgbClr val="FFFFFF"/>
                </a:solidFill>
              </a:rPr>
              <a:t>are trained</a:t>
            </a:r>
            <a:endParaRPr b="1" sz="3800">
              <a:solidFill>
                <a:srgbClr val="FFFFFF"/>
              </a:solidFill>
            </a:endParaRPr>
          </a:p>
        </p:txBody>
      </p:sp>
      <p:sp>
        <p:nvSpPr>
          <p:cNvPr id="497" name="Google Shape;497;p37"/>
          <p:cNvSpPr txBox="1"/>
          <p:nvPr>
            <p:ph idx="1" type="subTitle"/>
          </p:nvPr>
        </p:nvSpPr>
        <p:spPr>
          <a:xfrm>
            <a:off x="914400" y="2984500"/>
            <a:ext cx="7556400" cy="838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FFFFFF"/>
                </a:solidFill>
              </a:rPr>
              <a:t>Lesson 3 · Part 2</a:t>
            </a:r>
            <a:endParaRPr b="1" sz="2000">
              <a:solidFill>
                <a:srgbClr val="FFFFFF"/>
              </a:solidFill>
            </a:endParaRPr>
          </a:p>
          <a:p>
            <a:pPr indent="0" lvl="0" marL="0" marR="0" rtl="0" algn="l">
              <a:lnSpc>
                <a:spcPct val="110000"/>
              </a:lnSpc>
              <a:spcBef>
                <a:spcPts val="0"/>
              </a:spcBef>
              <a:spcAft>
                <a:spcPts val="0"/>
              </a:spcAft>
              <a:buNone/>
            </a:pPr>
            <a:r>
              <a:rPr lang="en" sz="2000">
                <a:solidFill>
                  <a:srgbClr val="FFFFFF"/>
                </a:solidFill>
              </a:rPr>
              <a:t>How training changes the model’s weights.</a:t>
            </a:r>
            <a:endParaRPr sz="2000">
              <a:solidFill>
                <a:srgbClr val="FFFFFF"/>
              </a:solidFill>
            </a:endParaRPr>
          </a:p>
        </p:txBody>
      </p:sp>
      <p:sp>
        <p:nvSpPr>
          <p:cNvPr id="498" name="Google Shape;498;p37"/>
          <p:cNvSpPr/>
          <p:nvPr/>
        </p:nvSpPr>
        <p:spPr>
          <a:xfrm>
            <a:off x="609600" y="1473200"/>
            <a:ext cx="63600" cy="12573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99" name="Google Shape;499;p37"/>
          <p:cNvSpPr txBox="1"/>
          <p:nvPr/>
        </p:nvSpPr>
        <p:spPr>
          <a:xfrm>
            <a:off x="914400" y="647700"/>
            <a:ext cx="75693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E6A92C"/>
                </a:solidFill>
              </a:rPr>
              <a:t>UC Berkeley · Master of Financial Engineering</a:t>
            </a:r>
            <a:endParaRPr>
              <a:solidFill>
                <a:srgbClr val="E6A92C"/>
              </a:solidFill>
            </a:endParaRPr>
          </a:p>
        </p:txBody>
      </p:sp>
      <p:sp>
        <p:nvSpPr>
          <p:cNvPr id="500" name="Google Shape;500;p37"/>
          <p:cNvSpPr txBox="1"/>
          <p:nvPr/>
        </p:nvSpPr>
        <p:spPr>
          <a:xfrm>
            <a:off x="914400" y="4267200"/>
            <a:ext cx="75693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E6A92C"/>
                </a:solidFill>
              </a:rPr>
              <a:t>October 12, 2026</a:t>
            </a:r>
            <a:endParaRPr sz="1600">
              <a:solidFill>
                <a:srgbClr val="E6A92C"/>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8"/>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Knowledge and behavior</a:t>
            </a:r>
            <a:endParaRPr b="1" sz="3000">
              <a:solidFill>
                <a:srgbClr val="0B2744"/>
              </a:solidFill>
            </a:endParaRPr>
          </a:p>
        </p:txBody>
      </p:sp>
      <p:sp>
        <p:nvSpPr>
          <p:cNvPr id="506" name="Google Shape;506;p38"/>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38"/>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Pre-training</a:t>
            </a:r>
            <a:endParaRPr b="1" sz="2100">
              <a:solidFill>
                <a:srgbClr val="0B2744"/>
              </a:solidFill>
            </a:endParaRPr>
          </a:p>
        </p:txBody>
      </p:sp>
      <p:sp>
        <p:nvSpPr>
          <p:cNvPr id="508" name="Google Shape;508;p38"/>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Builds a world model.</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The model learns knowledge, relationships, and patterns from a broad corpus.</a:t>
            </a:r>
            <a:endParaRPr sz="1800">
              <a:solidFill>
                <a:srgbClr val="0B2744"/>
              </a:solidFill>
            </a:endParaRPr>
          </a:p>
        </p:txBody>
      </p:sp>
      <p:sp>
        <p:nvSpPr>
          <p:cNvPr id="509" name="Google Shape;509;p38"/>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Post-training</a:t>
            </a:r>
            <a:endParaRPr b="1" sz="2100">
              <a:solidFill>
                <a:srgbClr val="0B2744"/>
              </a:solidFill>
            </a:endParaRPr>
          </a:p>
        </p:txBody>
      </p:sp>
      <p:sp>
        <p:nvSpPr>
          <p:cNvPr id="510" name="Google Shape;510;p38"/>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Shapes behavior.</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The model learns how to use that knowledge to follow instructions, use tools, and act.</a:t>
            </a:r>
            <a:endParaRPr sz="1800">
              <a:solidFill>
                <a:srgbClr val="0B2744"/>
              </a:solidFill>
            </a:endParaRPr>
          </a:p>
        </p:txBody>
      </p:sp>
      <p:sp>
        <p:nvSpPr>
          <p:cNvPr id="511" name="Google Shape;511;p38"/>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38"/>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Knowledge about the world. Behavior in the world.</a:t>
            </a:r>
            <a:endParaRPr b="1" sz="1900">
              <a:solidFill>
                <a:srgbClr val="0B2744"/>
              </a:solidFill>
            </a:endParaRPr>
          </a:p>
        </p:txBody>
      </p:sp>
      <p:sp>
        <p:nvSpPr>
          <p:cNvPr id="513" name="Google Shape;513;p38"/>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A useful high-level mental model</a:t>
            </a:r>
            <a:endParaRPr sz="820">
              <a:solidFill>
                <a:srgbClr val="738294"/>
              </a:solidFill>
            </a:endParaRPr>
          </a:p>
        </p:txBody>
      </p:sp>
      <p:sp>
        <p:nvSpPr>
          <p:cNvPr id="514" name="Google Shape;514;p38"/>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26</a:t>
            </a:r>
            <a:endParaRPr b="1" sz="900">
              <a:solidFill>
                <a:srgbClr val="738294"/>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descr="Loss curve L(w)=half of (w minus 3) squared, starting at weight 1 and loss 2" id="519" name="Google Shape;519;p39" title="Loss curve L(w)=half of (w minus 3) squared, starting at weight 1 and loss 2"/>
          <p:cNvPicPr preferRelativeResize="0"/>
          <p:nvPr/>
        </p:nvPicPr>
        <p:blipFill>
          <a:blip r:embed="rId3">
            <a:alphaModFix/>
          </a:blip>
          <a:stretch>
            <a:fillRect/>
          </a:stretch>
        </p:blipFill>
        <p:spPr>
          <a:xfrm>
            <a:off x="622300" y="1409700"/>
            <a:ext cx="3708400" cy="3189224"/>
          </a:xfrm>
          <a:prstGeom prst="rect">
            <a:avLst/>
          </a:prstGeom>
          <a:noFill/>
          <a:ln>
            <a:noFill/>
          </a:ln>
        </p:spPr>
      </p:pic>
      <p:sp>
        <p:nvSpPr>
          <p:cNvPr id="520" name="Google Shape;520;p39"/>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What a training step does</a:t>
            </a:r>
            <a:endParaRPr b="1" sz="3000">
              <a:solidFill>
                <a:srgbClr val="0B2744"/>
              </a:solidFill>
            </a:endParaRPr>
          </a:p>
        </p:txBody>
      </p:sp>
      <p:sp>
        <p:nvSpPr>
          <p:cNvPr id="521" name="Google Shape;521;p39"/>
          <p:cNvSpPr txBox="1"/>
          <p:nvPr/>
        </p:nvSpPr>
        <p:spPr>
          <a:xfrm>
            <a:off x="4635500" y="1435100"/>
            <a:ext cx="3898800" cy="101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Prediction = w × x</a:t>
            </a:r>
            <a:endParaRPr b="1" sz="2100">
              <a:solidFill>
                <a:srgbClr val="0B2744"/>
              </a:solidFill>
            </a:endParaRPr>
          </a:p>
          <a:p>
            <a:pPr indent="0" lvl="0" marL="0" rtl="0" algn="l">
              <a:lnSpc>
                <a:spcPct val="110000"/>
              </a:lnSpc>
              <a:spcBef>
                <a:spcPts val="0"/>
              </a:spcBef>
              <a:spcAft>
                <a:spcPts val="0"/>
              </a:spcAft>
              <a:buNone/>
            </a:pPr>
            <a:r>
              <a:rPr b="1" lang="en" sz="2100">
                <a:solidFill>
                  <a:srgbClr val="0B2744"/>
                </a:solidFill>
              </a:rPr>
              <a:t>Here, x = 1 and target = 3.</a:t>
            </a:r>
            <a:endParaRPr b="1" sz="2100">
              <a:solidFill>
                <a:srgbClr val="0B2744"/>
              </a:solidFill>
            </a:endParaRPr>
          </a:p>
        </p:txBody>
      </p:sp>
      <p:sp>
        <p:nvSpPr>
          <p:cNvPr id="522" name="Google Shape;522;p39"/>
          <p:cNvSpPr/>
          <p:nvPr/>
        </p:nvSpPr>
        <p:spPr>
          <a:xfrm>
            <a:off x="4635500" y="2400300"/>
            <a:ext cx="3898800" cy="13971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39"/>
          <p:cNvSpPr txBox="1"/>
          <p:nvPr/>
        </p:nvSpPr>
        <p:spPr>
          <a:xfrm>
            <a:off x="4737100" y="2501900"/>
            <a:ext cx="36957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latin typeface="Courier New"/>
                <a:ea typeface="Courier New"/>
                <a:cs typeface="Courier New"/>
                <a:sym typeface="Courier New"/>
              </a:rPr>
              <a:t>Start: w = 1</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Prediction = 1</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Loss = ½(1 − 3)² = 2</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600">
                <a:solidFill>
                  <a:srgbClr val="0B2744"/>
                </a:solidFill>
                <a:latin typeface="Courier New"/>
                <a:ea typeface="Courier New"/>
                <a:cs typeface="Courier New"/>
                <a:sym typeface="Courier New"/>
              </a:rPr>
              <a:t>Gradient = w − 3 = −2</a:t>
            </a:r>
            <a:endParaRPr sz="1600">
              <a:solidFill>
                <a:srgbClr val="0B2744"/>
              </a:solidFill>
              <a:latin typeface="Courier New"/>
              <a:ea typeface="Courier New"/>
              <a:cs typeface="Courier New"/>
              <a:sym typeface="Courier New"/>
            </a:endParaRPr>
          </a:p>
        </p:txBody>
      </p:sp>
      <p:sp>
        <p:nvSpPr>
          <p:cNvPr id="524" name="Google Shape;524;p39"/>
          <p:cNvSpPr txBox="1"/>
          <p:nvPr/>
        </p:nvSpPr>
        <p:spPr>
          <a:xfrm>
            <a:off x="4635500" y="4038600"/>
            <a:ext cx="3898800" cy="78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Should w move left or right to reduce the loss?</a:t>
            </a:r>
            <a:endParaRPr b="1" sz="1900">
              <a:solidFill>
                <a:srgbClr val="0B2744"/>
              </a:solidFill>
            </a:endParaRPr>
          </a:p>
        </p:txBody>
      </p:sp>
      <p:sp>
        <p:nvSpPr>
          <p:cNvPr id="525" name="Google Shape;525;p39"/>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Toy example: L(w) = ½(w − 3)²</a:t>
            </a:r>
            <a:endParaRPr sz="820">
              <a:solidFill>
                <a:srgbClr val="738294"/>
              </a:solidFill>
            </a:endParaRPr>
          </a:p>
        </p:txBody>
      </p:sp>
      <p:sp>
        <p:nvSpPr>
          <p:cNvPr id="526" name="Google Shape;526;p39"/>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27</a:t>
            </a:r>
            <a:endParaRPr b="1" sz="900">
              <a:solidFill>
                <a:srgbClr val="738294"/>
              </a:solidFill>
            </a:endParaRPr>
          </a:p>
        </p:txBody>
      </p:sp>
      <p:sp>
        <p:nvSpPr>
          <p:cNvPr id="527" name="Google Shape;527;p39"/>
          <p:cNvSpPr txBox="1"/>
          <p:nvPr/>
        </p:nvSpPr>
        <p:spPr>
          <a:xfrm>
            <a:off x="609600" y="4559300"/>
            <a:ext cx="3594000" cy="33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50" u="sng">
                <a:solidFill>
                  <a:srgbClr val="0B2744"/>
                </a:solidFill>
                <a:hlinkClick action="ppaction://hlinksldjump" r:id="rId4">
                  <a:extLst>
                    <a:ext uri="{A12FA001-AC4F-418D-AE19-62706E023703}">
                      <ahyp:hlinkClr val="tx"/>
                    </a:ext>
                  </a:extLst>
                </a:hlinkClick>
              </a:rPr>
              <a:t>Show the parameter update</a:t>
            </a:r>
            <a:endParaRPr sz="1350" u="sng">
              <a:solidFill>
                <a:srgbClr val="0B2744"/>
              </a:solidFill>
            </a:endParaRPr>
          </a:p>
        </p:txBody>
      </p:sp>
      <p:sp>
        <p:nvSpPr>
          <p:cNvPr id="528" name="Google Shape;528;p39"/>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40"/>
          <p:cNvPicPr preferRelativeResize="0"/>
          <p:nvPr/>
        </p:nvPicPr>
        <p:blipFill>
          <a:blip r:embed="rId3">
            <a:alphaModFix/>
          </a:blip>
          <a:stretch>
            <a:fillRect/>
          </a:stretch>
        </p:blipFill>
        <p:spPr>
          <a:xfrm>
            <a:off x="609600" y="1854200"/>
            <a:ext cx="7924800" cy="2895600"/>
          </a:xfrm>
          <a:prstGeom prst="rect">
            <a:avLst/>
          </a:prstGeom>
          <a:noFill/>
          <a:ln>
            <a:noFill/>
          </a:ln>
        </p:spPr>
      </p:pic>
      <p:sp>
        <p:nvSpPr>
          <p:cNvPr id="534" name="Google Shape;534;p40"/>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Gradient descent</a:t>
            </a:r>
            <a:endParaRPr b="1" sz="3000">
              <a:solidFill>
                <a:srgbClr val="0B2744"/>
              </a:solidFill>
            </a:endParaRPr>
          </a:p>
        </p:txBody>
      </p:sp>
      <p:sp>
        <p:nvSpPr>
          <p:cNvPr id="535" name="Google Shape;535;p40"/>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Computed toy curves, identical loss and starting weight</a:t>
            </a:r>
            <a:endParaRPr sz="820">
              <a:solidFill>
                <a:srgbClr val="738294"/>
              </a:solidFill>
            </a:endParaRPr>
          </a:p>
        </p:txBody>
      </p:sp>
      <p:sp>
        <p:nvSpPr>
          <p:cNvPr id="536" name="Google Shape;536;p40"/>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28</a:t>
            </a:r>
            <a:endParaRPr b="1" sz="900">
              <a:solidFill>
                <a:srgbClr val="738294"/>
              </a:solidFill>
            </a:endParaRPr>
          </a:p>
        </p:txBody>
      </p:sp>
      <p:sp>
        <p:nvSpPr>
          <p:cNvPr id="537" name="Google Shape;537;p40"/>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150" u="sng">
                <a:solidFill>
                  <a:srgbClr val="0B2744"/>
                </a:solidFill>
                <a:hlinkClick action="ppaction://hlinksldjump" r:id="rId4">
                  <a:extLst>
                    <a:ext uri="{A12FA001-AC4F-418D-AE19-62706E023703}">
                      <ahyp:hlinkClr val="tx"/>
                    </a:ext>
                  </a:extLst>
                </a:hlinkClick>
              </a:rPr>
              <a:t>Training overview</a:t>
            </a:r>
            <a:endParaRPr sz="1150" u="sng">
              <a:solidFill>
                <a:srgbClr val="0B2744"/>
              </a:solidFill>
            </a:endParaRPr>
          </a:p>
        </p:txBody>
      </p:sp>
      <p:sp>
        <p:nvSpPr>
          <p:cNvPr id="538" name="Google Shape;538;p40"/>
          <p:cNvSpPr txBox="1"/>
          <p:nvPr/>
        </p:nvSpPr>
        <p:spPr>
          <a:xfrm>
            <a:off x="609600" y="1460500"/>
            <a:ext cx="7924800" cy="368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latin typeface="Courier New"/>
                <a:ea typeface="Courier New"/>
                <a:cs typeface="Courier New"/>
                <a:sym typeface="Courier New"/>
              </a:rPr>
              <a:t>new weight = old weight − learning rate × gradient</a:t>
            </a:r>
            <a:endParaRPr sz="1800">
              <a:solidFill>
                <a:srgbClr val="0B2744"/>
              </a:solidFill>
              <a:latin typeface="Courier New"/>
              <a:ea typeface="Courier New"/>
              <a:cs typeface="Courier New"/>
              <a:sym typeface="Courier New"/>
            </a:endParaRPr>
          </a:p>
        </p:txBody>
      </p:sp>
      <p:sp>
        <p:nvSpPr>
          <p:cNvPr id="539" name="Google Shape;539;p40"/>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Forward prediction, backward chain-rule gradients, and a distinct gradient update in a two-weight toy chain" id="544" name="Google Shape;544;p41" title="Forward prediction, backward chain-rule gradients, and a distinct gradient update in a two-weight toy chain"/>
          <p:cNvPicPr preferRelativeResize="0"/>
          <p:nvPr/>
        </p:nvPicPr>
        <p:blipFill>
          <a:blip r:embed="rId3">
            <a:alphaModFix/>
          </a:blip>
          <a:stretch>
            <a:fillRect/>
          </a:stretch>
        </p:blipFill>
        <p:spPr>
          <a:xfrm>
            <a:off x="609600" y="1828800"/>
            <a:ext cx="7924800" cy="2971800"/>
          </a:xfrm>
          <a:prstGeom prst="rect">
            <a:avLst/>
          </a:prstGeom>
          <a:noFill/>
          <a:ln>
            <a:noFill/>
          </a:ln>
        </p:spPr>
      </p:pic>
      <p:sp>
        <p:nvSpPr>
          <p:cNvPr id="545" name="Google Shape;545;p41"/>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Backpropagation</a:t>
            </a:r>
            <a:endParaRPr b="1" sz="3000">
              <a:solidFill>
                <a:srgbClr val="0B2744"/>
              </a:solidFill>
            </a:endParaRPr>
          </a:p>
        </p:txBody>
      </p:sp>
      <p:sp>
        <p:nvSpPr>
          <p:cNvPr id="546" name="Google Shape;546;p41"/>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Toy chain without activations</a:t>
            </a:r>
            <a:endParaRPr sz="820">
              <a:solidFill>
                <a:srgbClr val="738294"/>
              </a:solidFill>
            </a:endParaRPr>
          </a:p>
        </p:txBody>
      </p:sp>
      <p:sp>
        <p:nvSpPr>
          <p:cNvPr id="547" name="Google Shape;547;p41"/>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29</a:t>
            </a:r>
            <a:endParaRPr b="1" sz="900">
              <a:solidFill>
                <a:srgbClr val="738294"/>
              </a:solidFill>
            </a:endParaRPr>
          </a:p>
        </p:txBody>
      </p:sp>
      <p:sp>
        <p:nvSpPr>
          <p:cNvPr id="548" name="Google Shape;548;p41"/>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150" u="sng">
                <a:solidFill>
                  <a:srgbClr val="0B2744"/>
                </a:solidFill>
                <a:hlinkClick action="ppaction://hlinksldjump" r:id="rId4">
                  <a:extLst>
                    <a:ext uri="{A12FA001-AC4F-418D-AE19-62706E023703}">
                      <ahyp:hlinkClr val="tx"/>
                    </a:ext>
                  </a:extLst>
                </a:hlinkClick>
              </a:rPr>
              <a:t>Training overview</a:t>
            </a:r>
            <a:endParaRPr sz="1150" u="sng">
              <a:solidFill>
                <a:srgbClr val="0B2744"/>
              </a:solidFill>
            </a:endParaRPr>
          </a:p>
        </p:txBody>
      </p:sp>
      <p:sp>
        <p:nvSpPr>
          <p:cNvPr id="549" name="Google Shape;549;p41"/>
          <p:cNvSpPr txBox="1"/>
          <p:nvPr/>
        </p:nvSpPr>
        <p:spPr>
          <a:xfrm>
            <a:off x="609600" y="1409700"/>
            <a:ext cx="7924800" cy="43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Backpropagation computes gradients. The optimizer updates weights.</a:t>
            </a:r>
            <a:endParaRPr sz="1800">
              <a:solidFill>
                <a:srgbClr val="0B2744"/>
              </a:solidFill>
            </a:endParaRPr>
          </a:p>
        </p:txBody>
      </p:sp>
      <p:sp>
        <p:nvSpPr>
          <p:cNvPr id="550" name="Google Shape;550;p41"/>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42"/>
          <p:cNvPicPr preferRelativeResize="0"/>
          <p:nvPr/>
        </p:nvPicPr>
        <p:blipFill>
          <a:blip r:embed="rId3">
            <a:alphaModFix/>
          </a:blip>
          <a:stretch>
            <a:fillRect/>
          </a:stretch>
        </p:blipFill>
        <p:spPr>
          <a:xfrm>
            <a:off x="622300" y="2260600"/>
            <a:ext cx="3708400" cy="2225040"/>
          </a:xfrm>
          <a:prstGeom prst="rect">
            <a:avLst/>
          </a:prstGeom>
          <a:noFill/>
          <a:ln>
            <a:noFill/>
          </a:ln>
        </p:spPr>
      </p:pic>
      <p:sp>
        <p:nvSpPr>
          <p:cNvPr id="556" name="Google Shape;556;p42"/>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Pre-training</a:t>
            </a:r>
            <a:endParaRPr b="1" sz="3000">
              <a:solidFill>
                <a:srgbClr val="0B2744"/>
              </a:solidFill>
            </a:endParaRPr>
          </a:p>
        </p:txBody>
      </p:sp>
      <p:sp>
        <p:nvSpPr>
          <p:cNvPr id="557" name="Google Shape;557;p42"/>
          <p:cNvSpPr txBox="1"/>
          <p:nvPr/>
        </p:nvSpPr>
        <p:spPr>
          <a:xfrm>
            <a:off x="4635500" y="1435100"/>
            <a:ext cx="3898800" cy="1016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Observed next token:</a:t>
            </a:r>
            <a:endParaRPr b="1" sz="2100">
              <a:solidFill>
                <a:srgbClr val="0B2744"/>
              </a:solidFill>
            </a:endParaRPr>
          </a:p>
          <a:p>
            <a:pPr indent="0" lvl="0" marL="0" rtl="0" algn="l">
              <a:lnSpc>
                <a:spcPct val="110000"/>
              </a:lnSpc>
              <a:spcBef>
                <a:spcPts val="0"/>
              </a:spcBef>
              <a:spcAft>
                <a:spcPts val="0"/>
              </a:spcAft>
              <a:buNone/>
            </a:pPr>
            <a:r>
              <a:rPr b="1" lang="en" sz="2100">
                <a:solidFill>
                  <a:srgbClr val="0B2744"/>
                </a:solidFill>
              </a:rPr>
              <a:t>rose</a:t>
            </a:r>
            <a:endParaRPr b="1" sz="2100">
              <a:solidFill>
                <a:srgbClr val="0B2744"/>
              </a:solidFill>
            </a:endParaRPr>
          </a:p>
        </p:txBody>
      </p:sp>
      <p:sp>
        <p:nvSpPr>
          <p:cNvPr id="558" name="Google Shape;558;p42"/>
          <p:cNvSpPr/>
          <p:nvPr/>
        </p:nvSpPr>
        <p:spPr>
          <a:xfrm>
            <a:off x="4635500" y="2400300"/>
            <a:ext cx="3898800" cy="13971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9" name="Google Shape;559;p42"/>
          <p:cNvSpPr txBox="1"/>
          <p:nvPr/>
        </p:nvSpPr>
        <p:spPr>
          <a:xfrm>
            <a:off x="4737100" y="2501900"/>
            <a:ext cx="3695700" cy="1206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latin typeface="Courier New"/>
                <a:ea typeface="Courier New"/>
                <a:cs typeface="Courier New"/>
                <a:sym typeface="Courier New"/>
              </a:rPr>
              <a:t>P(rose) = 0.10</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Loss = −ln(0.10)</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600">
                <a:solidFill>
                  <a:srgbClr val="0B2744"/>
                </a:solidFill>
                <a:latin typeface="Courier New"/>
                <a:ea typeface="Courier New"/>
                <a:cs typeface="Courier New"/>
                <a:sym typeface="Courier New"/>
              </a:rPr>
              <a:t>     = 2.30</a:t>
            </a:r>
            <a:endParaRPr sz="1600">
              <a:solidFill>
                <a:srgbClr val="0B2744"/>
              </a:solidFill>
              <a:latin typeface="Courier New"/>
              <a:ea typeface="Courier New"/>
              <a:cs typeface="Courier New"/>
              <a:sym typeface="Courier New"/>
            </a:endParaRPr>
          </a:p>
        </p:txBody>
      </p:sp>
      <p:sp>
        <p:nvSpPr>
          <p:cNvPr id="560" name="Google Shape;560;p42"/>
          <p:cNvSpPr txBox="1"/>
          <p:nvPr/>
        </p:nvSpPr>
        <p:spPr>
          <a:xfrm>
            <a:off x="4635500" y="4038600"/>
            <a:ext cx="3898800" cy="78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If P(rose) rises to 0.60,</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loss falls to 0.51.</a:t>
            </a:r>
            <a:endParaRPr sz="1800">
              <a:solidFill>
                <a:srgbClr val="0B2744"/>
              </a:solidFill>
            </a:endParaRPr>
          </a:p>
        </p:txBody>
      </p:sp>
      <p:sp>
        <p:nvSpPr>
          <p:cNvPr id="561" name="Google Shape;561;p42"/>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Illustrative probabilities, not a captured model response</a:t>
            </a:r>
            <a:endParaRPr sz="820">
              <a:solidFill>
                <a:srgbClr val="738294"/>
              </a:solidFill>
            </a:endParaRPr>
          </a:p>
        </p:txBody>
      </p:sp>
      <p:sp>
        <p:nvSpPr>
          <p:cNvPr id="562" name="Google Shape;562;p42"/>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30</a:t>
            </a:r>
            <a:endParaRPr b="1" sz="900">
              <a:solidFill>
                <a:srgbClr val="738294"/>
              </a:solidFill>
            </a:endParaRPr>
          </a:p>
        </p:txBody>
      </p:sp>
      <p:sp>
        <p:nvSpPr>
          <p:cNvPr id="563" name="Google Shape;563;p42"/>
          <p:cNvSpPr txBox="1"/>
          <p:nvPr/>
        </p:nvSpPr>
        <p:spPr>
          <a:xfrm>
            <a:off x="609600" y="1371600"/>
            <a:ext cx="3708300" cy="787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Margins declined</a:t>
            </a:r>
            <a:endParaRPr b="1" sz="2000">
              <a:solidFill>
                <a:srgbClr val="0B2744"/>
              </a:solidFill>
            </a:endParaRPr>
          </a:p>
          <a:p>
            <a:pPr indent="0" lvl="0" marL="0" rtl="0" algn="l">
              <a:lnSpc>
                <a:spcPct val="110000"/>
              </a:lnSpc>
              <a:spcBef>
                <a:spcPts val="0"/>
              </a:spcBef>
              <a:spcAft>
                <a:spcPts val="0"/>
              </a:spcAft>
              <a:buNone/>
            </a:pPr>
            <a:r>
              <a:rPr b="1" lang="en" sz="2000">
                <a:solidFill>
                  <a:srgbClr val="0B2744"/>
                </a:solidFill>
              </a:rPr>
              <a:t>because costs ____</a:t>
            </a:r>
            <a:endParaRPr b="1" sz="2000">
              <a:solidFill>
                <a:srgbClr val="0B2744"/>
              </a:solidFill>
            </a:endParaRPr>
          </a:p>
        </p:txBody>
      </p:sp>
      <p:sp>
        <p:nvSpPr>
          <p:cNvPr id="564" name="Google Shape;564;p42"/>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descr="Stadiums of books, newspapers, images and film enter a conceptual compression mechanism, producing patterns stored in one suitcase" id="569" name="Google Shape;569;p43" title="Stadiums of books, newspapers, images and film enter a conceptual compression mechanism, producing patterns stored in one suitcase"/>
          <p:cNvPicPr preferRelativeResize="0"/>
          <p:nvPr/>
        </p:nvPicPr>
        <p:blipFill>
          <a:blip r:embed="rId3">
            <a:alphaModFix/>
          </a:blip>
          <a:stretch>
            <a:fillRect/>
          </a:stretch>
        </p:blipFill>
        <p:spPr>
          <a:xfrm>
            <a:off x="609600" y="1778000"/>
            <a:ext cx="7924803" cy="2641601"/>
          </a:xfrm>
          <a:prstGeom prst="rect">
            <a:avLst/>
          </a:prstGeom>
          <a:noFill/>
          <a:ln>
            <a:noFill/>
          </a:ln>
        </p:spPr>
      </p:pic>
      <p:sp>
        <p:nvSpPr>
          <p:cNvPr id="570" name="Google Shape;570;p43"/>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Stadiums of information in a suitcase</a:t>
            </a:r>
            <a:endParaRPr b="1" sz="3000">
              <a:solidFill>
                <a:srgbClr val="0B2744"/>
              </a:solidFill>
            </a:endParaRPr>
          </a:p>
        </p:txBody>
      </p:sp>
      <p:sp>
        <p:nvSpPr>
          <p:cNvPr id="571" name="Google Shape;571;p43"/>
          <p:cNvSpPr txBox="1"/>
          <p:nvPr/>
        </p:nvSpPr>
        <p:spPr>
          <a:xfrm>
            <a:off x="609600" y="4457700"/>
            <a:ext cx="7924800" cy="43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Pre-training builds a world model from learned knowledge and patterns.</a:t>
            </a:r>
            <a:endParaRPr sz="1700">
              <a:solidFill>
                <a:srgbClr val="0B2744"/>
              </a:solidFill>
            </a:endParaRPr>
          </a:p>
        </p:txBody>
      </p:sp>
      <p:sp>
        <p:nvSpPr>
          <p:cNvPr id="572" name="Google Shape;572;p43"/>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Instructor analogy, generated conceptual illustration</a:t>
            </a:r>
            <a:endParaRPr sz="820">
              <a:solidFill>
                <a:srgbClr val="738294"/>
              </a:solidFill>
            </a:endParaRPr>
          </a:p>
        </p:txBody>
      </p:sp>
      <p:sp>
        <p:nvSpPr>
          <p:cNvPr id="573" name="Google Shape;573;p43"/>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31</a:t>
            </a:r>
            <a:endParaRPr b="1" sz="900">
              <a:solidFill>
                <a:srgbClr val="738294"/>
              </a:solidFill>
            </a:endParaRPr>
          </a:p>
        </p:txBody>
      </p:sp>
      <p:sp>
        <p:nvSpPr>
          <p:cNvPr id="574" name="Google Shape;574;p43"/>
          <p:cNvSpPr txBox="1"/>
          <p:nvPr/>
        </p:nvSpPr>
        <p:spPr>
          <a:xfrm>
            <a:off x="609600" y="1397000"/>
            <a:ext cx="27939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Training corpus</a:t>
            </a:r>
            <a:endParaRPr b="1" sz="2000">
              <a:solidFill>
                <a:srgbClr val="0B2744"/>
              </a:solidFill>
            </a:endParaRPr>
          </a:p>
        </p:txBody>
      </p:sp>
      <p:sp>
        <p:nvSpPr>
          <p:cNvPr id="575" name="Google Shape;575;p43"/>
          <p:cNvSpPr txBox="1"/>
          <p:nvPr/>
        </p:nvSpPr>
        <p:spPr>
          <a:xfrm>
            <a:off x="3733800" y="1397000"/>
            <a:ext cx="26415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Repeated updates</a:t>
            </a:r>
            <a:endParaRPr b="1" sz="2000">
              <a:solidFill>
                <a:srgbClr val="0B2744"/>
              </a:solidFill>
            </a:endParaRPr>
          </a:p>
        </p:txBody>
      </p:sp>
      <p:sp>
        <p:nvSpPr>
          <p:cNvPr id="576" name="Google Shape;576;p43"/>
          <p:cNvSpPr txBox="1"/>
          <p:nvPr/>
        </p:nvSpPr>
        <p:spPr>
          <a:xfrm>
            <a:off x="6553200" y="1397000"/>
            <a:ext cx="19812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Learned weights</a:t>
            </a:r>
            <a:endParaRPr b="1" sz="2000">
              <a:solidFill>
                <a:srgbClr val="0B2744"/>
              </a:solidFill>
            </a:endParaRPr>
          </a:p>
        </p:txBody>
      </p:sp>
      <p:sp>
        <p:nvSpPr>
          <p:cNvPr id="577" name="Google Shape;577;p43"/>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descr="Schematic nesting of a GPU accelerator, server, rack, and data-center cluster, with networking and cooling" id="582" name="Google Shape;582;p44" title="Schematic nesting of a GPU accelerator, server, rack, and data-center cluster, with networking and cooling"/>
          <p:cNvPicPr preferRelativeResize="0"/>
          <p:nvPr/>
        </p:nvPicPr>
        <p:blipFill>
          <a:blip r:embed="rId3">
            <a:alphaModFix/>
          </a:blip>
          <a:stretch>
            <a:fillRect/>
          </a:stretch>
        </p:blipFill>
        <p:spPr>
          <a:xfrm>
            <a:off x="609600" y="1765300"/>
            <a:ext cx="7924803" cy="2641601"/>
          </a:xfrm>
          <a:prstGeom prst="rect">
            <a:avLst/>
          </a:prstGeom>
          <a:noFill/>
          <a:ln>
            <a:noFill/>
          </a:ln>
        </p:spPr>
      </p:pic>
      <p:sp>
        <p:nvSpPr>
          <p:cNvPr id="583" name="Google Shape;583;p44"/>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The physical scale of pre-training</a:t>
            </a:r>
            <a:endParaRPr b="1" sz="3000">
              <a:solidFill>
                <a:srgbClr val="0B2744"/>
              </a:solidFill>
            </a:endParaRPr>
          </a:p>
        </p:txBody>
      </p:sp>
      <p:sp>
        <p:nvSpPr>
          <p:cNvPr id="584" name="Google Shape;584;p44"/>
          <p:cNvSpPr txBox="1"/>
          <p:nvPr/>
        </p:nvSpPr>
        <p:spPr>
          <a:xfrm>
            <a:off x="609600" y="4457700"/>
            <a:ext cx="7924800" cy="431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15T+ training tokens and 16,000+ H100 GPUs</a:t>
            </a:r>
            <a:endParaRPr b="1" sz="2000">
              <a:solidFill>
                <a:srgbClr val="0B2744"/>
              </a:solidFill>
            </a:endParaRPr>
          </a:p>
        </p:txBody>
      </p:sp>
      <p:sp>
        <p:nvSpPr>
          <p:cNvPr id="585" name="Google Shape;585;p44"/>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Meta, Llama 3.1 training description, July 2024</a:t>
            </a:r>
            <a:endParaRPr sz="820">
              <a:solidFill>
                <a:srgbClr val="738294"/>
              </a:solidFill>
            </a:endParaRPr>
          </a:p>
        </p:txBody>
      </p:sp>
      <p:sp>
        <p:nvSpPr>
          <p:cNvPr id="586" name="Google Shape;586;p44"/>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32</a:t>
            </a:r>
            <a:endParaRPr b="1" sz="900">
              <a:solidFill>
                <a:srgbClr val="738294"/>
              </a:solidFill>
            </a:endParaRPr>
          </a:p>
        </p:txBody>
      </p:sp>
      <p:sp>
        <p:nvSpPr>
          <p:cNvPr id="587" name="Google Shape;587;p44"/>
          <p:cNvSpPr txBox="1"/>
          <p:nvPr/>
        </p:nvSpPr>
        <p:spPr>
          <a:xfrm>
            <a:off x="609600" y="1371600"/>
            <a:ext cx="79248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Historical example: Llama 3.1 405B (2024)</a:t>
            </a:r>
            <a:endParaRPr b="1" sz="1900">
              <a:solidFill>
                <a:srgbClr val="0B2744"/>
              </a:solidFill>
            </a:endParaRPr>
          </a:p>
        </p:txBody>
      </p:sp>
      <p:sp>
        <p:nvSpPr>
          <p:cNvPr id="588" name="Google Shape;588;p44"/>
          <p:cNvSpPr txBox="1"/>
          <p:nvPr/>
        </p:nvSpPr>
        <p:spPr>
          <a:xfrm>
            <a:off x="609600" y="4064000"/>
            <a:ext cx="12192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GPU</a:t>
            </a:r>
            <a:endParaRPr b="1" sz="1700">
              <a:solidFill>
                <a:srgbClr val="0B2744"/>
              </a:solidFill>
            </a:endParaRPr>
          </a:p>
        </p:txBody>
      </p:sp>
      <p:sp>
        <p:nvSpPr>
          <p:cNvPr id="589" name="Google Shape;589;p44"/>
          <p:cNvSpPr txBox="1"/>
          <p:nvPr/>
        </p:nvSpPr>
        <p:spPr>
          <a:xfrm>
            <a:off x="2082800" y="4064000"/>
            <a:ext cx="16509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Server</a:t>
            </a:r>
            <a:endParaRPr b="1" sz="1700">
              <a:solidFill>
                <a:srgbClr val="0B2744"/>
              </a:solidFill>
            </a:endParaRPr>
          </a:p>
        </p:txBody>
      </p:sp>
      <p:sp>
        <p:nvSpPr>
          <p:cNvPr id="590" name="Google Shape;590;p44"/>
          <p:cNvSpPr txBox="1"/>
          <p:nvPr/>
        </p:nvSpPr>
        <p:spPr>
          <a:xfrm>
            <a:off x="4000500" y="4064000"/>
            <a:ext cx="16128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Rack</a:t>
            </a:r>
            <a:endParaRPr b="1" sz="1700">
              <a:solidFill>
                <a:srgbClr val="0B2744"/>
              </a:solidFill>
            </a:endParaRPr>
          </a:p>
        </p:txBody>
      </p:sp>
      <p:sp>
        <p:nvSpPr>
          <p:cNvPr id="591" name="Google Shape;591;p44"/>
          <p:cNvSpPr txBox="1"/>
          <p:nvPr/>
        </p:nvSpPr>
        <p:spPr>
          <a:xfrm>
            <a:off x="6096000" y="4064000"/>
            <a:ext cx="2438400" cy="355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00">
                <a:solidFill>
                  <a:srgbClr val="0B2744"/>
                </a:solidFill>
              </a:rPr>
              <a:t>Cluster</a:t>
            </a:r>
            <a:endParaRPr b="1" sz="1700">
              <a:solidFill>
                <a:srgbClr val="0B2744"/>
              </a:solidFill>
            </a:endParaRPr>
          </a:p>
        </p:txBody>
      </p:sp>
      <p:sp>
        <p:nvSpPr>
          <p:cNvPr id="592" name="Google Shape;592;p44"/>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5"/>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Post-training</a:t>
            </a:r>
            <a:endParaRPr b="1" sz="3000">
              <a:solidFill>
                <a:srgbClr val="0B2744"/>
              </a:solidFill>
            </a:endParaRPr>
          </a:p>
        </p:txBody>
      </p:sp>
      <p:sp>
        <p:nvSpPr>
          <p:cNvPr id="598" name="Google Shape;598;p45"/>
          <p:cNvSpPr/>
          <p:nvPr/>
        </p:nvSpPr>
        <p:spPr>
          <a:xfrm>
            <a:off x="609600" y="1409700"/>
            <a:ext cx="7924800" cy="92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45"/>
          <p:cNvSpPr txBox="1"/>
          <p:nvPr/>
        </p:nvSpPr>
        <p:spPr>
          <a:xfrm>
            <a:off x="749300" y="1549400"/>
            <a:ext cx="1727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SFT</a:t>
            </a:r>
            <a:endParaRPr b="1" sz="2000">
              <a:solidFill>
                <a:srgbClr val="0B2744"/>
              </a:solidFill>
            </a:endParaRPr>
          </a:p>
        </p:txBody>
      </p:sp>
      <p:sp>
        <p:nvSpPr>
          <p:cNvPr id="600" name="Google Shape;600;p45"/>
          <p:cNvSpPr txBox="1"/>
          <p:nvPr/>
        </p:nvSpPr>
        <p:spPr>
          <a:xfrm>
            <a:off x="2692400" y="1511300"/>
            <a:ext cx="26544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Supervised fine-tuning</a:t>
            </a:r>
            <a:endParaRPr b="1" sz="1800">
              <a:solidFill>
                <a:srgbClr val="0B2744"/>
              </a:solidFill>
            </a:endParaRPr>
          </a:p>
        </p:txBody>
      </p:sp>
      <p:sp>
        <p:nvSpPr>
          <p:cNvPr id="601" name="Google Shape;601;p45"/>
          <p:cNvSpPr txBox="1"/>
          <p:nvPr/>
        </p:nvSpPr>
        <p:spPr>
          <a:xfrm>
            <a:off x="5524500" y="1511300"/>
            <a:ext cx="28449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Useful responses and example tool calls.</a:t>
            </a:r>
            <a:endParaRPr sz="1700">
              <a:solidFill>
                <a:srgbClr val="0B2744"/>
              </a:solidFill>
            </a:endParaRPr>
          </a:p>
        </p:txBody>
      </p:sp>
      <p:sp>
        <p:nvSpPr>
          <p:cNvPr id="602" name="Google Shape;602;p45"/>
          <p:cNvSpPr/>
          <p:nvPr/>
        </p:nvSpPr>
        <p:spPr>
          <a:xfrm>
            <a:off x="609600" y="2463800"/>
            <a:ext cx="7924800" cy="927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3" name="Google Shape;603;p45"/>
          <p:cNvSpPr txBox="1"/>
          <p:nvPr/>
        </p:nvSpPr>
        <p:spPr>
          <a:xfrm>
            <a:off x="749300" y="2603500"/>
            <a:ext cx="1727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Preferences</a:t>
            </a:r>
            <a:endParaRPr b="1" sz="2000">
              <a:solidFill>
                <a:srgbClr val="0B2744"/>
              </a:solidFill>
            </a:endParaRPr>
          </a:p>
        </p:txBody>
      </p:sp>
      <p:sp>
        <p:nvSpPr>
          <p:cNvPr id="604" name="Google Shape;604;p45"/>
          <p:cNvSpPr txBox="1"/>
          <p:nvPr/>
        </p:nvSpPr>
        <p:spPr>
          <a:xfrm>
            <a:off x="2692400" y="2565400"/>
            <a:ext cx="26544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Preference optimization</a:t>
            </a:r>
            <a:endParaRPr b="1" sz="1800">
              <a:solidFill>
                <a:srgbClr val="0B2744"/>
              </a:solidFill>
            </a:endParaRPr>
          </a:p>
        </p:txBody>
      </p:sp>
      <p:sp>
        <p:nvSpPr>
          <p:cNvPr id="605" name="Google Shape;605;p45"/>
          <p:cNvSpPr txBox="1"/>
          <p:nvPr/>
        </p:nvSpPr>
        <p:spPr>
          <a:xfrm>
            <a:off x="5524500" y="2565400"/>
            <a:ext cx="2844900" cy="850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Judgments about which response is better.</a:t>
            </a:r>
            <a:endParaRPr sz="1700">
              <a:solidFill>
                <a:srgbClr val="0B2744"/>
              </a:solidFill>
            </a:endParaRPr>
          </a:p>
        </p:txBody>
      </p:sp>
      <p:sp>
        <p:nvSpPr>
          <p:cNvPr id="606" name="Google Shape;606;p45"/>
          <p:cNvSpPr/>
          <p:nvPr/>
        </p:nvSpPr>
        <p:spPr>
          <a:xfrm>
            <a:off x="609600" y="3517900"/>
            <a:ext cx="7924800" cy="9270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45"/>
          <p:cNvSpPr txBox="1"/>
          <p:nvPr/>
        </p:nvSpPr>
        <p:spPr>
          <a:xfrm>
            <a:off x="749300" y="3657600"/>
            <a:ext cx="1727100" cy="571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RL</a:t>
            </a:r>
            <a:endParaRPr b="1" sz="2000">
              <a:solidFill>
                <a:srgbClr val="0B2744"/>
              </a:solidFill>
            </a:endParaRPr>
          </a:p>
        </p:txBody>
      </p:sp>
      <p:sp>
        <p:nvSpPr>
          <p:cNvPr id="608" name="Google Shape;608;p45"/>
          <p:cNvSpPr txBox="1"/>
          <p:nvPr/>
        </p:nvSpPr>
        <p:spPr>
          <a:xfrm>
            <a:off x="2692400" y="3619500"/>
            <a:ext cx="2654400" cy="723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Reinforcement learning</a:t>
            </a:r>
            <a:endParaRPr b="1" sz="1800">
              <a:solidFill>
                <a:srgbClr val="0B2744"/>
              </a:solidFill>
            </a:endParaRPr>
          </a:p>
        </p:txBody>
      </p:sp>
      <p:sp>
        <p:nvSpPr>
          <p:cNvPr id="609" name="Google Shape;609;p45"/>
          <p:cNvSpPr txBox="1"/>
          <p:nvPr/>
        </p:nvSpPr>
        <p:spPr>
          <a:xfrm>
            <a:off x="5524500" y="3619500"/>
            <a:ext cx="2844900" cy="749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Scored attempts with checks or feedback.</a:t>
            </a:r>
            <a:endParaRPr sz="1700">
              <a:solidFill>
                <a:srgbClr val="0B2744"/>
              </a:solidFill>
            </a:endParaRPr>
          </a:p>
        </p:txBody>
      </p:sp>
      <p:sp>
        <p:nvSpPr>
          <p:cNvPr id="610" name="Google Shape;610;p45"/>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Examples of post-training signals</a:t>
            </a:r>
            <a:endParaRPr sz="820">
              <a:solidFill>
                <a:srgbClr val="738294"/>
              </a:solidFill>
            </a:endParaRPr>
          </a:p>
        </p:txBody>
      </p:sp>
      <p:sp>
        <p:nvSpPr>
          <p:cNvPr id="611" name="Google Shape;611;p45"/>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33</a:t>
            </a:r>
            <a:endParaRPr b="1" sz="900">
              <a:solidFill>
                <a:srgbClr val="738294"/>
              </a:solidFill>
            </a:endParaRPr>
          </a:p>
        </p:txBody>
      </p:sp>
      <p:sp>
        <p:nvSpPr>
          <p:cNvPr id="612" name="Google Shape;612;p45"/>
          <p:cNvSpPr txBox="1"/>
          <p:nvPr/>
        </p:nvSpPr>
        <p:spPr>
          <a:xfrm>
            <a:off x="609600" y="4559300"/>
            <a:ext cx="79248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Labs can combine and repeat these methods.</a:t>
            </a:r>
            <a:endParaRPr sz="1700">
              <a:solidFill>
                <a:srgbClr val="0B2744"/>
              </a:solidFill>
            </a:endParaRPr>
          </a:p>
        </p:txBody>
      </p:sp>
      <p:sp>
        <p:nvSpPr>
          <p:cNvPr id="613" name="Google Shape;613;p45"/>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6"/>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The reinforcement-learning setup</a:t>
            </a:r>
            <a:endParaRPr b="1" sz="3000">
              <a:solidFill>
                <a:srgbClr val="0B2744"/>
              </a:solidFill>
            </a:endParaRPr>
          </a:p>
        </p:txBody>
      </p:sp>
      <p:sp>
        <p:nvSpPr>
          <p:cNvPr id="619" name="Google Shape;619;p46"/>
          <p:cNvSpPr/>
          <p:nvPr/>
        </p:nvSpPr>
        <p:spPr>
          <a:xfrm>
            <a:off x="609600" y="1409700"/>
            <a:ext cx="7924800" cy="4953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0" name="Google Shape;620;p46"/>
          <p:cNvSpPr txBox="1"/>
          <p:nvPr/>
        </p:nvSpPr>
        <p:spPr>
          <a:xfrm>
            <a:off x="749300" y="1435100"/>
            <a:ext cx="1727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50">
                <a:solidFill>
                  <a:srgbClr val="0B2744"/>
                </a:solidFill>
              </a:rPr>
              <a:t>State</a:t>
            </a:r>
            <a:endParaRPr b="1" sz="1750">
              <a:solidFill>
                <a:srgbClr val="0B2744"/>
              </a:solidFill>
            </a:endParaRPr>
          </a:p>
        </p:txBody>
      </p:sp>
      <p:sp>
        <p:nvSpPr>
          <p:cNvPr id="621" name="Google Shape;621;p46"/>
          <p:cNvSpPr txBox="1"/>
          <p:nvPr/>
        </p:nvSpPr>
        <p:spPr>
          <a:xfrm>
            <a:off x="2565400" y="1435100"/>
            <a:ext cx="251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What exists</a:t>
            </a:r>
            <a:endParaRPr sz="1600">
              <a:solidFill>
                <a:srgbClr val="0B2744"/>
              </a:solidFill>
            </a:endParaRPr>
          </a:p>
        </p:txBody>
      </p:sp>
      <p:sp>
        <p:nvSpPr>
          <p:cNvPr id="622" name="Google Shape;622;p46"/>
          <p:cNvSpPr txBox="1"/>
          <p:nvPr/>
        </p:nvSpPr>
        <p:spPr>
          <a:xfrm>
            <a:off x="5257800" y="1435100"/>
            <a:ext cx="31242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Repository and settings.</a:t>
            </a:r>
            <a:endParaRPr sz="1600">
              <a:solidFill>
                <a:srgbClr val="0B2744"/>
              </a:solidFill>
            </a:endParaRPr>
          </a:p>
        </p:txBody>
      </p:sp>
      <p:sp>
        <p:nvSpPr>
          <p:cNvPr id="623" name="Google Shape;623;p46"/>
          <p:cNvSpPr/>
          <p:nvPr/>
        </p:nvSpPr>
        <p:spPr>
          <a:xfrm>
            <a:off x="609600" y="1930400"/>
            <a:ext cx="7924800" cy="495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4" name="Google Shape;624;p46"/>
          <p:cNvSpPr txBox="1"/>
          <p:nvPr/>
        </p:nvSpPr>
        <p:spPr>
          <a:xfrm>
            <a:off x="749300" y="1955800"/>
            <a:ext cx="1727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50">
                <a:solidFill>
                  <a:srgbClr val="0B2744"/>
                </a:solidFill>
              </a:rPr>
              <a:t>Observation</a:t>
            </a:r>
            <a:endParaRPr b="1" sz="1750">
              <a:solidFill>
                <a:srgbClr val="0B2744"/>
              </a:solidFill>
            </a:endParaRPr>
          </a:p>
        </p:txBody>
      </p:sp>
      <p:sp>
        <p:nvSpPr>
          <p:cNvPr id="625" name="Google Shape;625;p46"/>
          <p:cNvSpPr txBox="1"/>
          <p:nvPr/>
        </p:nvSpPr>
        <p:spPr>
          <a:xfrm>
            <a:off x="2565400" y="1955800"/>
            <a:ext cx="251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What the model sees</a:t>
            </a:r>
            <a:endParaRPr sz="1600">
              <a:solidFill>
                <a:srgbClr val="0B2744"/>
              </a:solidFill>
            </a:endParaRPr>
          </a:p>
        </p:txBody>
      </p:sp>
      <p:sp>
        <p:nvSpPr>
          <p:cNvPr id="626" name="Google Shape;626;p46"/>
          <p:cNvSpPr txBox="1"/>
          <p:nvPr/>
        </p:nvSpPr>
        <p:spPr>
          <a:xfrm>
            <a:off x="5257800" y="1955800"/>
            <a:ext cx="31242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Files and test output.</a:t>
            </a:r>
            <a:endParaRPr sz="1600">
              <a:solidFill>
                <a:srgbClr val="0B2744"/>
              </a:solidFill>
            </a:endParaRPr>
          </a:p>
        </p:txBody>
      </p:sp>
      <p:sp>
        <p:nvSpPr>
          <p:cNvPr id="627" name="Google Shape;627;p46"/>
          <p:cNvSpPr/>
          <p:nvPr/>
        </p:nvSpPr>
        <p:spPr>
          <a:xfrm>
            <a:off x="609600" y="2451100"/>
            <a:ext cx="7924800" cy="4953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46"/>
          <p:cNvSpPr txBox="1"/>
          <p:nvPr/>
        </p:nvSpPr>
        <p:spPr>
          <a:xfrm>
            <a:off x="749300" y="2476500"/>
            <a:ext cx="1727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50">
                <a:solidFill>
                  <a:srgbClr val="0B2744"/>
                </a:solidFill>
              </a:rPr>
              <a:t>Action</a:t>
            </a:r>
            <a:endParaRPr b="1" sz="1750">
              <a:solidFill>
                <a:srgbClr val="0B2744"/>
              </a:solidFill>
            </a:endParaRPr>
          </a:p>
        </p:txBody>
      </p:sp>
      <p:sp>
        <p:nvSpPr>
          <p:cNvPr id="629" name="Google Shape;629;p46"/>
          <p:cNvSpPr txBox="1"/>
          <p:nvPr/>
        </p:nvSpPr>
        <p:spPr>
          <a:xfrm>
            <a:off x="2565400" y="2476500"/>
            <a:ext cx="251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What the agent does</a:t>
            </a:r>
            <a:endParaRPr sz="1600">
              <a:solidFill>
                <a:srgbClr val="0B2744"/>
              </a:solidFill>
            </a:endParaRPr>
          </a:p>
        </p:txBody>
      </p:sp>
      <p:sp>
        <p:nvSpPr>
          <p:cNvPr id="630" name="Google Shape;630;p46"/>
          <p:cNvSpPr txBox="1"/>
          <p:nvPr/>
        </p:nvSpPr>
        <p:spPr>
          <a:xfrm>
            <a:off x="5257800" y="2476500"/>
            <a:ext cx="31242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Read, edit, or run a command.</a:t>
            </a:r>
            <a:endParaRPr sz="1600">
              <a:solidFill>
                <a:srgbClr val="0B2744"/>
              </a:solidFill>
            </a:endParaRPr>
          </a:p>
        </p:txBody>
      </p:sp>
      <p:sp>
        <p:nvSpPr>
          <p:cNvPr id="631" name="Google Shape;631;p46"/>
          <p:cNvSpPr/>
          <p:nvPr/>
        </p:nvSpPr>
        <p:spPr>
          <a:xfrm>
            <a:off x="609600" y="2971800"/>
            <a:ext cx="7924800" cy="495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46"/>
          <p:cNvSpPr txBox="1"/>
          <p:nvPr/>
        </p:nvSpPr>
        <p:spPr>
          <a:xfrm>
            <a:off x="749300" y="2997200"/>
            <a:ext cx="1727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50">
                <a:solidFill>
                  <a:srgbClr val="0B2744"/>
                </a:solidFill>
              </a:rPr>
              <a:t>Policy</a:t>
            </a:r>
            <a:endParaRPr b="1" sz="1750">
              <a:solidFill>
                <a:srgbClr val="0B2744"/>
              </a:solidFill>
            </a:endParaRPr>
          </a:p>
        </p:txBody>
      </p:sp>
      <p:sp>
        <p:nvSpPr>
          <p:cNvPr id="633" name="Google Shape;633;p46"/>
          <p:cNvSpPr txBox="1"/>
          <p:nvPr/>
        </p:nvSpPr>
        <p:spPr>
          <a:xfrm>
            <a:off x="2565400" y="2997200"/>
            <a:ext cx="251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How actions are chosen</a:t>
            </a:r>
            <a:endParaRPr sz="1600">
              <a:solidFill>
                <a:srgbClr val="0B2744"/>
              </a:solidFill>
            </a:endParaRPr>
          </a:p>
        </p:txBody>
      </p:sp>
      <p:sp>
        <p:nvSpPr>
          <p:cNvPr id="634" name="Google Shape;634;p46"/>
          <p:cNvSpPr txBox="1"/>
          <p:nvPr/>
        </p:nvSpPr>
        <p:spPr>
          <a:xfrm>
            <a:off x="5257800" y="2997200"/>
            <a:ext cx="31242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Probabilities for next actions.</a:t>
            </a:r>
            <a:endParaRPr sz="1600">
              <a:solidFill>
                <a:srgbClr val="0B2744"/>
              </a:solidFill>
            </a:endParaRPr>
          </a:p>
        </p:txBody>
      </p:sp>
      <p:sp>
        <p:nvSpPr>
          <p:cNvPr id="635" name="Google Shape;635;p46"/>
          <p:cNvSpPr/>
          <p:nvPr/>
        </p:nvSpPr>
        <p:spPr>
          <a:xfrm>
            <a:off x="609600" y="3492500"/>
            <a:ext cx="7924800" cy="4953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46"/>
          <p:cNvSpPr txBox="1"/>
          <p:nvPr/>
        </p:nvSpPr>
        <p:spPr>
          <a:xfrm>
            <a:off x="749300" y="3517900"/>
            <a:ext cx="1727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50">
                <a:solidFill>
                  <a:srgbClr val="0B2744"/>
                </a:solidFill>
              </a:rPr>
              <a:t>Reward</a:t>
            </a:r>
            <a:endParaRPr b="1" sz="1750">
              <a:solidFill>
                <a:srgbClr val="0B2744"/>
              </a:solidFill>
            </a:endParaRPr>
          </a:p>
        </p:txBody>
      </p:sp>
      <p:sp>
        <p:nvSpPr>
          <p:cNvPr id="637" name="Google Shape;637;p46"/>
          <p:cNvSpPr txBox="1"/>
          <p:nvPr/>
        </p:nvSpPr>
        <p:spPr>
          <a:xfrm>
            <a:off x="2565400" y="3517900"/>
            <a:ext cx="251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A training signal</a:t>
            </a:r>
            <a:endParaRPr sz="1600">
              <a:solidFill>
                <a:srgbClr val="0B2744"/>
              </a:solidFill>
            </a:endParaRPr>
          </a:p>
        </p:txBody>
      </p:sp>
      <p:sp>
        <p:nvSpPr>
          <p:cNvPr id="638" name="Google Shape;638;p46"/>
          <p:cNvSpPr txBox="1"/>
          <p:nvPr/>
        </p:nvSpPr>
        <p:spPr>
          <a:xfrm>
            <a:off x="5257800" y="3517900"/>
            <a:ext cx="31242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Score from the task checks.</a:t>
            </a:r>
            <a:endParaRPr sz="1600">
              <a:solidFill>
                <a:srgbClr val="0B2744"/>
              </a:solidFill>
            </a:endParaRPr>
          </a:p>
        </p:txBody>
      </p:sp>
      <p:sp>
        <p:nvSpPr>
          <p:cNvPr id="639" name="Google Shape;639;p46"/>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Synthetic coding task: repair a CSV parser</a:t>
            </a:r>
            <a:endParaRPr sz="820">
              <a:solidFill>
                <a:srgbClr val="738294"/>
              </a:solidFill>
            </a:endParaRPr>
          </a:p>
        </p:txBody>
      </p:sp>
      <p:sp>
        <p:nvSpPr>
          <p:cNvPr id="640" name="Google Shape;640;p46"/>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34</a:t>
            </a:r>
            <a:endParaRPr b="1" sz="900">
              <a:solidFill>
                <a:srgbClr val="738294"/>
              </a:solidFill>
            </a:endParaRPr>
          </a:p>
        </p:txBody>
      </p:sp>
      <p:sp>
        <p:nvSpPr>
          <p:cNvPr id="641" name="Google Shape;641;p46"/>
          <p:cNvSpPr/>
          <p:nvPr/>
        </p:nvSpPr>
        <p:spPr>
          <a:xfrm>
            <a:off x="609600" y="4013200"/>
            <a:ext cx="7924800" cy="4953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46"/>
          <p:cNvSpPr txBox="1"/>
          <p:nvPr/>
        </p:nvSpPr>
        <p:spPr>
          <a:xfrm>
            <a:off x="749300" y="4038600"/>
            <a:ext cx="17271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750">
                <a:solidFill>
                  <a:srgbClr val="0B2744"/>
                </a:solidFill>
              </a:rPr>
              <a:t>Episode</a:t>
            </a:r>
            <a:endParaRPr b="1" sz="1750">
              <a:solidFill>
                <a:srgbClr val="0B2744"/>
              </a:solidFill>
            </a:endParaRPr>
          </a:p>
        </p:txBody>
      </p:sp>
      <p:sp>
        <p:nvSpPr>
          <p:cNvPr id="643" name="Google Shape;643;p46"/>
          <p:cNvSpPr txBox="1"/>
          <p:nvPr/>
        </p:nvSpPr>
        <p:spPr>
          <a:xfrm>
            <a:off x="2565400" y="4038600"/>
            <a:ext cx="25146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One complete attempt</a:t>
            </a:r>
            <a:endParaRPr sz="1600">
              <a:solidFill>
                <a:srgbClr val="0B2744"/>
              </a:solidFill>
            </a:endParaRPr>
          </a:p>
        </p:txBody>
      </p:sp>
      <p:sp>
        <p:nvSpPr>
          <p:cNvPr id="644" name="Google Shape;644;p46"/>
          <p:cNvSpPr txBox="1"/>
          <p:nvPr/>
        </p:nvSpPr>
        <p:spPr>
          <a:xfrm>
            <a:off x="5257800" y="4038600"/>
            <a:ext cx="31242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rPr>
              <a:t>From reset to termination.</a:t>
            </a:r>
            <a:endParaRPr sz="1600">
              <a:solidFill>
                <a:srgbClr val="0B2744"/>
              </a:solidFill>
            </a:endParaRPr>
          </a:p>
        </p:txBody>
      </p:sp>
      <p:sp>
        <p:nvSpPr>
          <p:cNvPr id="645" name="Google Shape;645;p46"/>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pic>
        <p:nvPicPr>
          <p:cNvPr descr="The agent interacts with a parser environment, records a trajectory and receives a reward; a separate trainer updates the policy weights" id="650" name="Google Shape;650;p47" title="The agent interacts with a parser environment, records a trajectory and receives a reward; a separate trainer updates the policy weights"/>
          <p:cNvPicPr preferRelativeResize="0"/>
          <p:nvPr/>
        </p:nvPicPr>
        <p:blipFill>
          <a:blip r:embed="rId3">
            <a:alphaModFix/>
          </a:blip>
          <a:stretch>
            <a:fillRect/>
          </a:stretch>
        </p:blipFill>
        <p:spPr>
          <a:xfrm>
            <a:off x="609600" y="1282700"/>
            <a:ext cx="7924800" cy="3505200"/>
          </a:xfrm>
          <a:prstGeom prst="rect">
            <a:avLst/>
          </a:prstGeom>
          <a:noFill/>
          <a:ln>
            <a:noFill/>
          </a:ln>
        </p:spPr>
      </p:pic>
      <p:sp>
        <p:nvSpPr>
          <p:cNvPr id="651" name="Google Shape;651;p47"/>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From an attempt to a policy update</a:t>
            </a:r>
            <a:endParaRPr b="1" sz="3000">
              <a:solidFill>
                <a:srgbClr val="0B2744"/>
              </a:solidFill>
            </a:endParaRPr>
          </a:p>
        </p:txBody>
      </p:sp>
      <p:sp>
        <p:nvSpPr>
          <p:cNvPr id="652" name="Google Shape;652;p47"/>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Schematic RL workflow, synthetic parser task</a:t>
            </a:r>
            <a:endParaRPr sz="820">
              <a:solidFill>
                <a:srgbClr val="738294"/>
              </a:solidFill>
            </a:endParaRPr>
          </a:p>
        </p:txBody>
      </p:sp>
      <p:sp>
        <p:nvSpPr>
          <p:cNvPr id="653" name="Google Shape;653;p47"/>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35</a:t>
            </a:r>
            <a:endParaRPr b="1" sz="900">
              <a:solidFill>
                <a:srgbClr val="738294"/>
              </a:solidFill>
            </a:endParaRPr>
          </a:p>
        </p:txBody>
      </p:sp>
      <p:sp>
        <p:nvSpPr>
          <p:cNvPr id="654" name="Google Shape;654;p47"/>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150" u="sng">
                <a:solidFill>
                  <a:srgbClr val="0B2744"/>
                </a:solidFill>
                <a:hlinkClick action="ppaction://hlinksldjump" r:id="rId4">
                  <a:extLst>
                    <a:ext uri="{A12FA001-AC4F-418D-AE19-62706E023703}">
                      <ahyp:hlinkClr val="tx"/>
                    </a:ext>
                  </a:extLst>
                </a:hlinkClick>
              </a:rPr>
              <a:t>Training overview</a:t>
            </a:r>
            <a:endParaRPr sz="1150" u="sng">
              <a:solidFill>
                <a:srgbClr val="0B2744"/>
              </a:solidFill>
            </a:endParaRPr>
          </a:p>
        </p:txBody>
      </p:sp>
      <p:sp>
        <p:nvSpPr>
          <p:cNvPr id="655" name="Google Shape;655;p47"/>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48"/>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Training environments</a:t>
            </a:r>
            <a:endParaRPr b="1" sz="3000">
              <a:solidFill>
                <a:srgbClr val="0B2744"/>
              </a:solidFill>
            </a:endParaRPr>
          </a:p>
        </p:txBody>
      </p:sp>
      <p:sp>
        <p:nvSpPr>
          <p:cNvPr id="661" name="Google Shape;661;p48"/>
          <p:cNvSpPr/>
          <p:nvPr/>
        </p:nvSpPr>
        <p:spPr>
          <a:xfrm>
            <a:off x="609600" y="1409700"/>
            <a:ext cx="7924800" cy="6984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48"/>
          <p:cNvSpPr txBox="1"/>
          <p:nvPr/>
        </p:nvSpPr>
        <p:spPr>
          <a:xfrm>
            <a:off x="749300" y="1485900"/>
            <a:ext cx="17271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Arithmetic</a:t>
            </a:r>
            <a:endParaRPr b="1" sz="1900">
              <a:solidFill>
                <a:srgbClr val="0B2744"/>
              </a:solidFill>
            </a:endParaRPr>
          </a:p>
        </p:txBody>
      </p:sp>
      <p:sp>
        <p:nvSpPr>
          <p:cNvPr id="663" name="Google Shape;663;p48"/>
          <p:cNvSpPr txBox="1"/>
          <p:nvPr/>
        </p:nvSpPr>
        <p:spPr>
          <a:xfrm>
            <a:off x="2692400" y="1485900"/>
            <a:ext cx="26544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Calculate 17 × 23</a:t>
            </a:r>
            <a:endParaRPr sz="1700">
              <a:solidFill>
                <a:srgbClr val="0B2744"/>
              </a:solidFill>
            </a:endParaRPr>
          </a:p>
        </p:txBody>
      </p:sp>
      <p:sp>
        <p:nvSpPr>
          <p:cNvPr id="664" name="Google Shape;664;p48"/>
          <p:cNvSpPr txBox="1"/>
          <p:nvPr/>
        </p:nvSpPr>
        <p:spPr>
          <a:xfrm>
            <a:off x="5524500" y="1485900"/>
            <a:ext cx="28449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Exact answer: 391</a:t>
            </a:r>
            <a:endParaRPr sz="1700">
              <a:solidFill>
                <a:srgbClr val="0B2744"/>
              </a:solidFill>
            </a:endParaRPr>
          </a:p>
        </p:txBody>
      </p:sp>
      <p:sp>
        <p:nvSpPr>
          <p:cNvPr id="665" name="Google Shape;665;p48"/>
          <p:cNvSpPr/>
          <p:nvPr/>
        </p:nvSpPr>
        <p:spPr>
          <a:xfrm>
            <a:off x="609600" y="2159000"/>
            <a:ext cx="7924800" cy="698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48"/>
          <p:cNvSpPr txBox="1"/>
          <p:nvPr/>
        </p:nvSpPr>
        <p:spPr>
          <a:xfrm>
            <a:off x="749300" y="2235200"/>
            <a:ext cx="17271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Repository</a:t>
            </a:r>
            <a:endParaRPr b="1" sz="1900">
              <a:solidFill>
                <a:srgbClr val="0B2744"/>
              </a:solidFill>
            </a:endParaRPr>
          </a:p>
        </p:txBody>
      </p:sp>
      <p:sp>
        <p:nvSpPr>
          <p:cNvPr id="667" name="Google Shape;667;p48"/>
          <p:cNvSpPr txBox="1"/>
          <p:nvPr/>
        </p:nvSpPr>
        <p:spPr>
          <a:xfrm>
            <a:off x="2692400" y="2235200"/>
            <a:ext cx="26544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Fix a CSV parser</a:t>
            </a:r>
            <a:endParaRPr sz="1700">
              <a:solidFill>
                <a:srgbClr val="0B2744"/>
              </a:solidFill>
            </a:endParaRPr>
          </a:p>
        </p:txBody>
      </p:sp>
      <p:sp>
        <p:nvSpPr>
          <p:cNvPr id="668" name="Google Shape;668;p48"/>
          <p:cNvSpPr txBox="1"/>
          <p:nvPr/>
        </p:nvSpPr>
        <p:spPr>
          <a:xfrm>
            <a:off x="5524500" y="2235200"/>
            <a:ext cx="28449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Executable tests</a:t>
            </a:r>
            <a:endParaRPr sz="1700">
              <a:solidFill>
                <a:srgbClr val="0B2744"/>
              </a:solidFill>
            </a:endParaRPr>
          </a:p>
        </p:txBody>
      </p:sp>
      <p:sp>
        <p:nvSpPr>
          <p:cNvPr id="669" name="Google Shape;669;p48"/>
          <p:cNvSpPr/>
          <p:nvPr/>
        </p:nvSpPr>
        <p:spPr>
          <a:xfrm>
            <a:off x="609600" y="2908300"/>
            <a:ext cx="7924800" cy="6984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48"/>
          <p:cNvSpPr txBox="1"/>
          <p:nvPr/>
        </p:nvSpPr>
        <p:spPr>
          <a:xfrm>
            <a:off x="749300" y="2984500"/>
            <a:ext cx="17271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Game</a:t>
            </a:r>
            <a:endParaRPr b="1" sz="1900">
              <a:solidFill>
                <a:srgbClr val="0B2744"/>
              </a:solidFill>
            </a:endParaRPr>
          </a:p>
        </p:txBody>
      </p:sp>
      <p:sp>
        <p:nvSpPr>
          <p:cNvPr id="671" name="Google Shape;671;p48"/>
          <p:cNvSpPr txBox="1"/>
          <p:nvPr/>
        </p:nvSpPr>
        <p:spPr>
          <a:xfrm>
            <a:off x="2692400" y="2984500"/>
            <a:ext cx="26544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Play StarCraft II</a:t>
            </a:r>
            <a:endParaRPr sz="1700">
              <a:solidFill>
                <a:srgbClr val="0B2744"/>
              </a:solidFill>
            </a:endParaRPr>
          </a:p>
        </p:txBody>
      </p:sp>
      <p:sp>
        <p:nvSpPr>
          <p:cNvPr id="672" name="Google Shape;672;p48"/>
          <p:cNvSpPr txBox="1"/>
          <p:nvPr/>
        </p:nvSpPr>
        <p:spPr>
          <a:xfrm>
            <a:off x="5524500" y="2984500"/>
            <a:ext cx="28449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Game outcome</a:t>
            </a:r>
            <a:endParaRPr sz="1700">
              <a:solidFill>
                <a:srgbClr val="0B2744"/>
              </a:solidFill>
            </a:endParaRPr>
          </a:p>
        </p:txBody>
      </p:sp>
      <p:sp>
        <p:nvSpPr>
          <p:cNvPr id="673" name="Google Shape;673;p48"/>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AlphaStar is a historical RL example, not an LLM</a:t>
            </a:r>
            <a:endParaRPr sz="820">
              <a:solidFill>
                <a:srgbClr val="738294"/>
              </a:solidFill>
            </a:endParaRPr>
          </a:p>
        </p:txBody>
      </p:sp>
      <p:sp>
        <p:nvSpPr>
          <p:cNvPr id="674" name="Google Shape;674;p48"/>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36</a:t>
            </a:r>
            <a:endParaRPr b="1" sz="900">
              <a:solidFill>
                <a:srgbClr val="738294"/>
              </a:solidFill>
            </a:endParaRPr>
          </a:p>
        </p:txBody>
      </p:sp>
      <p:sp>
        <p:nvSpPr>
          <p:cNvPr id="675" name="Google Shape;675;p48"/>
          <p:cNvSpPr/>
          <p:nvPr/>
        </p:nvSpPr>
        <p:spPr>
          <a:xfrm>
            <a:off x="609600" y="3657600"/>
            <a:ext cx="7924800" cy="698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6" name="Google Shape;676;p48"/>
          <p:cNvSpPr txBox="1"/>
          <p:nvPr/>
        </p:nvSpPr>
        <p:spPr>
          <a:xfrm>
            <a:off x="749300" y="3733800"/>
            <a:ext cx="17271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Workplace</a:t>
            </a:r>
            <a:endParaRPr b="1" sz="1900">
              <a:solidFill>
                <a:srgbClr val="0B2744"/>
              </a:solidFill>
            </a:endParaRPr>
          </a:p>
        </p:txBody>
      </p:sp>
      <p:sp>
        <p:nvSpPr>
          <p:cNvPr id="677" name="Google Shape;677;p48"/>
          <p:cNvSpPr txBox="1"/>
          <p:nvPr/>
        </p:nvSpPr>
        <p:spPr>
          <a:xfrm>
            <a:off x="2692400" y="3733800"/>
            <a:ext cx="26544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Build an evidence table</a:t>
            </a:r>
            <a:endParaRPr sz="1700">
              <a:solidFill>
                <a:srgbClr val="0B2744"/>
              </a:solidFill>
            </a:endParaRPr>
          </a:p>
        </p:txBody>
      </p:sp>
      <p:sp>
        <p:nvSpPr>
          <p:cNvPr id="678" name="Google Shape;678;p48"/>
          <p:cNvSpPr txBox="1"/>
          <p:nvPr/>
        </p:nvSpPr>
        <p:spPr>
          <a:xfrm>
            <a:off x="5524500" y="3733800"/>
            <a:ext cx="2844900" cy="558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Evidence and deliverable checks</a:t>
            </a:r>
            <a:endParaRPr sz="1700">
              <a:solidFill>
                <a:srgbClr val="0B2744"/>
              </a:solidFill>
            </a:endParaRPr>
          </a:p>
        </p:txBody>
      </p:sp>
      <p:sp>
        <p:nvSpPr>
          <p:cNvPr id="679" name="Google Shape;679;p48"/>
          <p:cNvSpPr txBox="1"/>
          <p:nvPr/>
        </p:nvSpPr>
        <p:spPr>
          <a:xfrm>
            <a:off x="609600" y="4457700"/>
            <a:ext cx="79248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Each attempt needs a reset and a way to score its result.</a:t>
            </a:r>
            <a:endParaRPr sz="1700">
              <a:solidFill>
                <a:srgbClr val="0B2744"/>
              </a:solidFill>
            </a:endParaRPr>
          </a:p>
        </p:txBody>
      </p:sp>
      <p:sp>
        <p:nvSpPr>
          <p:cNvPr id="680" name="Google Shape;680;p48"/>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pic>
        <p:nvPicPr>
          <p:cNvPr descr="Synthetic workplace environment with earnings excerpts, definitions and analyst messages, an agent-written feature table, verification and reset" id="685" name="Google Shape;685;p49" title="Synthetic workplace environment with earnings excerpts, definitions and analyst messages, an agent-written feature table, verification and reset"/>
          <p:cNvPicPr preferRelativeResize="0"/>
          <p:nvPr/>
        </p:nvPicPr>
        <p:blipFill>
          <a:blip r:embed="rId3">
            <a:alphaModFix/>
          </a:blip>
          <a:stretch>
            <a:fillRect/>
          </a:stretch>
        </p:blipFill>
        <p:spPr>
          <a:xfrm>
            <a:off x="609600" y="1879600"/>
            <a:ext cx="7924800" cy="2514600"/>
          </a:xfrm>
          <a:prstGeom prst="rect">
            <a:avLst/>
          </a:prstGeom>
          <a:noFill/>
          <a:ln>
            <a:noFill/>
          </a:ln>
        </p:spPr>
      </p:pic>
      <p:sp>
        <p:nvSpPr>
          <p:cNvPr id="686" name="Google Shape;686;p49"/>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A workplace as a training environment</a:t>
            </a:r>
            <a:endParaRPr b="1" sz="3000">
              <a:solidFill>
                <a:srgbClr val="0B2744"/>
              </a:solidFill>
            </a:endParaRPr>
          </a:p>
        </p:txBody>
      </p:sp>
      <p:sp>
        <p:nvSpPr>
          <p:cNvPr id="687" name="Google Shape;687;p49"/>
          <p:cNvSpPr txBox="1"/>
          <p:nvPr/>
        </p:nvSpPr>
        <p:spPr>
          <a:xfrm>
            <a:off x="609600" y="1371600"/>
            <a:ext cx="7924800" cy="457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Prepare a margin-pressure table for E01, E02, and E03.</a:t>
            </a:r>
            <a:endParaRPr b="1" sz="2000">
              <a:solidFill>
                <a:srgbClr val="0B2744"/>
              </a:solidFill>
            </a:endParaRPr>
          </a:p>
        </p:txBody>
      </p:sp>
      <p:sp>
        <p:nvSpPr>
          <p:cNvPr id="688" name="Google Shape;688;p49"/>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Synthetic financial-research environment</a:t>
            </a:r>
            <a:endParaRPr sz="820">
              <a:solidFill>
                <a:srgbClr val="738294"/>
              </a:solidFill>
            </a:endParaRPr>
          </a:p>
        </p:txBody>
      </p:sp>
      <p:sp>
        <p:nvSpPr>
          <p:cNvPr id="689" name="Google Shape;689;p49"/>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37</a:t>
            </a:r>
            <a:endParaRPr b="1" sz="900">
              <a:solidFill>
                <a:srgbClr val="738294"/>
              </a:solidFill>
            </a:endParaRPr>
          </a:p>
        </p:txBody>
      </p:sp>
      <p:sp>
        <p:nvSpPr>
          <p:cNvPr id="690" name="Google Shape;690;p49"/>
          <p:cNvSpPr txBox="1"/>
          <p:nvPr/>
        </p:nvSpPr>
        <p:spPr>
          <a:xfrm>
            <a:off x="609600" y="4457700"/>
            <a:ext cx="79248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What would a verifier that checks only row count miss?</a:t>
            </a:r>
            <a:endParaRPr b="1" sz="1900">
              <a:solidFill>
                <a:srgbClr val="0B2744"/>
              </a:solidFill>
            </a:endParaRPr>
          </a:p>
        </p:txBody>
      </p:sp>
      <p:sp>
        <p:nvSpPr>
          <p:cNvPr id="691" name="Google Shape;691;p49"/>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50"/>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Why domain experts matter in training</a:t>
            </a:r>
            <a:endParaRPr b="1" sz="3000">
              <a:solidFill>
                <a:srgbClr val="0B2744"/>
              </a:solidFill>
            </a:endParaRPr>
          </a:p>
        </p:txBody>
      </p:sp>
      <p:sp>
        <p:nvSpPr>
          <p:cNvPr id="697" name="Google Shape;697;p50"/>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Mercor</a:t>
            </a:r>
            <a:endParaRPr b="1" sz="2100">
              <a:solidFill>
                <a:srgbClr val="0B2744"/>
              </a:solidFill>
            </a:endParaRPr>
          </a:p>
        </p:txBody>
      </p:sp>
      <p:sp>
        <p:nvSpPr>
          <p:cNvPr id="698" name="Google Shape;698;p50"/>
          <p:cNvSpPr txBox="1"/>
          <p:nvPr/>
        </p:nvSpPr>
        <p:spPr>
          <a:xfrm>
            <a:off x="609600" y="1981200"/>
            <a:ext cx="3670200" cy="151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Builds realistic worlds and tools, with tasks and verifiers that let agents practice work.</a:t>
            </a:r>
            <a:endParaRPr sz="1800">
              <a:solidFill>
                <a:srgbClr val="0B2744"/>
              </a:solidFill>
            </a:endParaRPr>
          </a:p>
        </p:txBody>
      </p:sp>
      <p:sp>
        <p:nvSpPr>
          <p:cNvPr id="699" name="Google Shape;699;p50"/>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Handshake</a:t>
            </a:r>
            <a:endParaRPr b="1" sz="2100">
              <a:solidFill>
                <a:srgbClr val="0B2744"/>
              </a:solidFill>
            </a:endParaRPr>
          </a:p>
        </p:txBody>
      </p:sp>
      <p:sp>
        <p:nvSpPr>
          <p:cNvPr id="700" name="Google Shape;700;p50"/>
          <p:cNvSpPr txBox="1"/>
          <p:nvPr/>
        </p:nvSpPr>
        <p:spPr>
          <a:xfrm>
            <a:off x="4864100" y="1981200"/>
            <a:ext cx="3670200" cy="1790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Connects domain experts with labs to write prompts, assess responses, and judge quality.</a:t>
            </a:r>
            <a:endParaRPr sz="1800">
              <a:solidFill>
                <a:srgbClr val="0B2744"/>
              </a:solidFill>
            </a:endParaRPr>
          </a:p>
        </p:txBody>
      </p:sp>
      <p:sp>
        <p:nvSpPr>
          <p:cNvPr id="701" name="Google Shape;701;p50"/>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50"/>
          <p:cNvSpPr txBox="1"/>
          <p:nvPr/>
        </p:nvSpPr>
        <p:spPr>
          <a:xfrm>
            <a:off x="609600" y="4140200"/>
            <a:ext cx="79248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Domain experts define useful tasks and what counts as success.</a:t>
            </a:r>
            <a:endParaRPr b="1" sz="2000">
              <a:solidFill>
                <a:srgbClr val="0B2744"/>
              </a:solidFill>
            </a:endParaRPr>
          </a:p>
        </p:txBody>
      </p:sp>
      <p:sp>
        <p:nvSpPr>
          <p:cNvPr id="703" name="Google Shape;703;p50"/>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Mercor Research and Handshake AI descriptions</a:t>
            </a:r>
            <a:endParaRPr sz="820">
              <a:solidFill>
                <a:srgbClr val="738294"/>
              </a:solidFill>
            </a:endParaRPr>
          </a:p>
        </p:txBody>
      </p:sp>
      <p:sp>
        <p:nvSpPr>
          <p:cNvPr id="704" name="Google Shape;704;p50"/>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38</a:t>
            </a:r>
            <a:endParaRPr b="1" sz="900">
              <a:solidFill>
                <a:srgbClr val="738294"/>
              </a:solidFill>
            </a:endParaRPr>
          </a:p>
        </p:txBody>
      </p:sp>
      <p:sp>
        <p:nvSpPr>
          <p:cNvPr id="705" name="Google Shape;705;p50"/>
          <p:cNvSpPr txBox="1"/>
          <p:nvPr/>
        </p:nvSpPr>
        <p:spPr>
          <a:xfrm>
            <a:off x="609600" y="3479800"/>
            <a:ext cx="36831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u="sng">
                <a:solidFill>
                  <a:srgbClr val="0B2744"/>
                </a:solidFill>
                <a:hlinkClick r:id="rId3">
                  <a:extLst>
                    <a:ext uri="{A12FA001-AC4F-418D-AE19-62706E023703}">
                      <ahyp:hlinkClr val="tx"/>
                    </a:ext>
                  </a:extLst>
                </a:hlinkClick>
              </a:rPr>
              <a:t>Mercor Research</a:t>
            </a:r>
            <a:endParaRPr u="sng">
              <a:solidFill>
                <a:srgbClr val="0B2744"/>
              </a:solidFill>
            </a:endParaRPr>
          </a:p>
        </p:txBody>
      </p:sp>
      <p:sp>
        <p:nvSpPr>
          <p:cNvPr id="706" name="Google Shape;706;p50"/>
          <p:cNvSpPr txBox="1"/>
          <p:nvPr/>
        </p:nvSpPr>
        <p:spPr>
          <a:xfrm>
            <a:off x="4864100" y="3479800"/>
            <a:ext cx="3670200" cy="3810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u="sng">
                <a:solidFill>
                  <a:srgbClr val="0B2744"/>
                </a:solidFill>
                <a:hlinkClick r:id="rId4">
                  <a:extLst>
                    <a:ext uri="{A12FA001-AC4F-418D-AE19-62706E023703}">
                      <ahyp:hlinkClr val="tx"/>
                    </a:ext>
                  </a:extLst>
                </a:hlinkClick>
              </a:rPr>
              <a:t>Handshake AI</a:t>
            </a:r>
            <a:endParaRPr u="sng">
              <a:solidFill>
                <a:srgbClr val="0B2744"/>
              </a:solidFill>
            </a:endParaRPr>
          </a:p>
        </p:txBody>
      </p:sp>
      <p:sp>
        <p:nvSpPr>
          <p:cNvPr id="707" name="Google Shape;707;p50"/>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51"/>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Training and using an agent</a:t>
            </a:r>
            <a:endParaRPr b="1" sz="3000">
              <a:solidFill>
                <a:srgbClr val="0B2744"/>
              </a:solidFill>
            </a:endParaRPr>
          </a:p>
        </p:txBody>
      </p:sp>
      <p:sp>
        <p:nvSpPr>
          <p:cNvPr id="713" name="Google Shape;713;p51"/>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Training</a:t>
            </a:r>
            <a:endParaRPr b="1" sz="2100">
              <a:solidFill>
                <a:srgbClr val="0B2744"/>
              </a:solidFill>
            </a:endParaRPr>
          </a:p>
        </p:txBody>
      </p:sp>
      <p:sp>
        <p:nvSpPr>
          <p:cNvPr id="714" name="Google Shape;714;p51"/>
          <p:cNvSpPr txBox="1"/>
          <p:nvPr/>
        </p:nvSpPr>
        <p:spPr>
          <a:xfrm>
            <a:off x="609600" y="1981200"/>
            <a:ext cx="3670200" cy="151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Examples and feedback feed a training objective. An optimizer changes the model’s weights.</a:t>
            </a:r>
            <a:endParaRPr sz="1800">
              <a:solidFill>
                <a:srgbClr val="0B2744"/>
              </a:solidFill>
            </a:endParaRPr>
          </a:p>
        </p:txBody>
      </p:sp>
      <p:sp>
        <p:nvSpPr>
          <p:cNvPr id="715" name="Google Shape;715;p51"/>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Using an agent</a:t>
            </a:r>
            <a:endParaRPr b="1" sz="2100">
              <a:solidFill>
                <a:srgbClr val="0B2744"/>
              </a:solidFill>
            </a:endParaRPr>
          </a:p>
        </p:txBody>
      </p:sp>
      <p:sp>
        <p:nvSpPr>
          <p:cNvPr id="716" name="Google Shape;716;p51"/>
          <p:cNvSpPr txBox="1"/>
          <p:nvPr/>
        </p:nvSpPr>
        <p:spPr>
          <a:xfrm>
            <a:off x="4864100" y="1981200"/>
            <a:ext cx="3670200" cy="1790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The harness supplies context and executes tool calls. A new instruction or skill guides the next call.</a:t>
            </a:r>
            <a:endParaRPr sz="1800">
              <a:solidFill>
                <a:srgbClr val="0B2744"/>
              </a:solidFill>
            </a:endParaRPr>
          </a:p>
        </p:txBody>
      </p:sp>
      <p:sp>
        <p:nvSpPr>
          <p:cNvPr id="717" name="Google Shape;717;p51"/>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8" name="Google Shape;718;p51"/>
          <p:cNvSpPr txBox="1"/>
          <p:nvPr/>
        </p:nvSpPr>
        <p:spPr>
          <a:xfrm>
            <a:off x="609600" y="4140200"/>
            <a:ext cx="79248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200">
                <a:solidFill>
                  <a:srgbClr val="0B2744"/>
                </a:solidFill>
              </a:rPr>
              <a:t>How do we tell whether an agent actually got better?</a:t>
            </a:r>
            <a:endParaRPr b="1" sz="2200">
              <a:solidFill>
                <a:srgbClr val="0B2744"/>
              </a:solidFill>
            </a:endParaRPr>
          </a:p>
        </p:txBody>
      </p:sp>
      <p:sp>
        <p:nvSpPr>
          <p:cNvPr id="719" name="Google Shape;719;p51"/>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Reading: Deep Learning and Reinforcement Learning: An Introduction</a:t>
            </a:r>
            <a:endParaRPr sz="820">
              <a:solidFill>
                <a:srgbClr val="738294"/>
              </a:solidFill>
            </a:endParaRPr>
          </a:p>
        </p:txBody>
      </p:sp>
      <p:sp>
        <p:nvSpPr>
          <p:cNvPr id="720" name="Google Shape;720;p51"/>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39</a:t>
            </a:r>
            <a:endParaRPr b="1" sz="900">
              <a:solidFill>
                <a:srgbClr val="738294"/>
              </a:solidFill>
            </a:endParaRPr>
          </a:p>
        </p:txBody>
      </p:sp>
      <p:sp>
        <p:nvSpPr>
          <p:cNvPr id="721" name="Google Shape;721;p51"/>
          <p:cNvSpPr txBox="1"/>
          <p:nvPr/>
        </p:nvSpPr>
        <p:spPr>
          <a:xfrm>
            <a:off x="609600" y="3543300"/>
            <a:ext cx="36831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u="sng">
                <a:solidFill>
                  <a:srgbClr val="0B2744"/>
                </a:solidFill>
                <a:hlinkClick r:id="rId3">
                  <a:extLst>
                    <a:ext uri="{A12FA001-AC4F-418D-AE19-62706E023703}">
                      <ahyp:hlinkClr val="tx"/>
                    </a:ext>
                  </a:extLst>
                </a:hlinkClick>
              </a:rPr>
              <a:t>Deep Learning, chapters 6 and 8</a:t>
            </a:r>
            <a:endParaRPr u="sng">
              <a:solidFill>
                <a:srgbClr val="0B2744"/>
              </a:solidFill>
            </a:endParaRPr>
          </a:p>
        </p:txBody>
      </p:sp>
      <p:sp>
        <p:nvSpPr>
          <p:cNvPr id="722" name="Google Shape;722;p51"/>
          <p:cNvSpPr txBox="1"/>
          <p:nvPr/>
        </p:nvSpPr>
        <p:spPr>
          <a:xfrm>
            <a:off x="4864100" y="3543300"/>
            <a:ext cx="3670200" cy="444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u="sng">
                <a:solidFill>
                  <a:srgbClr val="0B2744"/>
                </a:solidFill>
                <a:hlinkClick r:id="rId4">
                  <a:extLst>
                    <a:ext uri="{A12FA001-AC4F-418D-AE19-62706E023703}">
                      <ahyp:hlinkClr val="tx"/>
                    </a:ext>
                  </a:extLst>
                </a:hlinkClick>
              </a:rPr>
              <a:t>Reinforcement Learning, chapters 1 and 3</a:t>
            </a:r>
            <a:endParaRPr u="sng">
              <a:solidFill>
                <a:srgbClr val="0B2744"/>
              </a:solidFill>
            </a:endParaRPr>
          </a:p>
        </p:txBody>
      </p:sp>
      <p:sp>
        <p:nvSpPr>
          <p:cNvPr id="723" name="Google Shape;723;p51"/>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744"/>
        </a:solidFill>
      </p:bgPr>
    </p:bg>
    <p:spTree>
      <p:nvGrpSpPr>
        <p:cNvPr id="727" name="Shape 727"/>
        <p:cNvGrpSpPr/>
        <p:nvPr/>
      </p:nvGrpSpPr>
      <p:grpSpPr>
        <a:xfrm>
          <a:off x="0" y="0"/>
          <a:ext cx="0" cy="0"/>
          <a:chOff x="0" y="0"/>
          <a:chExt cx="0" cy="0"/>
        </a:xfrm>
      </p:grpSpPr>
      <p:sp>
        <p:nvSpPr>
          <p:cNvPr id="728" name="Google Shape;728;p52"/>
          <p:cNvSpPr txBox="1"/>
          <p:nvPr>
            <p:ph type="ctrTitle"/>
          </p:nvPr>
        </p:nvSpPr>
        <p:spPr>
          <a:xfrm>
            <a:off x="914400" y="1371600"/>
            <a:ext cx="7569300" cy="14223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3800">
                <a:solidFill>
                  <a:srgbClr val="FFFFFF"/>
                </a:solidFill>
              </a:rPr>
              <a:t>Evaluating</a:t>
            </a:r>
            <a:endParaRPr b="1" sz="3800">
              <a:solidFill>
                <a:srgbClr val="FFFFFF"/>
              </a:solidFill>
            </a:endParaRPr>
          </a:p>
          <a:p>
            <a:pPr indent="0" lvl="0" marL="0" marR="0" rtl="0" algn="l">
              <a:lnSpc>
                <a:spcPct val="110000"/>
              </a:lnSpc>
              <a:spcBef>
                <a:spcPts val="0"/>
              </a:spcBef>
              <a:spcAft>
                <a:spcPts val="0"/>
              </a:spcAft>
              <a:buNone/>
            </a:pPr>
            <a:r>
              <a:rPr b="1" lang="en" sz="3800">
                <a:solidFill>
                  <a:srgbClr val="FFFFFF"/>
                </a:solidFill>
              </a:rPr>
              <a:t>agents</a:t>
            </a:r>
            <a:endParaRPr b="1" sz="3800">
              <a:solidFill>
                <a:srgbClr val="FFFFFF"/>
              </a:solidFill>
            </a:endParaRPr>
          </a:p>
        </p:txBody>
      </p:sp>
      <p:sp>
        <p:nvSpPr>
          <p:cNvPr id="729" name="Google Shape;729;p52"/>
          <p:cNvSpPr txBox="1"/>
          <p:nvPr>
            <p:ph idx="1" type="subTitle"/>
          </p:nvPr>
        </p:nvSpPr>
        <p:spPr>
          <a:xfrm>
            <a:off x="914400" y="2984500"/>
            <a:ext cx="7556400" cy="838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FFFFFF"/>
                </a:solidFill>
              </a:rPr>
              <a:t>Lesson 3 · Part 3</a:t>
            </a:r>
            <a:endParaRPr b="1" sz="2000">
              <a:solidFill>
                <a:srgbClr val="FFFFFF"/>
              </a:solidFill>
            </a:endParaRPr>
          </a:p>
          <a:p>
            <a:pPr indent="0" lvl="0" marL="0" marR="0" rtl="0" algn="l">
              <a:lnSpc>
                <a:spcPct val="110000"/>
              </a:lnSpc>
              <a:spcBef>
                <a:spcPts val="0"/>
              </a:spcBef>
              <a:spcAft>
                <a:spcPts val="0"/>
              </a:spcAft>
              <a:buNone/>
            </a:pPr>
            <a:r>
              <a:rPr lang="en" sz="2000">
                <a:solidFill>
                  <a:srgbClr val="FFFFFF"/>
                </a:solidFill>
              </a:rPr>
              <a:t>How we define, verify, and measure useful work.</a:t>
            </a:r>
            <a:endParaRPr sz="2000">
              <a:solidFill>
                <a:srgbClr val="FFFFFF"/>
              </a:solidFill>
            </a:endParaRPr>
          </a:p>
        </p:txBody>
      </p:sp>
      <p:sp>
        <p:nvSpPr>
          <p:cNvPr id="730" name="Google Shape;730;p52"/>
          <p:cNvSpPr/>
          <p:nvPr/>
        </p:nvSpPr>
        <p:spPr>
          <a:xfrm>
            <a:off x="609600" y="1473200"/>
            <a:ext cx="63600" cy="12573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p52"/>
          <p:cNvSpPr txBox="1"/>
          <p:nvPr/>
        </p:nvSpPr>
        <p:spPr>
          <a:xfrm>
            <a:off x="914400" y="647700"/>
            <a:ext cx="75693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a:solidFill>
                  <a:srgbClr val="E6A92C"/>
                </a:solidFill>
              </a:rPr>
              <a:t>UC Berkeley · Master of Financial Engineering</a:t>
            </a:r>
            <a:endParaRPr>
              <a:solidFill>
                <a:srgbClr val="E6A92C"/>
              </a:solidFill>
            </a:endParaRPr>
          </a:p>
        </p:txBody>
      </p:sp>
      <p:sp>
        <p:nvSpPr>
          <p:cNvPr id="732" name="Google Shape;732;p52"/>
          <p:cNvSpPr txBox="1"/>
          <p:nvPr/>
        </p:nvSpPr>
        <p:spPr>
          <a:xfrm>
            <a:off x="914400" y="4267200"/>
            <a:ext cx="7569300" cy="355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1600">
                <a:solidFill>
                  <a:srgbClr val="E6A92C"/>
                </a:solidFill>
              </a:rPr>
              <a:t>October 12, 2026</a:t>
            </a:r>
            <a:endParaRPr sz="1600">
              <a:solidFill>
                <a:srgbClr val="E6A92C"/>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descr="Authentic Anthropic diagram, used without alteration. Evaluation harness wraps a suite of tasks, runs trials against the agent harness, records trajectories and outcomes, and applies graders. Point to the two harnesses: one enables work, the other measures it. The diagram’s reasoning refers to information actually available in logs, not access to hidden chain-of-thought. We will unpack this dense diagram on the next slide." id="737" name="Google Shape;737;p53" title="The parts of an eval"/>
          <p:cNvPicPr preferRelativeResize="0"/>
          <p:nvPr/>
        </p:nvPicPr>
        <p:blipFill>
          <a:blip r:embed="rId3">
            <a:alphaModFix/>
          </a:blip>
          <a:stretch>
            <a:fillRect/>
          </a:stretch>
        </p:blipFill>
        <p:spPr>
          <a:xfrm>
            <a:off x="1397000" y="1270212"/>
            <a:ext cx="6349997" cy="3573527"/>
          </a:xfrm>
          <a:prstGeom prst="rect">
            <a:avLst/>
          </a:prstGeom>
          <a:noFill/>
          <a:ln>
            <a:noFill/>
          </a:ln>
        </p:spPr>
      </p:pic>
      <p:sp>
        <p:nvSpPr>
          <p:cNvPr id="738" name="Google Shape;738;p53"/>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The parts of an eval</a:t>
            </a:r>
            <a:endParaRPr b="1" sz="3000">
              <a:solidFill>
                <a:srgbClr val="0B2744"/>
              </a:solidFill>
            </a:endParaRPr>
          </a:p>
        </p:txBody>
      </p:sp>
      <p:sp>
        <p:nvSpPr>
          <p:cNvPr id="739" name="Google Shape;739;p53"/>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0" name="Google Shape;740;p53"/>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u="sng">
                <a:solidFill>
                  <a:srgbClr val="0B2744"/>
                </a:solidFill>
                <a:hlinkClick r:id="rId4">
                  <a:extLst>
                    <a:ext uri="{A12FA001-AC4F-418D-AE19-62706E023703}">
                      <ahyp:hlinkClr val="tx"/>
                    </a:ext>
                  </a:extLst>
                </a:hlinkClick>
              </a:rPr>
              <a:t>Anthropic, Demystifying evals for AI agents (2026)</a:t>
            </a:r>
            <a:endParaRPr sz="820" u="sng">
              <a:solidFill>
                <a:srgbClr val="0B2744"/>
              </a:solidFill>
            </a:endParaRPr>
          </a:p>
        </p:txBody>
      </p:sp>
      <p:sp>
        <p:nvSpPr>
          <p:cNvPr id="741" name="Google Shape;741;p53"/>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41</a:t>
            </a:r>
            <a:endParaRPr b="1" sz="900">
              <a:solidFill>
                <a:srgbClr val="738294"/>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54"/>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Tasks, trials, and results</a:t>
            </a:r>
            <a:endParaRPr b="1" sz="3000">
              <a:solidFill>
                <a:srgbClr val="0B2744"/>
              </a:solidFill>
            </a:endParaRPr>
          </a:p>
        </p:txBody>
      </p:sp>
      <p:sp>
        <p:nvSpPr>
          <p:cNvPr id="747" name="Google Shape;747;p54"/>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54"/>
          <p:cNvSpPr/>
          <p:nvPr/>
        </p:nvSpPr>
        <p:spPr>
          <a:xfrm>
            <a:off x="609600" y="1371600"/>
            <a:ext cx="7924800" cy="647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p54"/>
          <p:cNvSpPr txBox="1"/>
          <p:nvPr/>
        </p:nvSpPr>
        <p:spPr>
          <a:xfrm>
            <a:off x="749300" y="1384300"/>
            <a:ext cx="17781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Task</a:t>
            </a:r>
            <a:endParaRPr b="1" sz="1800">
              <a:solidFill>
                <a:srgbClr val="0B2744"/>
              </a:solidFill>
            </a:endParaRPr>
          </a:p>
        </p:txBody>
      </p:sp>
      <p:sp>
        <p:nvSpPr>
          <p:cNvPr id="750" name="Google Shape;750;p54"/>
          <p:cNvSpPr txBox="1"/>
          <p:nvPr/>
        </p:nvSpPr>
        <p:spPr>
          <a:xfrm>
            <a:off x="2654300" y="1384300"/>
            <a:ext cx="28320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One defined problem</a:t>
            </a:r>
            <a:endParaRPr sz="1700">
              <a:solidFill>
                <a:srgbClr val="0B2744"/>
              </a:solidFill>
            </a:endParaRPr>
          </a:p>
        </p:txBody>
      </p:sp>
      <p:sp>
        <p:nvSpPr>
          <p:cNvPr id="751" name="Google Shape;751;p54"/>
          <p:cNvSpPr txBox="1"/>
          <p:nvPr/>
        </p:nvSpPr>
        <p:spPr>
          <a:xfrm>
            <a:off x="5626100" y="1384300"/>
            <a:ext cx="27813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Inputs and success criteria.</a:t>
            </a:r>
            <a:endParaRPr sz="1700">
              <a:solidFill>
                <a:srgbClr val="0B2744"/>
              </a:solidFill>
            </a:endParaRPr>
          </a:p>
        </p:txBody>
      </p:sp>
      <p:sp>
        <p:nvSpPr>
          <p:cNvPr id="752" name="Google Shape;752;p54"/>
          <p:cNvSpPr/>
          <p:nvPr/>
        </p:nvSpPr>
        <p:spPr>
          <a:xfrm>
            <a:off x="609600" y="2032000"/>
            <a:ext cx="79248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54"/>
          <p:cNvSpPr txBox="1"/>
          <p:nvPr/>
        </p:nvSpPr>
        <p:spPr>
          <a:xfrm>
            <a:off x="749300" y="2044700"/>
            <a:ext cx="17781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Trial</a:t>
            </a:r>
            <a:endParaRPr b="1" sz="1800">
              <a:solidFill>
                <a:srgbClr val="0B2744"/>
              </a:solidFill>
            </a:endParaRPr>
          </a:p>
        </p:txBody>
      </p:sp>
      <p:sp>
        <p:nvSpPr>
          <p:cNvPr id="754" name="Google Shape;754;p54"/>
          <p:cNvSpPr txBox="1"/>
          <p:nvPr/>
        </p:nvSpPr>
        <p:spPr>
          <a:xfrm>
            <a:off x="2654300" y="2044700"/>
            <a:ext cx="28320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One attempt</a:t>
            </a:r>
            <a:endParaRPr sz="1700">
              <a:solidFill>
                <a:srgbClr val="0B2744"/>
              </a:solidFill>
            </a:endParaRPr>
          </a:p>
        </p:txBody>
      </p:sp>
      <p:sp>
        <p:nvSpPr>
          <p:cNvPr id="755" name="Google Shape;755;p54"/>
          <p:cNvSpPr txBox="1"/>
          <p:nvPr/>
        </p:nvSpPr>
        <p:spPr>
          <a:xfrm>
            <a:off x="5626100" y="2044700"/>
            <a:ext cx="27813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Repeat with a fresh reset.</a:t>
            </a:r>
            <a:endParaRPr sz="1700">
              <a:solidFill>
                <a:srgbClr val="0B2744"/>
              </a:solidFill>
            </a:endParaRPr>
          </a:p>
        </p:txBody>
      </p:sp>
      <p:sp>
        <p:nvSpPr>
          <p:cNvPr id="756" name="Google Shape;756;p54"/>
          <p:cNvSpPr/>
          <p:nvPr/>
        </p:nvSpPr>
        <p:spPr>
          <a:xfrm>
            <a:off x="609600" y="2692400"/>
            <a:ext cx="7924800" cy="647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7" name="Google Shape;757;p54"/>
          <p:cNvSpPr txBox="1"/>
          <p:nvPr/>
        </p:nvSpPr>
        <p:spPr>
          <a:xfrm>
            <a:off x="749300" y="2705100"/>
            <a:ext cx="17781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Transcript</a:t>
            </a:r>
            <a:endParaRPr b="1" sz="1800">
              <a:solidFill>
                <a:srgbClr val="0B2744"/>
              </a:solidFill>
            </a:endParaRPr>
          </a:p>
        </p:txBody>
      </p:sp>
      <p:sp>
        <p:nvSpPr>
          <p:cNvPr id="758" name="Google Shape;758;p54"/>
          <p:cNvSpPr txBox="1"/>
          <p:nvPr/>
        </p:nvSpPr>
        <p:spPr>
          <a:xfrm>
            <a:off x="2654300" y="2705100"/>
            <a:ext cx="28320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The recorded trace</a:t>
            </a:r>
            <a:endParaRPr sz="1700">
              <a:solidFill>
                <a:srgbClr val="0B2744"/>
              </a:solidFill>
            </a:endParaRPr>
          </a:p>
        </p:txBody>
      </p:sp>
      <p:sp>
        <p:nvSpPr>
          <p:cNvPr id="759" name="Google Shape;759;p54"/>
          <p:cNvSpPr txBox="1"/>
          <p:nvPr/>
        </p:nvSpPr>
        <p:spPr>
          <a:xfrm>
            <a:off x="5626100" y="2705100"/>
            <a:ext cx="27813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Messages, calls, observations.</a:t>
            </a:r>
            <a:endParaRPr sz="1700">
              <a:solidFill>
                <a:srgbClr val="0B2744"/>
              </a:solidFill>
            </a:endParaRPr>
          </a:p>
        </p:txBody>
      </p:sp>
      <p:sp>
        <p:nvSpPr>
          <p:cNvPr id="760" name="Google Shape;760;p54"/>
          <p:cNvSpPr/>
          <p:nvPr/>
        </p:nvSpPr>
        <p:spPr>
          <a:xfrm>
            <a:off x="609600" y="3352800"/>
            <a:ext cx="7924800" cy="647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54"/>
          <p:cNvSpPr txBox="1"/>
          <p:nvPr/>
        </p:nvSpPr>
        <p:spPr>
          <a:xfrm>
            <a:off x="749300" y="3365500"/>
            <a:ext cx="17781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Outcome</a:t>
            </a:r>
            <a:endParaRPr b="1" sz="1800">
              <a:solidFill>
                <a:srgbClr val="0B2744"/>
              </a:solidFill>
            </a:endParaRPr>
          </a:p>
        </p:txBody>
      </p:sp>
      <p:sp>
        <p:nvSpPr>
          <p:cNvPr id="762" name="Google Shape;762;p54"/>
          <p:cNvSpPr txBox="1"/>
          <p:nvPr/>
        </p:nvSpPr>
        <p:spPr>
          <a:xfrm>
            <a:off x="2654300" y="3365500"/>
            <a:ext cx="28320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What finally exists</a:t>
            </a:r>
            <a:endParaRPr sz="1700">
              <a:solidFill>
                <a:srgbClr val="0B2744"/>
              </a:solidFill>
            </a:endParaRPr>
          </a:p>
        </p:txBody>
      </p:sp>
      <p:sp>
        <p:nvSpPr>
          <p:cNvPr id="763" name="Google Shape;763;p54"/>
          <p:cNvSpPr txBox="1"/>
          <p:nvPr/>
        </p:nvSpPr>
        <p:spPr>
          <a:xfrm>
            <a:off x="5626100" y="3365500"/>
            <a:ext cx="27813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Saved files or database state.</a:t>
            </a:r>
            <a:endParaRPr sz="1700">
              <a:solidFill>
                <a:srgbClr val="0B2744"/>
              </a:solidFill>
            </a:endParaRPr>
          </a:p>
        </p:txBody>
      </p:sp>
      <p:sp>
        <p:nvSpPr>
          <p:cNvPr id="764" name="Google Shape;764;p54"/>
          <p:cNvSpPr/>
          <p:nvPr/>
        </p:nvSpPr>
        <p:spPr>
          <a:xfrm>
            <a:off x="609600" y="4013200"/>
            <a:ext cx="7924800" cy="647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5" name="Google Shape;765;p54"/>
          <p:cNvSpPr txBox="1"/>
          <p:nvPr/>
        </p:nvSpPr>
        <p:spPr>
          <a:xfrm>
            <a:off x="749300" y="4025900"/>
            <a:ext cx="17781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Grader</a:t>
            </a:r>
            <a:endParaRPr b="1" sz="1800">
              <a:solidFill>
                <a:srgbClr val="0B2744"/>
              </a:solidFill>
            </a:endParaRPr>
          </a:p>
        </p:txBody>
      </p:sp>
      <p:sp>
        <p:nvSpPr>
          <p:cNvPr id="766" name="Google Shape;766;p54"/>
          <p:cNvSpPr txBox="1"/>
          <p:nvPr/>
        </p:nvSpPr>
        <p:spPr>
          <a:xfrm>
            <a:off x="2654300" y="4025900"/>
            <a:ext cx="28320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A scoring method</a:t>
            </a:r>
            <a:endParaRPr sz="1700">
              <a:solidFill>
                <a:srgbClr val="0B2744"/>
              </a:solidFill>
            </a:endParaRPr>
          </a:p>
        </p:txBody>
      </p:sp>
      <p:sp>
        <p:nvSpPr>
          <p:cNvPr id="767" name="Google Shape;767;p54"/>
          <p:cNvSpPr txBox="1"/>
          <p:nvPr/>
        </p:nvSpPr>
        <p:spPr>
          <a:xfrm>
            <a:off x="5626100" y="4025900"/>
            <a:ext cx="27813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Checks a part of the work.</a:t>
            </a:r>
            <a:endParaRPr sz="1700">
              <a:solidFill>
                <a:srgbClr val="0B2744"/>
              </a:solidFill>
            </a:endParaRPr>
          </a:p>
        </p:txBody>
      </p:sp>
      <p:sp>
        <p:nvSpPr>
          <p:cNvPr id="768" name="Google Shape;768;p54"/>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u="sng">
                <a:solidFill>
                  <a:srgbClr val="0B2744"/>
                </a:solidFill>
                <a:hlinkClick r:id="rId3">
                  <a:extLst>
                    <a:ext uri="{A12FA001-AC4F-418D-AE19-62706E023703}">
                      <ahyp:hlinkClr val="tx"/>
                    </a:ext>
                  </a:extLst>
                </a:hlinkClick>
              </a:rPr>
              <a:t>Terminology: Anthropic (2026)</a:t>
            </a:r>
            <a:endParaRPr sz="820" u="sng">
              <a:solidFill>
                <a:srgbClr val="0B2744"/>
              </a:solidFill>
            </a:endParaRPr>
          </a:p>
        </p:txBody>
      </p:sp>
      <p:sp>
        <p:nvSpPr>
          <p:cNvPr id="769" name="Google Shape;769;p54"/>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42</a:t>
            </a:r>
            <a:endParaRPr b="1" sz="900">
              <a:solidFill>
                <a:srgbClr val="738294"/>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55"/>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A concrete evaluation task</a:t>
            </a:r>
            <a:endParaRPr b="1" sz="3000">
              <a:solidFill>
                <a:srgbClr val="0B2744"/>
              </a:solidFill>
            </a:endParaRPr>
          </a:p>
        </p:txBody>
      </p:sp>
      <p:sp>
        <p:nvSpPr>
          <p:cNvPr id="775" name="Google Shape;775;p55"/>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55"/>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Agent’s task</a:t>
            </a:r>
            <a:endParaRPr b="1" sz="2100">
              <a:solidFill>
                <a:srgbClr val="0B2744"/>
              </a:solidFill>
            </a:endParaRPr>
          </a:p>
        </p:txBody>
      </p:sp>
      <p:sp>
        <p:nvSpPr>
          <p:cNvPr id="777" name="Google Shape;777;p55"/>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Read five earnings excerpts. Save one row per ID in features.csv.</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Label current-quarter margin pressure as Present, Absent, or Unclear.</a:t>
            </a:r>
            <a:endParaRPr sz="1800">
              <a:solidFill>
                <a:srgbClr val="0B2744"/>
              </a:solidFill>
            </a:endParaRPr>
          </a:p>
        </p:txBody>
      </p:sp>
      <p:sp>
        <p:nvSpPr>
          <p:cNvPr id="778" name="Google Shape;778;p55"/>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Success criteria</a:t>
            </a:r>
            <a:endParaRPr b="1" sz="2100">
              <a:solidFill>
                <a:srgbClr val="0B2744"/>
              </a:solidFill>
            </a:endParaRPr>
          </a:p>
        </p:txBody>
      </p:sp>
      <p:sp>
        <p:nvSpPr>
          <p:cNvPr id="779" name="Google Shape;779;p55"/>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Every ID appears exactly once.</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Each row has an exact evidence quote and a label supported by that excerpt.</a:t>
            </a:r>
            <a:endParaRPr sz="1800">
              <a:solidFill>
                <a:srgbClr val="0B2744"/>
              </a:solidFill>
            </a:endParaRPr>
          </a:p>
        </p:txBody>
      </p:sp>
      <p:sp>
        <p:nvSpPr>
          <p:cNvPr id="780" name="Google Shape;780;p55"/>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55"/>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What checks would you write before running the agent?</a:t>
            </a:r>
            <a:endParaRPr b="1" sz="1900">
              <a:solidFill>
                <a:srgbClr val="0B2744"/>
              </a:solidFill>
            </a:endParaRPr>
          </a:p>
        </p:txBody>
      </p:sp>
      <p:sp>
        <p:nvSpPr>
          <p:cNvPr id="782" name="Google Shape;782;p55"/>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Synthetic classroom examples. Code and database checks executed locally.</a:t>
            </a:r>
            <a:endParaRPr sz="820">
              <a:solidFill>
                <a:srgbClr val="738294"/>
              </a:solidFill>
            </a:endParaRPr>
          </a:p>
        </p:txBody>
      </p:sp>
      <p:sp>
        <p:nvSpPr>
          <p:cNvPr id="783" name="Google Shape;783;p55"/>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43</a:t>
            </a:r>
            <a:endParaRPr b="1" sz="900">
              <a:solidFill>
                <a:srgbClr val="738294"/>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descr="Illustrative tool transcript, not a captured live model run. The agent reads excerpts, writes candidate-a.csv and claims all five are complete. Open the actual artifact: E01 appears twice, E04 is missing, E03 has a fabricated quote, E02’s label mishandles negation. Five rows alone passes. Ask students to identify two checks before the reveal. The next slide exposes actual checker results on this artifact." id="788" name="Google Shape;788;p56" title="Transcript and outcome"/>
          <p:cNvPicPr preferRelativeResize="0"/>
          <p:nvPr/>
        </p:nvPicPr>
        <p:blipFill>
          <a:blip r:embed="rId3">
            <a:alphaModFix/>
          </a:blip>
          <a:stretch>
            <a:fillRect/>
          </a:stretch>
        </p:blipFill>
        <p:spPr>
          <a:xfrm>
            <a:off x="609600" y="1436370"/>
            <a:ext cx="7924800" cy="3299460"/>
          </a:xfrm>
          <a:prstGeom prst="rect">
            <a:avLst/>
          </a:prstGeom>
          <a:noFill/>
          <a:ln>
            <a:noFill/>
          </a:ln>
        </p:spPr>
      </p:pic>
      <p:sp>
        <p:nvSpPr>
          <p:cNvPr id="789" name="Google Shape;789;p56"/>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Transcript and outcome</a:t>
            </a:r>
            <a:endParaRPr b="1" sz="3000">
              <a:solidFill>
                <a:srgbClr val="0B2744"/>
              </a:solidFill>
            </a:endParaRPr>
          </a:p>
        </p:txBody>
      </p:sp>
      <p:sp>
        <p:nvSpPr>
          <p:cNvPr id="790" name="Google Shape;790;p56"/>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56"/>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Constructed transcript and CSV; saved output checked by code</a:t>
            </a:r>
            <a:endParaRPr sz="820">
              <a:solidFill>
                <a:srgbClr val="738294"/>
              </a:solidFill>
            </a:endParaRPr>
          </a:p>
        </p:txBody>
      </p:sp>
      <p:sp>
        <p:nvSpPr>
          <p:cNvPr id="792" name="Google Shape;792;p56"/>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44</a:t>
            </a:r>
            <a:endParaRPr b="1" sz="900">
              <a:solidFill>
                <a:srgbClr val="738294"/>
              </a:solidFill>
            </a:endParaRPr>
          </a:p>
        </p:txBody>
      </p:sp>
      <p:sp>
        <p:nvSpPr>
          <p:cNvPr id="793" name="Google Shape;793;p56"/>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150" u="sng">
                <a:solidFill>
                  <a:srgbClr val="0B2744"/>
                </a:solidFill>
                <a:hlinkClick action="ppaction://hlinksldjump" r:id="rId4">
                  <a:extLst>
                    <a:ext uri="{A12FA001-AC4F-418D-AE19-62706E023703}">
                      <ahyp:hlinkClr val="tx"/>
                    </a:ext>
                  </a:extLst>
                </a:hlinkClick>
              </a:rPr>
              <a:t>Eval overview</a:t>
            </a:r>
            <a:endParaRPr sz="1150" u="sng">
              <a:solidFill>
                <a:srgbClr val="0B2744"/>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57"/>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Code-based graders</a:t>
            </a:r>
            <a:endParaRPr b="1" sz="3000">
              <a:solidFill>
                <a:srgbClr val="0B2744"/>
              </a:solidFill>
            </a:endParaRPr>
          </a:p>
        </p:txBody>
      </p:sp>
      <p:sp>
        <p:nvSpPr>
          <p:cNvPr id="799" name="Google Shape;799;p57"/>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0" name="Google Shape;800;p57"/>
          <p:cNvSpPr txBox="1"/>
          <p:nvPr/>
        </p:nvSpPr>
        <p:spPr>
          <a:xfrm>
            <a:off x="4635500" y="1371600"/>
            <a:ext cx="38988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Executed result: candidate A</a:t>
            </a:r>
            <a:endParaRPr b="1" sz="2000">
              <a:solidFill>
                <a:srgbClr val="0B2744"/>
              </a:solidFill>
            </a:endParaRPr>
          </a:p>
        </p:txBody>
      </p:sp>
      <p:sp>
        <p:nvSpPr>
          <p:cNvPr id="801" name="Google Shape;801;p57"/>
          <p:cNvSpPr/>
          <p:nvPr/>
        </p:nvSpPr>
        <p:spPr>
          <a:xfrm>
            <a:off x="4635500" y="2171700"/>
            <a:ext cx="3898800" cy="20319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2" name="Google Shape;802;p57"/>
          <p:cNvSpPr txBox="1"/>
          <p:nvPr/>
        </p:nvSpPr>
        <p:spPr>
          <a:xfrm>
            <a:off x="4749800" y="2273300"/>
            <a:ext cx="3670200" cy="1828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row_count   PASS</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IDs         FAIL</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  missing: E04</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  duplicate: E01</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evidence    FAIL</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420">
                <a:solidFill>
                  <a:srgbClr val="0B2744"/>
                </a:solidFill>
                <a:latin typeface="Courier New"/>
                <a:ea typeface="Courier New"/>
                <a:cs typeface="Courier New"/>
                <a:sym typeface="Courier New"/>
              </a:rPr>
              <a:t>  E03 quote absent</a:t>
            </a:r>
            <a:endParaRPr sz="1420">
              <a:solidFill>
                <a:srgbClr val="0B2744"/>
              </a:solidFill>
              <a:latin typeface="Courier New"/>
              <a:ea typeface="Courier New"/>
              <a:cs typeface="Courier New"/>
              <a:sym typeface="Courier New"/>
            </a:endParaRPr>
          </a:p>
        </p:txBody>
      </p:sp>
      <p:sp>
        <p:nvSpPr>
          <p:cNvPr id="803" name="Google Shape;803;p57"/>
          <p:cNvSpPr txBox="1"/>
          <p:nvPr/>
        </p:nvSpPr>
        <p:spPr>
          <a:xfrm>
            <a:off x="609600" y="4381500"/>
            <a:ext cx="7924800" cy="46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A valid shape can still contain wrong evidence.</a:t>
            </a:r>
            <a:endParaRPr b="1" sz="1900">
              <a:solidFill>
                <a:srgbClr val="0B2744"/>
              </a:solidFill>
            </a:endParaRPr>
          </a:p>
        </p:txBody>
      </p:sp>
      <p:sp>
        <p:nvSpPr>
          <p:cNvPr id="804" name="Google Shape;804;p57"/>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Synthetic classroom examples. Code and database checks executed locally.</a:t>
            </a:r>
            <a:endParaRPr sz="820">
              <a:solidFill>
                <a:srgbClr val="738294"/>
              </a:solidFill>
            </a:endParaRPr>
          </a:p>
        </p:txBody>
      </p:sp>
      <p:sp>
        <p:nvSpPr>
          <p:cNvPr id="805" name="Google Shape;805;p57"/>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45</a:t>
            </a:r>
            <a:endParaRPr b="1" sz="900">
              <a:solidFill>
                <a:srgbClr val="738294"/>
              </a:solidFill>
            </a:endParaRPr>
          </a:p>
        </p:txBody>
      </p:sp>
      <p:sp>
        <p:nvSpPr>
          <p:cNvPr id="806" name="Google Shape;806;p57"/>
          <p:cNvSpPr txBox="1"/>
          <p:nvPr/>
        </p:nvSpPr>
        <p:spPr>
          <a:xfrm>
            <a:off x="609600" y="1371600"/>
            <a:ext cx="3708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Checks on the saved CSV</a:t>
            </a:r>
            <a:endParaRPr b="1" sz="2000">
              <a:solidFill>
                <a:srgbClr val="0B2744"/>
              </a:solidFill>
            </a:endParaRPr>
          </a:p>
        </p:txBody>
      </p:sp>
      <p:sp>
        <p:nvSpPr>
          <p:cNvPr id="807" name="Google Shape;807;p57"/>
          <p:cNvSpPr/>
          <p:nvPr/>
        </p:nvSpPr>
        <p:spPr>
          <a:xfrm>
            <a:off x="609600" y="2171700"/>
            <a:ext cx="3708300" cy="2031900"/>
          </a:xfrm>
          <a:prstGeom prst="rect">
            <a:avLst/>
          </a:prstGeom>
          <a:solidFill>
            <a:srgbClr val="F2F5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57"/>
          <p:cNvSpPr txBox="1"/>
          <p:nvPr/>
        </p:nvSpPr>
        <p:spPr>
          <a:xfrm>
            <a:off x="723900" y="2273300"/>
            <a:ext cx="3479700" cy="1828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len(rows) == 5</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(Counter(ids) ==</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 Counter(expected))</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all(q in excerpts[i]</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    for i, q in evidence)</a:t>
            </a:r>
            <a:endParaRPr sz="1420">
              <a:solidFill>
                <a:srgbClr val="0B2744"/>
              </a:solidFill>
              <a:latin typeface="Courier New"/>
              <a:ea typeface="Courier New"/>
              <a:cs typeface="Courier New"/>
              <a:sym typeface="Courier New"/>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58"/>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Model-based graders</a:t>
            </a:r>
            <a:endParaRPr b="1" sz="3000">
              <a:solidFill>
                <a:srgbClr val="0B2744"/>
              </a:solidFill>
            </a:endParaRPr>
          </a:p>
        </p:txBody>
      </p:sp>
      <p:sp>
        <p:nvSpPr>
          <p:cNvPr id="814" name="Google Shape;814;p58"/>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5" name="Google Shape;815;p58"/>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Evidence and rubric</a:t>
            </a:r>
            <a:endParaRPr b="1" sz="2100">
              <a:solidFill>
                <a:srgbClr val="0B2744"/>
              </a:solidFill>
            </a:endParaRPr>
          </a:p>
        </p:txBody>
      </p:sp>
      <p:sp>
        <p:nvSpPr>
          <p:cNvPr id="816" name="Google Shape;816;p58"/>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“Higher freight costs did not reduce margins this quarter.”</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Candidate label: Present</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Does the quote support current-quarter margin pressure?</a:t>
            </a:r>
            <a:endParaRPr sz="1800">
              <a:solidFill>
                <a:srgbClr val="0B2744"/>
              </a:solidFill>
            </a:endParaRPr>
          </a:p>
        </p:txBody>
      </p:sp>
      <p:sp>
        <p:nvSpPr>
          <p:cNvPr id="817" name="Google Shape;817;p58"/>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Illustrative judgment</a:t>
            </a:r>
            <a:endParaRPr b="1" sz="2100">
              <a:solidFill>
                <a:srgbClr val="0B2744"/>
              </a:solidFill>
            </a:endParaRPr>
          </a:p>
        </p:txBody>
      </p:sp>
      <p:sp>
        <p:nvSpPr>
          <p:cNvPr id="818" name="Google Shape;818;p58"/>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supported: false</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expected_label: Absent</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reason: The excerpt explicitly denies a margin reduction.</a:t>
            </a:r>
            <a:endParaRPr sz="1800">
              <a:solidFill>
                <a:srgbClr val="0B2744"/>
              </a:solidFill>
            </a:endParaRPr>
          </a:p>
        </p:txBody>
      </p:sp>
      <p:sp>
        <p:nvSpPr>
          <p:cNvPr id="819" name="Google Shape;819;p58"/>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0" name="Google Shape;820;p58"/>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The quote exists. Its meaning still needs checking.</a:t>
            </a:r>
            <a:endParaRPr b="1" sz="1900">
              <a:solidFill>
                <a:srgbClr val="0B2744"/>
              </a:solidFill>
            </a:endParaRPr>
          </a:p>
        </p:txBody>
      </p:sp>
      <p:sp>
        <p:nvSpPr>
          <p:cNvPr id="821" name="Google Shape;821;p58"/>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Synthetic rubric and illustrative judge response</a:t>
            </a:r>
            <a:endParaRPr sz="820">
              <a:solidFill>
                <a:srgbClr val="738294"/>
              </a:solidFill>
            </a:endParaRPr>
          </a:p>
        </p:txBody>
      </p:sp>
      <p:sp>
        <p:nvSpPr>
          <p:cNvPr id="822" name="Google Shape;822;p58"/>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46</a:t>
            </a:r>
            <a:endParaRPr b="1" sz="900">
              <a:solidFill>
                <a:srgbClr val="738294"/>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59"/>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Human graders and calibration</a:t>
            </a:r>
            <a:endParaRPr b="1" sz="3000">
              <a:solidFill>
                <a:srgbClr val="0B2744"/>
              </a:solidFill>
            </a:endParaRPr>
          </a:p>
        </p:txBody>
      </p:sp>
      <p:sp>
        <p:nvSpPr>
          <p:cNvPr id="828" name="Google Shape;828;p59"/>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9" name="Google Shape;829;p59"/>
          <p:cNvSpPr/>
          <p:nvPr/>
        </p:nvSpPr>
        <p:spPr>
          <a:xfrm>
            <a:off x="609600" y="1460500"/>
            <a:ext cx="7924800" cy="7365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59"/>
          <p:cNvSpPr txBox="1"/>
          <p:nvPr/>
        </p:nvSpPr>
        <p:spPr>
          <a:xfrm>
            <a:off x="749300" y="1498600"/>
            <a:ext cx="17781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Clear decline</a:t>
            </a:r>
            <a:endParaRPr b="1" sz="1800">
              <a:solidFill>
                <a:srgbClr val="0B2744"/>
              </a:solidFill>
            </a:endParaRPr>
          </a:p>
        </p:txBody>
      </p:sp>
      <p:sp>
        <p:nvSpPr>
          <p:cNvPr id="831" name="Google Shape;831;p59"/>
          <p:cNvSpPr txBox="1"/>
          <p:nvPr/>
        </p:nvSpPr>
        <p:spPr>
          <a:xfrm>
            <a:off x="2654300" y="1498600"/>
            <a:ext cx="28320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“Costs reduced margins.”</a:t>
            </a:r>
            <a:endParaRPr sz="1700">
              <a:solidFill>
                <a:srgbClr val="0B2744"/>
              </a:solidFill>
            </a:endParaRPr>
          </a:p>
        </p:txBody>
      </p:sp>
      <p:sp>
        <p:nvSpPr>
          <p:cNvPr id="832" name="Google Shape;832;p59"/>
          <p:cNvSpPr txBox="1"/>
          <p:nvPr/>
        </p:nvSpPr>
        <p:spPr>
          <a:xfrm>
            <a:off x="5626100" y="1498600"/>
            <a:ext cx="2781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Present</a:t>
            </a:r>
            <a:endParaRPr sz="1700">
              <a:solidFill>
                <a:srgbClr val="0B2744"/>
              </a:solidFill>
            </a:endParaRPr>
          </a:p>
        </p:txBody>
      </p:sp>
      <p:sp>
        <p:nvSpPr>
          <p:cNvPr id="833" name="Google Shape;833;p59"/>
          <p:cNvSpPr/>
          <p:nvPr/>
        </p:nvSpPr>
        <p:spPr>
          <a:xfrm>
            <a:off x="609600" y="2247900"/>
            <a:ext cx="7924800" cy="736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4" name="Google Shape;834;p59"/>
          <p:cNvSpPr txBox="1"/>
          <p:nvPr/>
        </p:nvSpPr>
        <p:spPr>
          <a:xfrm>
            <a:off x="749300" y="2286000"/>
            <a:ext cx="17781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Explicit denial</a:t>
            </a:r>
            <a:endParaRPr b="1" sz="1800">
              <a:solidFill>
                <a:srgbClr val="0B2744"/>
              </a:solidFill>
            </a:endParaRPr>
          </a:p>
        </p:txBody>
      </p:sp>
      <p:sp>
        <p:nvSpPr>
          <p:cNvPr id="835" name="Google Shape;835;p59"/>
          <p:cNvSpPr txBox="1"/>
          <p:nvPr/>
        </p:nvSpPr>
        <p:spPr>
          <a:xfrm>
            <a:off x="2654300" y="2286000"/>
            <a:ext cx="28320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“Costs did not reduce margins.”</a:t>
            </a:r>
            <a:endParaRPr sz="1700">
              <a:solidFill>
                <a:srgbClr val="0B2744"/>
              </a:solidFill>
            </a:endParaRPr>
          </a:p>
        </p:txBody>
      </p:sp>
      <p:sp>
        <p:nvSpPr>
          <p:cNvPr id="836" name="Google Shape;836;p59"/>
          <p:cNvSpPr txBox="1"/>
          <p:nvPr/>
        </p:nvSpPr>
        <p:spPr>
          <a:xfrm>
            <a:off x="5626100" y="2286000"/>
            <a:ext cx="2781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Absent</a:t>
            </a:r>
            <a:endParaRPr sz="1700">
              <a:solidFill>
                <a:srgbClr val="0B2744"/>
              </a:solidFill>
            </a:endParaRPr>
          </a:p>
        </p:txBody>
      </p:sp>
      <p:sp>
        <p:nvSpPr>
          <p:cNvPr id="837" name="Google Shape;837;p59"/>
          <p:cNvSpPr/>
          <p:nvPr/>
        </p:nvSpPr>
        <p:spPr>
          <a:xfrm>
            <a:off x="609600" y="3035300"/>
            <a:ext cx="7924800" cy="7365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8" name="Google Shape;838;p59"/>
          <p:cNvSpPr txBox="1"/>
          <p:nvPr/>
        </p:nvSpPr>
        <p:spPr>
          <a:xfrm>
            <a:off x="749300" y="3073400"/>
            <a:ext cx="17781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Time ambiguity</a:t>
            </a:r>
            <a:endParaRPr b="1" sz="1800">
              <a:solidFill>
                <a:srgbClr val="0B2744"/>
              </a:solidFill>
            </a:endParaRPr>
          </a:p>
        </p:txBody>
      </p:sp>
      <p:sp>
        <p:nvSpPr>
          <p:cNvPr id="839" name="Google Shape;839;p59"/>
          <p:cNvSpPr txBox="1"/>
          <p:nvPr/>
        </p:nvSpPr>
        <p:spPr>
          <a:xfrm>
            <a:off x="2654300" y="3073400"/>
            <a:ext cx="28320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“Costs may hurt next quarter.”</a:t>
            </a:r>
            <a:endParaRPr sz="1700">
              <a:solidFill>
                <a:srgbClr val="0B2744"/>
              </a:solidFill>
            </a:endParaRPr>
          </a:p>
        </p:txBody>
      </p:sp>
      <p:sp>
        <p:nvSpPr>
          <p:cNvPr id="840" name="Google Shape;840;p59"/>
          <p:cNvSpPr txBox="1"/>
          <p:nvPr/>
        </p:nvSpPr>
        <p:spPr>
          <a:xfrm>
            <a:off x="5626100" y="3073400"/>
            <a:ext cx="2781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Unclear for this quarter</a:t>
            </a:r>
            <a:endParaRPr sz="1700">
              <a:solidFill>
                <a:srgbClr val="0B2744"/>
              </a:solidFill>
            </a:endParaRPr>
          </a:p>
        </p:txBody>
      </p:sp>
      <p:sp>
        <p:nvSpPr>
          <p:cNvPr id="841" name="Google Shape;841;p59"/>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Illustrative calibration exercise; no measured human study</a:t>
            </a:r>
            <a:endParaRPr sz="820">
              <a:solidFill>
                <a:srgbClr val="738294"/>
              </a:solidFill>
            </a:endParaRPr>
          </a:p>
        </p:txBody>
      </p:sp>
      <p:sp>
        <p:nvSpPr>
          <p:cNvPr id="842" name="Google Shape;842;p59"/>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47</a:t>
            </a:r>
            <a:endParaRPr b="1" sz="900">
              <a:solidFill>
                <a:srgbClr val="738294"/>
              </a:solidFill>
            </a:endParaRPr>
          </a:p>
        </p:txBody>
      </p:sp>
      <p:sp>
        <p:nvSpPr>
          <p:cNvPr id="843" name="Google Shape;843;p59"/>
          <p:cNvSpPr txBox="1"/>
          <p:nvPr/>
        </p:nvSpPr>
        <p:spPr>
          <a:xfrm>
            <a:off x="609600" y="4025900"/>
            <a:ext cx="7924800" cy="73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Disagreement often reveals a missing rule. Here, the period matters.</a:t>
            </a:r>
            <a:endParaRPr b="1" sz="1800">
              <a:solidFill>
                <a:srgbClr val="0B2744"/>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60"/>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Outcome verification</a:t>
            </a:r>
            <a:endParaRPr b="1" sz="3000">
              <a:solidFill>
                <a:srgbClr val="0B2744"/>
              </a:solidFill>
            </a:endParaRPr>
          </a:p>
        </p:txBody>
      </p:sp>
      <p:sp>
        <p:nvSpPr>
          <p:cNvPr id="849" name="Google Shape;849;p60"/>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0" name="Google Shape;850;p60"/>
          <p:cNvSpPr txBox="1"/>
          <p:nvPr/>
        </p:nvSpPr>
        <p:spPr>
          <a:xfrm>
            <a:off x="4635500" y="1371600"/>
            <a:ext cx="38988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Code-based state check</a:t>
            </a:r>
            <a:endParaRPr b="1" sz="2000">
              <a:solidFill>
                <a:srgbClr val="0B2744"/>
              </a:solidFill>
            </a:endParaRPr>
          </a:p>
        </p:txBody>
      </p:sp>
      <p:sp>
        <p:nvSpPr>
          <p:cNvPr id="851" name="Google Shape;851;p60"/>
          <p:cNvSpPr/>
          <p:nvPr/>
        </p:nvSpPr>
        <p:spPr>
          <a:xfrm>
            <a:off x="4635500" y="2171700"/>
            <a:ext cx="3898800" cy="20319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2" name="Google Shape;852;p60"/>
          <p:cNvSpPr txBox="1"/>
          <p:nvPr/>
        </p:nvSpPr>
        <p:spPr>
          <a:xfrm>
            <a:off x="4749800" y="2273300"/>
            <a:ext cx="3670200" cy="1828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SELECT COUNT(*)</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FROM refunds</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WHERE order_id = 'C17'</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  AND amount = 75</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420">
                <a:solidFill>
                  <a:srgbClr val="0B2744"/>
                </a:solidFill>
                <a:latin typeface="Courier New"/>
                <a:ea typeface="Courier New"/>
                <a:cs typeface="Courier New"/>
                <a:sym typeface="Courier New"/>
              </a:rPr>
              <a:t>  AND status = 'completed';</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t/>
            </a:r>
            <a:endParaRPr sz="142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420">
                <a:solidFill>
                  <a:srgbClr val="0B2744"/>
                </a:solidFill>
                <a:latin typeface="Courier New"/>
                <a:ea typeface="Courier New"/>
                <a:cs typeface="Courier New"/>
                <a:sym typeface="Courier New"/>
              </a:rPr>
              <a:t>result: 0    FAIL</a:t>
            </a:r>
            <a:endParaRPr sz="1420">
              <a:solidFill>
                <a:srgbClr val="0B2744"/>
              </a:solidFill>
              <a:latin typeface="Courier New"/>
              <a:ea typeface="Courier New"/>
              <a:cs typeface="Courier New"/>
              <a:sym typeface="Courier New"/>
            </a:endParaRPr>
          </a:p>
        </p:txBody>
      </p:sp>
      <p:sp>
        <p:nvSpPr>
          <p:cNvPr id="853" name="Google Shape;853;p60"/>
          <p:cNvSpPr txBox="1"/>
          <p:nvPr/>
        </p:nvSpPr>
        <p:spPr>
          <a:xfrm>
            <a:off x="609600" y="4381500"/>
            <a:ext cx="7924800" cy="46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The verifier checks the changed world.</a:t>
            </a:r>
            <a:endParaRPr b="1" sz="1900">
              <a:solidFill>
                <a:srgbClr val="0B2744"/>
              </a:solidFill>
            </a:endParaRPr>
          </a:p>
        </p:txBody>
      </p:sp>
      <p:sp>
        <p:nvSpPr>
          <p:cNvPr id="854" name="Google Shape;854;p60"/>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Executed query against a local synthetic SQLite database</a:t>
            </a:r>
            <a:endParaRPr sz="820">
              <a:solidFill>
                <a:srgbClr val="738294"/>
              </a:solidFill>
            </a:endParaRPr>
          </a:p>
        </p:txBody>
      </p:sp>
      <p:sp>
        <p:nvSpPr>
          <p:cNvPr id="855" name="Google Shape;855;p60"/>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48</a:t>
            </a:r>
            <a:endParaRPr b="1" sz="900">
              <a:solidFill>
                <a:srgbClr val="738294"/>
              </a:solidFill>
            </a:endParaRPr>
          </a:p>
        </p:txBody>
      </p:sp>
      <p:sp>
        <p:nvSpPr>
          <p:cNvPr id="856" name="Google Shape;856;p60"/>
          <p:cNvSpPr txBox="1"/>
          <p:nvPr/>
        </p:nvSpPr>
        <p:spPr>
          <a:xfrm>
            <a:off x="609600" y="1371600"/>
            <a:ext cx="3708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Agent claim: “Refund completed.”</a:t>
            </a:r>
            <a:endParaRPr b="1" sz="2000">
              <a:solidFill>
                <a:srgbClr val="0B2744"/>
              </a:solidFill>
            </a:endParaRPr>
          </a:p>
        </p:txBody>
      </p:sp>
      <p:sp>
        <p:nvSpPr>
          <p:cNvPr id="857" name="Google Shape;857;p60"/>
          <p:cNvSpPr/>
          <p:nvPr/>
        </p:nvSpPr>
        <p:spPr>
          <a:xfrm>
            <a:off x="609600" y="2171700"/>
            <a:ext cx="3708300" cy="2031900"/>
          </a:xfrm>
          <a:prstGeom prst="rect">
            <a:avLst/>
          </a:prstGeom>
          <a:solidFill>
            <a:srgbClr val="F2F5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8" name="Google Shape;858;p60"/>
          <p:cNvSpPr txBox="1"/>
          <p:nvPr/>
        </p:nvSpPr>
        <p:spPr>
          <a:xfrm>
            <a:off x="723900" y="2273300"/>
            <a:ext cx="3479700" cy="1828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Saved database state</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order_id    C17</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amount      75</a:t>
            </a:r>
            <a:endParaRPr sz="1420">
              <a:solidFill>
                <a:srgbClr val="0B2744"/>
              </a:solidFill>
              <a:latin typeface="Courier New"/>
              <a:ea typeface="Courier New"/>
              <a:cs typeface="Courier New"/>
              <a:sym typeface="Courier New"/>
            </a:endParaRPr>
          </a:p>
          <a:p>
            <a:pPr indent="0" lvl="0" marL="0" rtl="0" algn="l">
              <a:lnSpc>
                <a:spcPct val="110000"/>
              </a:lnSpc>
              <a:spcBef>
                <a:spcPts val="0"/>
              </a:spcBef>
              <a:spcAft>
                <a:spcPts val="0"/>
              </a:spcAft>
              <a:buNone/>
            </a:pPr>
            <a:r>
              <a:rPr lang="en" sz="1420">
                <a:solidFill>
                  <a:srgbClr val="0B2744"/>
                </a:solidFill>
                <a:latin typeface="Courier New"/>
                <a:ea typeface="Courier New"/>
                <a:cs typeface="Courier New"/>
                <a:sym typeface="Courier New"/>
              </a:rPr>
              <a:t>status      pending</a:t>
            </a:r>
            <a:endParaRPr sz="1420">
              <a:solidFill>
                <a:srgbClr val="0B2744"/>
              </a:solidFill>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pic>
        <p:nvPicPr>
          <p:cNvPr descr="Candidate A passes file existence, schema and row count, but fails IDs, evidence and labels. Keep the six diagnostic grades visible. For this illustrative task use a strict success reward: reward 1 only when all required checks pass, otherwise 0. This intentionally gives A reward 0 even with 3/6 checks passed. Partial diagnostics remain useful for learning where it failed. A different task might use carefully designed partial reward. An eval can report these scores without changing weights. A trainer can consume graded rollouts to build an RL objective and update weights separately. External code tests are not differentiated through. Reward quality depends on verifier quality." id="863" name="Google Shape;863;p61" title="Grades and reward signals"/>
          <p:cNvPicPr preferRelativeResize="0"/>
          <p:nvPr/>
        </p:nvPicPr>
        <p:blipFill>
          <a:blip r:embed="rId3">
            <a:alphaModFix/>
          </a:blip>
          <a:stretch>
            <a:fillRect/>
          </a:stretch>
        </p:blipFill>
        <p:spPr>
          <a:xfrm>
            <a:off x="609600" y="1436370"/>
            <a:ext cx="7924800" cy="3299460"/>
          </a:xfrm>
          <a:prstGeom prst="rect">
            <a:avLst/>
          </a:prstGeom>
          <a:noFill/>
          <a:ln>
            <a:noFill/>
          </a:ln>
        </p:spPr>
      </p:pic>
      <p:sp>
        <p:nvSpPr>
          <p:cNvPr id="864" name="Google Shape;864;p61"/>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Grades and reward signals</a:t>
            </a:r>
            <a:endParaRPr b="1" sz="3000">
              <a:solidFill>
                <a:srgbClr val="0B2744"/>
              </a:solidFill>
            </a:endParaRPr>
          </a:p>
        </p:txBody>
      </p:sp>
      <p:sp>
        <p:nvSpPr>
          <p:cNvPr id="865" name="Google Shape;865;p61"/>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6" name="Google Shape;866;p61"/>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Executed fixture grades; illustrative reward policy</a:t>
            </a:r>
            <a:endParaRPr sz="820">
              <a:solidFill>
                <a:srgbClr val="738294"/>
              </a:solidFill>
            </a:endParaRPr>
          </a:p>
        </p:txBody>
      </p:sp>
      <p:sp>
        <p:nvSpPr>
          <p:cNvPr id="867" name="Google Shape;867;p61"/>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49</a:t>
            </a:r>
            <a:endParaRPr b="1" sz="900">
              <a:solidFill>
                <a:srgbClr val="738294"/>
              </a:solidFill>
            </a:endParaRPr>
          </a:p>
        </p:txBody>
      </p:sp>
      <p:sp>
        <p:nvSpPr>
          <p:cNvPr id="868" name="Google Shape;868;p61"/>
          <p:cNvSpPr txBox="1"/>
          <p:nvPr/>
        </p:nvSpPr>
        <p:spPr>
          <a:xfrm>
            <a:off x="6731000" y="1155700"/>
            <a:ext cx="18033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150" u="sng">
                <a:solidFill>
                  <a:srgbClr val="0B2744"/>
                </a:solidFill>
                <a:hlinkClick action="ppaction://hlinksldjump" r:id="rId4">
                  <a:extLst>
                    <a:ext uri="{A12FA001-AC4F-418D-AE19-62706E023703}">
                      <ahyp:hlinkClr val="tx"/>
                    </a:ext>
                  </a:extLst>
                </a:hlinkClick>
              </a:rPr>
              <a:t>Eval overview</a:t>
            </a:r>
            <a:endParaRPr sz="1150" u="sng">
              <a:solidFill>
                <a:srgbClr val="0B2744"/>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pic>
        <p:nvPicPr>
          <p:cNvPr descr="For three independent trials, each with identical success probability .8, pass@3 = 1-(1-.8)^3 = .992 measures at least one successful attempt. pass^3 = .8^3 = .512 measures all three successful attempts. These are mathematical illustrations, not measured agent benchmark results. Dependence or differing task difficulty invalidates this simple calculation. Repeat actual trials with recorded conditions and report task-level variation and uncertainty. At least one success is useful when retry and selection are possible. Consistency matters in repeated workflows. Terminology: Anthropic and tau-bench https://arxiv.org/abs/2406.12045" id="873" name="Google Shape;873;p62" title="Reliability across trials"/>
          <p:cNvPicPr preferRelativeResize="0"/>
          <p:nvPr/>
        </p:nvPicPr>
        <p:blipFill>
          <a:blip r:embed="rId3">
            <a:alphaModFix/>
          </a:blip>
          <a:stretch>
            <a:fillRect/>
          </a:stretch>
        </p:blipFill>
        <p:spPr>
          <a:xfrm>
            <a:off x="622300" y="1397000"/>
            <a:ext cx="3708399" cy="3189223"/>
          </a:xfrm>
          <a:prstGeom prst="rect">
            <a:avLst/>
          </a:prstGeom>
          <a:noFill/>
          <a:ln>
            <a:noFill/>
          </a:ln>
        </p:spPr>
      </p:pic>
      <p:sp>
        <p:nvSpPr>
          <p:cNvPr id="874" name="Google Shape;874;p62"/>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Reliability across trials</a:t>
            </a:r>
            <a:endParaRPr b="1" sz="3000">
              <a:solidFill>
                <a:srgbClr val="0B2744"/>
              </a:solidFill>
            </a:endParaRPr>
          </a:p>
        </p:txBody>
      </p:sp>
      <p:sp>
        <p:nvSpPr>
          <p:cNvPr id="875" name="Google Shape;875;p62"/>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p62"/>
          <p:cNvSpPr txBox="1"/>
          <p:nvPr/>
        </p:nvSpPr>
        <p:spPr>
          <a:xfrm>
            <a:off x="4635500" y="1409700"/>
            <a:ext cx="3898800" cy="863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000">
                <a:solidFill>
                  <a:srgbClr val="0B2744"/>
                </a:solidFill>
              </a:rPr>
              <a:t>Each attempt succeeds with probability 80%.</a:t>
            </a:r>
            <a:endParaRPr b="1" sz="2000">
              <a:solidFill>
                <a:srgbClr val="0B2744"/>
              </a:solidFill>
            </a:endParaRPr>
          </a:p>
        </p:txBody>
      </p:sp>
      <p:sp>
        <p:nvSpPr>
          <p:cNvPr id="877" name="Google Shape;877;p62"/>
          <p:cNvSpPr/>
          <p:nvPr/>
        </p:nvSpPr>
        <p:spPr>
          <a:xfrm>
            <a:off x="4635500" y="2413000"/>
            <a:ext cx="3898800" cy="14097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8" name="Google Shape;878;p62"/>
          <p:cNvSpPr txBox="1"/>
          <p:nvPr/>
        </p:nvSpPr>
        <p:spPr>
          <a:xfrm>
            <a:off x="4749800" y="2514600"/>
            <a:ext cx="3670200" cy="1219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600">
                <a:solidFill>
                  <a:srgbClr val="0B2744"/>
                </a:solidFill>
                <a:latin typeface="Courier New"/>
                <a:ea typeface="Courier New"/>
                <a:cs typeface="Courier New"/>
                <a:sym typeface="Courier New"/>
              </a:rPr>
              <a:t>pass@3 = 1 − (1 − p)³</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rPr lang="en" sz="1600">
                <a:solidFill>
                  <a:srgbClr val="0B2744"/>
                </a:solidFill>
                <a:latin typeface="Courier New"/>
                <a:ea typeface="Courier New"/>
                <a:cs typeface="Courier New"/>
                <a:sym typeface="Courier New"/>
              </a:rPr>
              <a:t>       = 99.2%</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0"/>
              </a:spcAft>
              <a:buNone/>
            </a:pPr>
            <a:r>
              <a:t/>
            </a:r>
            <a:endParaRPr sz="1600">
              <a:solidFill>
                <a:srgbClr val="0B2744"/>
              </a:solidFill>
              <a:latin typeface="Courier New"/>
              <a:ea typeface="Courier New"/>
              <a:cs typeface="Courier New"/>
              <a:sym typeface="Courier New"/>
            </a:endParaRPr>
          </a:p>
          <a:p>
            <a:pPr indent="0" lvl="0" marL="0" rtl="0" algn="l">
              <a:lnSpc>
                <a:spcPct val="110000"/>
              </a:lnSpc>
              <a:spcBef>
                <a:spcPts val="200"/>
              </a:spcBef>
              <a:spcAft>
                <a:spcPts val="200"/>
              </a:spcAft>
              <a:buNone/>
            </a:pPr>
            <a:r>
              <a:rPr lang="en" sz="1600">
                <a:solidFill>
                  <a:srgbClr val="0B2744"/>
                </a:solidFill>
                <a:latin typeface="Courier New"/>
                <a:ea typeface="Courier New"/>
                <a:cs typeface="Courier New"/>
                <a:sym typeface="Courier New"/>
              </a:rPr>
              <a:t>pass^3 = p³ = 51.2%</a:t>
            </a:r>
            <a:endParaRPr sz="1600">
              <a:solidFill>
                <a:srgbClr val="0B2744"/>
              </a:solidFill>
              <a:latin typeface="Courier New"/>
              <a:ea typeface="Courier New"/>
              <a:cs typeface="Courier New"/>
              <a:sym typeface="Courier New"/>
            </a:endParaRPr>
          </a:p>
        </p:txBody>
      </p:sp>
      <p:sp>
        <p:nvSpPr>
          <p:cNvPr id="879" name="Google Shape;879;p62"/>
          <p:cNvSpPr txBox="1"/>
          <p:nvPr/>
        </p:nvSpPr>
        <p:spPr>
          <a:xfrm>
            <a:off x="4635500" y="3924300"/>
            <a:ext cx="3898800" cy="901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At least one success and consistent success answer different questions.</a:t>
            </a:r>
            <a:endParaRPr sz="1700">
              <a:solidFill>
                <a:srgbClr val="0B2744"/>
              </a:solidFill>
            </a:endParaRPr>
          </a:p>
        </p:txBody>
      </p:sp>
      <p:sp>
        <p:nvSpPr>
          <p:cNvPr id="880" name="Google Shape;880;p62"/>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Computed illustration: independent trials, p = 0.80</a:t>
            </a:r>
            <a:endParaRPr sz="820">
              <a:solidFill>
                <a:srgbClr val="738294"/>
              </a:solidFill>
            </a:endParaRPr>
          </a:p>
        </p:txBody>
      </p:sp>
      <p:sp>
        <p:nvSpPr>
          <p:cNvPr id="881" name="Google Shape;881;p62"/>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50</a:t>
            </a:r>
            <a:endParaRPr b="1" sz="900">
              <a:solidFill>
                <a:srgbClr val="738294"/>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63"/>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Capability and regression evals</a:t>
            </a:r>
            <a:endParaRPr b="1" sz="3000">
              <a:solidFill>
                <a:srgbClr val="0B2744"/>
              </a:solidFill>
            </a:endParaRPr>
          </a:p>
        </p:txBody>
      </p:sp>
      <p:sp>
        <p:nvSpPr>
          <p:cNvPr id="887" name="Google Shape;887;p63"/>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8" name="Google Shape;888;p63"/>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Capability evals</a:t>
            </a:r>
            <a:endParaRPr b="1" sz="2100">
              <a:solidFill>
                <a:srgbClr val="0B2744"/>
              </a:solidFill>
            </a:endParaRPr>
          </a:p>
        </p:txBody>
      </p:sp>
      <p:sp>
        <p:nvSpPr>
          <p:cNvPr id="889" name="Google Shape;889;p63"/>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Probe harder work the agent still struggles with.</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Mixed evidence, negation, time periods, and multiple documents.</a:t>
            </a:r>
            <a:endParaRPr sz="1800">
              <a:solidFill>
                <a:srgbClr val="0B2744"/>
              </a:solidFill>
            </a:endParaRPr>
          </a:p>
        </p:txBody>
      </p:sp>
      <p:sp>
        <p:nvSpPr>
          <p:cNvPr id="890" name="Google Shape;890;p63"/>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Regression evals</a:t>
            </a:r>
            <a:endParaRPr b="1" sz="2100">
              <a:solidFill>
                <a:srgbClr val="0B2744"/>
              </a:solidFill>
            </a:endParaRPr>
          </a:p>
        </p:txBody>
      </p:sp>
      <p:sp>
        <p:nvSpPr>
          <p:cNvPr id="891" name="Google Shape;891;p63"/>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Protect work the agent already handles.</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Required IDs, exact quotes, clear labels, and saved output.</a:t>
            </a:r>
            <a:endParaRPr sz="1800">
              <a:solidFill>
                <a:srgbClr val="0B2744"/>
              </a:solidFill>
            </a:endParaRPr>
          </a:p>
        </p:txBody>
      </p:sp>
      <p:sp>
        <p:nvSpPr>
          <p:cNvPr id="892" name="Google Shape;892;p63"/>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3" name="Google Shape;893;p63"/>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A useful suite includes clear successes and difficult cases.</a:t>
            </a:r>
            <a:endParaRPr b="1" sz="1900">
              <a:solidFill>
                <a:srgbClr val="0B2744"/>
              </a:solidFill>
            </a:endParaRPr>
          </a:p>
        </p:txBody>
      </p:sp>
      <p:sp>
        <p:nvSpPr>
          <p:cNvPr id="894" name="Google Shape;894;p63"/>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u="sng">
                <a:solidFill>
                  <a:srgbClr val="0B2744"/>
                </a:solidFill>
                <a:hlinkClick r:id="rId3">
                  <a:extLst>
                    <a:ext uri="{A12FA001-AC4F-418D-AE19-62706E023703}">
                      <ahyp:hlinkClr val="tx"/>
                    </a:ext>
                  </a:extLst>
                </a:hlinkClick>
              </a:rPr>
              <a:t>Terminology: Anthropic; synthetic earnings tasks</a:t>
            </a:r>
            <a:endParaRPr sz="820" u="sng">
              <a:solidFill>
                <a:srgbClr val="0B2744"/>
              </a:solidFill>
            </a:endParaRPr>
          </a:p>
        </p:txBody>
      </p:sp>
      <p:sp>
        <p:nvSpPr>
          <p:cNvPr id="895" name="Google Shape;895;p63"/>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51</a:t>
            </a:r>
            <a:endParaRPr b="1" sz="900">
              <a:solidFill>
                <a:srgbClr val="738294"/>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pic>
        <p:nvPicPr>
          <p:cNvPr descr="Authentic Anthropic roadmap, unaltered. Begin with real manual checks and observed failures. Our CSV case becomes a precise task with reference rows and balanced cases. The harness resets files, records traces and grades artifacts independently. Maintain the suite by reading failures and adding harder tasks when it saturates. Treat the source image as a roadmap to revisit. Our next slide gives a concrete local workflow rather than restating all article steps." id="900" name="Google Shape;900;p64" title="Building an evaluation suite"/>
          <p:cNvPicPr preferRelativeResize="0"/>
          <p:nvPr/>
        </p:nvPicPr>
        <p:blipFill>
          <a:blip r:embed="rId3">
            <a:alphaModFix/>
          </a:blip>
          <a:stretch>
            <a:fillRect/>
          </a:stretch>
        </p:blipFill>
        <p:spPr>
          <a:xfrm>
            <a:off x="1397000" y="1270212"/>
            <a:ext cx="6349997" cy="3573527"/>
          </a:xfrm>
          <a:prstGeom prst="rect">
            <a:avLst/>
          </a:prstGeom>
          <a:noFill/>
          <a:ln>
            <a:noFill/>
          </a:ln>
        </p:spPr>
      </p:pic>
      <p:sp>
        <p:nvSpPr>
          <p:cNvPr id="901" name="Google Shape;901;p64"/>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Building an evaluation suite</a:t>
            </a:r>
            <a:endParaRPr b="1" sz="3000">
              <a:solidFill>
                <a:srgbClr val="0B2744"/>
              </a:solidFill>
            </a:endParaRPr>
          </a:p>
        </p:txBody>
      </p:sp>
      <p:sp>
        <p:nvSpPr>
          <p:cNvPr id="902" name="Google Shape;902;p64"/>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3" name="Google Shape;903;p64"/>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u="sng">
                <a:solidFill>
                  <a:srgbClr val="0B2744"/>
                </a:solidFill>
                <a:hlinkClick r:id="rId4">
                  <a:extLst>
                    <a:ext uri="{A12FA001-AC4F-418D-AE19-62706E023703}">
                      <ahyp:hlinkClr val="tx"/>
                    </a:ext>
                  </a:extLst>
                </a:hlinkClick>
              </a:rPr>
              <a:t>Anthropic, Demystifying evals for AI agents (2026)</a:t>
            </a:r>
            <a:endParaRPr sz="820" u="sng">
              <a:solidFill>
                <a:srgbClr val="0B2744"/>
              </a:solidFill>
            </a:endParaRPr>
          </a:p>
        </p:txBody>
      </p:sp>
      <p:sp>
        <p:nvSpPr>
          <p:cNvPr id="904" name="Google Shape;904;p64"/>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52</a:t>
            </a:r>
            <a:endParaRPr b="1" sz="900">
              <a:solidFill>
                <a:srgbClr val="738294"/>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65"/>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An eval-driven improvement cycle</a:t>
            </a:r>
            <a:endParaRPr b="1" sz="3000">
              <a:solidFill>
                <a:srgbClr val="0B2744"/>
              </a:solidFill>
            </a:endParaRPr>
          </a:p>
        </p:txBody>
      </p:sp>
      <p:sp>
        <p:nvSpPr>
          <p:cNvPr id="910" name="Google Shape;910;p65"/>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65"/>
          <p:cNvSpPr/>
          <p:nvPr/>
        </p:nvSpPr>
        <p:spPr>
          <a:xfrm>
            <a:off x="609600" y="1460500"/>
            <a:ext cx="7924800" cy="7365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65"/>
          <p:cNvSpPr txBox="1"/>
          <p:nvPr/>
        </p:nvSpPr>
        <p:spPr>
          <a:xfrm>
            <a:off x="749300" y="1498600"/>
            <a:ext cx="17781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Inspect failure</a:t>
            </a:r>
            <a:endParaRPr b="1" sz="1800">
              <a:solidFill>
                <a:srgbClr val="0B2744"/>
              </a:solidFill>
            </a:endParaRPr>
          </a:p>
        </p:txBody>
      </p:sp>
      <p:sp>
        <p:nvSpPr>
          <p:cNvPr id="913" name="Google Shape;913;p65"/>
          <p:cNvSpPr txBox="1"/>
          <p:nvPr/>
        </p:nvSpPr>
        <p:spPr>
          <a:xfrm>
            <a:off x="2654300" y="1498600"/>
            <a:ext cx="28320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A: duplicate and fake quote</a:t>
            </a:r>
            <a:endParaRPr sz="1700">
              <a:solidFill>
                <a:srgbClr val="0B2744"/>
              </a:solidFill>
            </a:endParaRPr>
          </a:p>
        </p:txBody>
      </p:sp>
      <p:sp>
        <p:nvSpPr>
          <p:cNvPr id="914" name="Google Shape;914;p65"/>
          <p:cNvSpPr txBox="1"/>
          <p:nvPr/>
        </p:nvSpPr>
        <p:spPr>
          <a:xfrm>
            <a:off x="5626100" y="1498600"/>
            <a:ext cx="2781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IDs FAIL, evidence FAIL</a:t>
            </a:r>
            <a:endParaRPr sz="1700">
              <a:solidFill>
                <a:srgbClr val="0B2744"/>
              </a:solidFill>
            </a:endParaRPr>
          </a:p>
        </p:txBody>
      </p:sp>
      <p:sp>
        <p:nvSpPr>
          <p:cNvPr id="915" name="Google Shape;915;p65"/>
          <p:cNvSpPr/>
          <p:nvPr/>
        </p:nvSpPr>
        <p:spPr>
          <a:xfrm>
            <a:off x="609600" y="2247900"/>
            <a:ext cx="7924800" cy="736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6" name="Google Shape;916;p65"/>
          <p:cNvSpPr txBox="1"/>
          <p:nvPr/>
        </p:nvSpPr>
        <p:spPr>
          <a:xfrm>
            <a:off x="749300" y="2286000"/>
            <a:ext cx="17781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Revise the skill</a:t>
            </a:r>
            <a:endParaRPr b="1" sz="1800">
              <a:solidFill>
                <a:srgbClr val="0B2744"/>
              </a:solidFill>
            </a:endParaRPr>
          </a:p>
        </p:txBody>
      </p:sp>
      <p:sp>
        <p:nvSpPr>
          <p:cNvPr id="917" name="Google Shape;917;p65"/>
          <p:cNvSpPr txBox="1"/>
          <p:nvPr/>
        </p:nvSpPr>
        <p:spPr>
          <a:xfrm>
            <a:off x="2654300" y="2286000"/>
            <a:ext cx="28320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Require ID and quote checks</a:t>
            </a:r>
            <a:endParaRPr sz="1700">
              <a:solidFill>
                <a:srgbClr val="0B2744"/>
              </a:solidFill>
            </a:endParaRPr>
          </a:p>
        </p:txBody>
      </p:sp>
      <p:sp>
        <p:nvSpPr>
          <p:cNvPr id="918" name="Google Shape;918;p65"/>
          <p:cNvSpPr txBox="1"/>
          <p:nvPr/>
        </p:nvSpPr>
        <p:spPr>
          <a:xfrm>
            <a:off x="5626100" y="2286000"/>
            <a:ext cx="2781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Same task and grader</a:t>
            </a:r>
            <a:endParaRPr sz="1700">
              <a:solidFill>
                <a:srgbClr val="0B2744"/>
              </a:solidFill>
            </a:endParaRPr>
          </a:p>
        </p:txBody>
      </p:sp>
      <p:sp>
        <p:nvSpPr>
          <p:cNvPr id="919" name="Google Shape;919;p65"/>
          <p:cNvSpPr/>
          <p:nvPr/>
        </p:nvSpPr>
        <p:spPr>
          <a:xfrm>
            <a:off x="609600" y="3035300"/>
            <a:ext cx="7924800" cy="736500"/>
          </a:xfrm>
          <a:prstGeom prst="rect">
            <a:avLst/>
          </a:prstGeom>
          <a:solidFill>
            <a:srgbClr val="F2F6F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0" name="Google Shape;920;p65"/>
          <p:cNvSpPr txBox="1"/>
          <p:nvPr/>
        </p:nvSpPr>
        <p:spPr>
          <a:xfrm>
            <a:off x="749300" y="3073400"/>
            <a:ext cx="17781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Test the revision</a:t>
            </a:r>
            <a:endParaRPr b="1" sz="1800">
              <a:solidFill>
                <a:srgbClr val="0B2744"/>
              </a:solidFill>
            </a:endParaRPr>
          </a:p>
        </p:txBody>
      </p:sp>
      <p:sp>
        <p:nvSpPr>
          <p:cNvPr id="921" name="Google Shape;921;p65"/>
          <p:cNvSpPr txBox="1"/>
          <p:nvPr/>
        </p:nvSpPr>
        <p:spPr>
          <a:xfrm>
            <a:off x="2654300" y="3073400"/>
            <a:ext cx="28320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B: all references correct</a:t>
            </a:r>
            <a:endParaRPr sz="1700">
              <a:solidFill>
                <a:srgbClr val="0B2744"/>
              </a:solidFill>
            </a:endParaRPr>
          </a:p>
        </p:txBody>
      </p:sp>
      <p:sp>
        <p:nvSpPr>
          <p:cNvPr id="922" name="Google Shape;922;p65"/>
          <p:cNvSpPr txBox="1"/>
          <p:nvPr/>
        </p:nvSpPr>
        <p:spPr>
          <a:xfrm>
            <a:off x="5626100" y="3073400"/>
            <a:ext cx="2781300" cy="6603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700">
                <a:solidFill>
                  <a:srgbClr val="0B2744"/>
                </a:solidFill>
              </a:rPr>
              <a:t>All six checks PASS</a:t>
            </a:r>
            <a:endParaRPr sz="1700">
              <a:solidFill>
                <a:srgbClr val="0B2744"/>
              </a:solidFill>
            </a:endParaRPr>
          </a:p>
        </p:txBody>
      </p:sp>
      <p:sp>
        <p:nvSpPr>
          <p:cNvPr id="923" name="Google Shape;923;p65"/>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Two constructed candidate artifacts, checked by the same code</a:t>
            </a:r>
            <a:endParaRPr sz="820">
              <a:solidFill>
                <a:srgbClr val="738294"/>
              </a:solidFill>
            </a:endParaRPr>
          </a:p>
        </p:txBody>
      </p:sp>
      <p:sp>
        <p:nvSpPr>
          <p:cNvPr id="924" name="Google Shape;924;p65"/>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53</a:t>
            </a:r>
            <a:endParaRPr b="1" sz="900">
              <a:solidFill>
                <a:srgbClr val="738294"/>
              </a:solidFill>
            </a:endParaRPr>
          </a:p>
        </p:txBody>
      </p:sp>
      <p:sp>
        <p:nvSpPr>
          <p:cNvPr id="925" name="Google Shape;925;p65"/>
          <p:cNvSpPr txBox="1"/>
          <p:nvPr/>
        </p:nvSpPr>
        <p:spPr>
          <a:xfrm>
            <a:off x="609600" y="4025900"/>
            <a:ext cx="7924800" cy="736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800">
                <a:solidFill>
                  <a:srgbClr val="0B2744"/>
                </a:solidFill>
              </a:rPr>
              <a:t>This demonstrates the workflow. Repeated held-out trials would test whether the agent improved.</a:t>
            </a:r>
            <a:endParaRPr b="1" sz="1800">
              <a:solidFill>
                <a:srgbClr val="0B2744"/>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66"/>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Development and held-out tasks</a:t>
            </a:r>
            <a:endParaRPr b="1" sz="3000">
              <a:solidFill>
                <a:srgbClr val="0B2744"/>
              </a:solidFill>
            </a:endParaRPr>
          </a:p>
        </p:txBody>
      </p:sp>
      <p:sp>
        <p:nvSpPr>
          <p:cNvPr id="931" name="Google Shape;931;p66"/>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66"/>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Development suite</a:t>
            </a:r>
            <a:endParaRPr b="1" sz="2100">
              <a:solidFill>
                <a:srgbClr val="0B2744"/>
              </a:solidFill>
            </a:endParaRPr>
          </a:p>
        </p:txBody>
      </p:sp>
      <p:sp>
        <p:nvSpPr>
          <p:cNvPr id="933" name="Google Shape;933;p66"/>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Use failures to improve prompts, skills, tools, or the harness.</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Repeated inspection makes these tasks part of development.</a:t>
            </a:r>
            <a:endParaRPr sz="1800">
              <a:solidFill>
                <a:srgbClr val="0B2744"/>
              </a:solidFill>
            </a:endParaRPr>
          </a:p>
        </p:txBody>
      </p:sp>
      <p:sp>
        <p:nvSpPr>
          <p:cNvPr id="934" name="Google Shape;934;p66"/>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Held-out evaluation</a:t>
            </a:r>
            <a:endParaRPr b="1" sz="2100">
              <a:solidFill>
                <a:srgbClr val="0B2744"/>
              </a:solidFill>
            </a:endParaRPr>
          </a:p>
        </p:txBody>
      </p:sp>
      <p:sp>
        <p:nvSpPr>
          <p:cNvPr id="935" name="Google Shape;935;p66"/>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Freeze separate tasks and references before tuning.</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Use them to check whether improvements carry to new work.</a:t>
            </a:r>
            <a:endParaRPr sz="1800">
              <a:solidFill>
                <a:srgbClr val="0B2744"/>
              </a:solidFill>
            </a:endParaRPr>
          </a:p>
        </p:txBody>
      </p:sp>
      <p:sp>
        <p:nvSpPr>
          <p:cNvPr id="936" name="Google Shape;936;p66"/>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66"/>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For financial tasks, split by time and keep future data out.</a:t>
            </a:r>
            <a:endParaRPr b="1" sz="1900">
              <a:solidFill>
                <a:srgbClr val="0B2744"/>
              </a:solidFill>
            </a:endParaRPr>
          </a:p>
        </p:txBody>
      </p:sp>
      <p:sp>
        <p:nvSpPr>
          <p:cNvPr id="938" name="Google Shape;938;p66"/>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Evaluation design; classroom financial-research example</a:t>
            </a:r>
            <a:endParaRPr sz="820">
              <a:solidFill>
                <a:srgbClr val="738294"/>
              </a:solidFill>
            </a:endParaRPr>
          </a:p>
        </p:txBody>
      </p:sp>
      <p:sp>
        <p:nvSpPr>
          <p:cNvPr id="939" name="Google Shape;939;p66"/>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54</a:t>
            </a:r>
            <a:endParaRPr b="1" sz="900">
              <a:solidFill>
                <a:srgbClr val="738294"/>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67"/>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PsychBench: outcomes and behavior</a:t>
            </a:r>
            <a:endParaRPr b="1" sz="3000">
              <a:solidFill>
                <a:srgbClr val="0B2744"/>
              </a:solidFill>
            </a:endParaRPr>
          </a:p>
        </p:txBody>
      </p:sp>
      <p:sp>
        <p:nvSpPr>
          <p:cNvPr id="945" name="Google Shape;945;p67"/>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6" name="Google Shape;946;p67"/>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Game outcomes</a:t>
            </a:r>
            <a:endParaRPr b="1" sz="2100">
              <a:solidFill>
                <a:srgbClr val="0B2744"/>
              </a:solidFill>
            </a:endParaRPr>
          </a:p>
        </p:txBody>
      </p:sp>
      <p:sp>
        <p:nvSpPr>
          <p:cNvPr id="947" name="Google Shape;947;p67"/>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A controlled poker environment produces actions and game results.</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Measure chip returns and win rates.</a:t>
            </a:r>
            <a:endParaRPr sz="1800">
              <a:solidFill>
                <a:srgbClr val="0B2744"/>
              </a:solidFill>
            </a:endParaRPr>
          </a:p>
        </p:txBody>
      </p:sp>
      <p:sp>
        <p:nvSpPr>
          <p:cNvPr id="948" name="Google Shape;948;p67"/>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Behavioral measurements</a:t>
            </a:r>
            <a:endParaRPr b="1" sz="2100">
              <a:solidFill>
                <a:srgbClr val="0B2744"/>
              </a:solidFill>
            </a:endParaRPr>
          </a:p>
        </p:txBody>
      </p:sp>
      <p:sp>
        <p:nvSpPr>
          <p:cNvPr id="949" name="Google Shape;949;p67"/>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Four model raters score visible summaries for emotion, cognition, action, and other behaviors.</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Their ratings form a consensus.</a:t>
            </a:r>
            <a:endParaRPr sz="1800">
              <a:solidFill>
                <a:srgbClr val="0B2744"/>
              </a:solidFill>
            </a:endParaRPr>
          </a:p>
        </p:txBody>
      </p:sp>
      <p:sp>
        <p:nvSpPr>
          <p:cNvPr id="950" name="Google Shape;950;p67"/>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1" name="Google Shape;951;p67"/>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One environment can support several different measurements.</a:t>
            </a:r>
            <a:endParaRPr b="1" sz="1900">
              <a:solidFill>
                <a:srgbClr val="0B2744"/>
              </a:solidFill>
            </a:endParaRPr>
          </a:p>
        </p:txBody>
      </p:sp>
      <p:sp>
        <p:nvSpPr>
          <p:cNvPr id="952" name="Google Shape;952;p67"/>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u="sng">
                <a:solidFill>
                  <a:srgbClr val="0B2744"/>
                </a:solidFill>
                <a:hlinkClick r:id="rId3">
                  <a:extLst>
                    <a:ext uri="{A12FA001-AC4F-418D-AE19-62706E023703}">
                      <ahyp:hlinkClr val="tx"/>
                    </a:ext>
                  </a:extLst>
                </a:hlinkClick>
              </a:rPr>
              <a:t>PsychBench methodology, accessed October 11, 2026</a:t>
            </a:r>
            <a:endParaRPr sz="820" u="sng">
              <a:solidFill>
                <a:srgbClr val="0B2744"/>
              </a:solidFill>
            </a:endParaRPr>
          </a:p>
        </p:txBody>
      </p:sp>
      <p:sp>
        <p:nvSpPr>
          <p:cNvPr id="953" name="Google Shape;953;p67"/>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55</a:t>
            </a:r>
            <a:endParaRPr b="1" sz="900">
              <a:solidFill>
                <a:srgbClr val="738294"/>
              </a:solidFill>
            </a:endParaRPr>
          </a:p>
        </p:txBody>
      </p:sp>
      <p:sp>
        <p:nvSpPr>
          <p:cNvPr id="954" name="Google Shape;954;p67"/>
          <p:cNvSpPr txBox="1"/>
          <p:nvPr/>
        </p:nvSpPr>
        <p:spPr>
          <a:xfrm>
            <a:off x="4864100" y="3911600"/>
            <a:ext cx="3670200" cy="317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u="sng">
                <a:solidFill>
                  <a:srgbClr val="0B2744"/>
                </a:solidFill>
                <a:hlinkClick r:id="rId4">
                  <a:extLst>
                    <a:ext uri="{A12FA001-AC4F-418D-AE19-62706E023703}">
                      <ahyp:hlinkClr val="tx"/>
                    </a:ext>
                  </a:extLst>
                </a:hlinkClick>
              </a:rPr>
              <a:t>Open PsychBench</a:t>
            </a:r>
            <a:endParaRPr u="sng">
              <a:solidFill>
                <a:srgbClr val="0B2744"/>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68"/>
          <p:cNvSpPr txBox="1"/>
          <p:nvPr>
            <p:ph type="title"/>
          </p:nvPr>
        </p:nvSpPr>
        <p:spPr>
          <a:xfrm>
            <a:off x="609600" y="419100"/>
            <a:ext cx="7924800" cy="6222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SzPts val="2800"/>
              <a:buNone/>
            </a:pPr>
            <a:r>
              <a:rPr b="1" lang="en" sz="3000">
                <a:solidFill>
                  <a:srgbClr val="0B2744"/>
                </a:solidFill>
              </a:rPr>
              <a:t>What an eval lets you improve</a:t>
            </a:r>
            <a:endParaRPr b="1" sz="3000">
              <a:solidFill>
                <a:srgbClr val="0B2744"/>
              </a:solidFill>
            </a:endParaRPr>
          </a:p>
        </p:txBody>
      </p:sp>
      <p:sp>
        <p:nvSpPr>
          <p:cNvPr id="960" name="Google Shape;960;p68"/>
          <p:cNvSpPr/>
          <p:nvPr/>
        </p:nvSpPr>
        <p:spPr>
          <a:xfrm>
            <a:off x="609600" y="1117600"/>
            <a:ext cx="7924800" cy="25500"/>
          </a:xfrm>
          <a:prstGeom prst="rect">
            <a:avLst/>
          </a:prstGeom>
          <a:solidFill>
            <a:srgbClr val="E6A92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1" name="Google Shape;961;p68"/>
          <p:cNvSpPr txBox="1"/>
          <p:nvPr/>
        </p:nvSpPr>
        <p:spPr>
          <a:xfrm>
            <a:off x="6096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What you change</a:t>
            </a:r>
            <a:endParaRPr b="1" sz="2100">
              <a:solidFill>
                <a:srgbClr val="0B2744"/>
              </a:solidFill>
            </a:endParaRPr>
          </a:p>
        </p:txBody>
      </p:sp>
      <p:sp>
        <p:nvSpPr>
          <p:cNvPr id="962" name="Google Shape;962;p68"/>
          <p:cNvSpPr txBox="1"/>
          <p:nvPr/>
        </p:nvSpPr>
        <p:spPr>
          <a:xfrm>
            <a:off x="6096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Brain: training or model choice.</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Harness: context and execution.</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Tools: capabilities and access.</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Skills: procedures and checks.</a:t>
            </a:r>
            <a:endParaRPr sz="1800">
              <a:solidFill>
                <a:srgbClr val="0B2744"/>
              </a:solidFill>
            </a:endParaRPr>
          </a:p>
        </p:txBody>
      </p:sp>
      <p:sp>
        <p:nvSpPr>
          <p:cNvPr id="963" name="Google Shape;963;p68"/>
          <p:cNvSpPr txBox="1"/>
          <p:nvPr/>
        </p:nvSpPr>
        <p:spPr>
          <a:xfrm>
            <a:off x="4864100" y="1409700"/>
            <a:ext cx="3670200" cy="4191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2100">
                <a:solidFill>
                  <a:srgbClr val="0B2744"/>
                </a:solidFill>
              </a:rPr>
              <a:t>How you measure it</a:t>
            </a:r>
            <a:endParaRPr b="1" sz="2100">
              <a:solidFill>
                <a:srgbClr val="0B2744"/>
              </a:solidFill>
            </a:endParaRPr>
          </a:p>
        </p:txBody>
      </p:sp>
      <p:sp>
        <p:nvSpPr>
          <p:cNvPr id="964" name="Google Shape;964;p68"/>
          <p:cNvSpPr txBox="1"/>
          <p:nvPr/>
        </p:nvSpPr>
        <p:spPr>
          <a:xfrm>
            <a:off x="4864100" y="1905000"/>
            <a:ext cx="3670200" cy="2209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800">
                <a:solidFill>
                  <a:srgbClr val="0B2744"/>
                </a:solidFill>
              </a:rPr>
              <a:t>Defined tasks and success criteria.</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Repeatable trials and credible graders.</a:t>
            </a:r>
            <a:endParaRPr sz="1800">
              <a:solidFill>
                <a:srgbClr val="0B2744"/>
              </a:solidFill>
            </a:endParaRPr>
          </a:p>
          <a:p>
            <a:pPr indent="0" lvl="0" marL="0" rtl="0" algn="l">
              <a:lnSpc>
                <a:spcPct val="110000"/>
              </a:lnSpc>
              <a:spcBef>
                <a:spcPts val="0"/>
              </a:spcBef>
              <a:spcAft>
                <a:spcPts val="0"/>
              </a:spcAft>
              <a:buNone/>
            </a:pPr>
            <a:r>
              <a:t/>
            </a:r>
            <a:endParaRPr sz="1800">
              <a:solidFill>
                <a:srgbClr val="0B2744"/>
              </a:solidFill>
            </a:endParaRPr>
          </a:p>
          <a:p>
            <a:pPr indent="0" lvl="0" marL="0" rtl="0" algn="l">
              <a:lnSpc>
                <a:spcPct val="110000"/>
              </a:lnSpc>
              <a:spcBef>
                <a:spcPts val="0"/>
              </a:spcBef>
              <a:spcAft>
                <a:spcPts val="0"/>
              </a:spcAft>
              <a:buNone/>
            </a:pPr>
            <a:r>
              <a:rPr lang="en" sz="1800">
                <a:solidFill>
                  <a:srgbClr val="0B2744"/>
                </a:solidFill>
              </a:rPr>
              <a:t>Results on untouched tasks.</a:t>
            </a:r>
            <a:endParaRPr sz="1800">
              <a:solidFill>
                <a:srgbClr val="0B2744"/>
              </a:solidFill>
            </a:endParaRPr>
          </a:p>
        </p:txBody>
      </p:sp>
      <p:sp>
        <p:nvSpPr>
          <p:cNvPr id="965" name="Google Shape;965;p68"/>
          <p:cNvSpPr/>
          <p:nvPr/>
        </p:nvSpPr>
        <p:spPr>
          <a:xfrm>
            <a:off x="4559300" y="1460500"/>
            <a:ext cx="12600" cy="2336700"/>
          </a:xfrm>
          <a:prstGeom prst="rect">
            <a:avLst/>
          </a:prstGeom>
          <a:solidFill>
            <a:srgbClr val="D1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6" name="Google Shape;966;p68"/>
          <p:cNvSpPr txBox="1"/>
          <p:nvPr/>
        </p:nvSpPr>
        <p:spPr>
          <a:xfrm>
            <a:off x="609600" y="4241800"/>
            <a:ext cx="7924800" cy="622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1900">
                <a:solidFill>
                  <a:srgbClr val="0B2744"/>
                </a:solidFill>
              </a:rPr>
              <a:t>Next: using LLMs to put structure on messy data.</a:t>
            </a:r>
            <a:endParaRPr b="1" sz="1900">
              <a:solidFill>
                <a:srgbClr val="0B2744"/>
              </a:solidFill>
            </a:endParaRPr>
          </a:p>
        </p:txBody>
      </p:sp>
      <p:sp>
        <p:nvSpPr>
          <p:cNvPr id="967" name="Google Shape;967;p68"/>
          <p:cNvSpPr txBox="1"/>
          <p:nvPr/>
        </p:nvSpPr>
        <p:spPr>
          <a:xfrm>
            <a:off x="609600" y="4940300"/>
            <a:ext cx="6984900" cy="22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820">
                <a:solidFill>
                  <a:srgbClr val="738294"/>
                </a:solidFill>
              </a:rPr>
              <a:t>Lesson 3 synthesis</a:t>
            </a:r>
            <a:endParaRPr sz="820">
              <a:solidFill>
                <a:srgbClr val="738294"/>
              </a:solidFill>
            </a:endParaRPr>
          </a:p>
        </p:txBody>
      </p:sp>
      <p:sp>
        <p:nvSpPr>
          <p:cNvPr id="968" name="Google Shape;968;p68"/>
          <p:cNvSpPr txBox="1"/>
          <p:nvPr/>
        </p:nvSpPr>
        <p:spPr>
          <a:xfrm>
            <a:off x="8039100" y="4927600"/>
            <a:ext cx="495300" cy="2412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b="1" lang="en" sz="900">
                <a:solidFill>
                  <a:srgbClr val="738294"/>
                </a:solidFill>
              </a:rPr>
              <a:t>56</a:t>
            </a:r>
            <a:endParaRPr b="1" sz="900">
              <a:solidFill>
                <a:srgbClr val="738294"/>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