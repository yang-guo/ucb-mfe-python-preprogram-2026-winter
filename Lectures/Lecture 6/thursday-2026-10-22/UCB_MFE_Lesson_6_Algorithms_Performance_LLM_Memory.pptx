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Roboto Mon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9E50A3-21F2-4E9A-B190-4EFA897D3436}">
  <a:tblStyle styleId="{739E50A3-21F2-4E9A-B190-4EFA897D343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3703A68-B3D7-494B-BC45-A7467A9B8A1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Mono-italic.fntdata"/><Relationship Id="rId63" Type="http://schemas.openxmlformats.org/officeDocument/2006/relationships/font" Target="fonts/RobotoMono-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deck alone. Today carries forward generators, formal complexity, deeper CPU/GPU and KV-cache explanations, and the unfinished tool-execution/checks material. Do not return to Monday’s deck. Opening and recap: 5 minutes total.</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thu_agenda: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9" name="Google Shape;39;thu_agenda: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Orient the class. The order is deliberate: count work, retain less data, locate the hardware cost, overlap waits, then apply all four to LLM inference. Videos are part of algorithms. Detailed timings and optional skip points are in the instructor agenda.</a:t>
            </a:r>
            <a:endParaRPr/>
          </a:p>
        </p:txBody>
      </p:sp>
      <p:sp>
        <p:nvSpPr>
          <p:cNvPr id="40" name="Google Shape;40;thu_agenda: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thu_bridg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 name="Google Shape;47;thu_bridg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 not reteach scope, decorators or classes. The transcript shows generators were deferred, hardware covered conceptually through bottlenecks, and agent-tool execution/checks were not reached. This deck includes the missing material and all diagrams needed for the new lesson. The next slide is a one-question recap.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Monday October 19 full lecture transcript: https://notes.granola.ai/d/b62174e1-304c-45c1-b9f1-02172b436088</a:t>
            </a:r>
            <a:endParaRPr/>
          </a:p>
        </p:txBody>
      </p:sp>
      <p:sp>
        <p:nvSpPr>
          <p:cNvPr id="48" name="Google Shape;48;thu_bridg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ASK: After b = a and b.append(9), what does a contain? ANSWER: [2, 4, 9]. Both names refer to the same list. This assignment does not duplicate all elements. A shallow copy would create a new outer list, with work and storage proportional to its length. Do not repeat the whole references lesson. Transition: now count the work and storage as the input grows.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Monday October 19 transcript; January Lesson 5 reference-arrow diagrams.</a:t>
            </a:r>
            <a:endParaRPr/>
          </a:p>
          <a:p>
            <a:pPr indent="0" lvl="0" marL="0" rtl="0" algn="l">
              <a:spcBef>
                <a:spcPts val="0"/>
              </a:spcBef>
              <a:spcAft>
                <a:spcPts val="0"/>
              </a:spcAft>
              <a:buNone/>
            </a:pPr>
            <a:r>
              <a:t/>
            </a:r>
            <a:endParaRPr/>
          </a:p>
        </p:txBody>
      </p:sp>
      <p:sp>
        <p:nvSpPr>
          <p:cNvPr id="60" name="Google Shape;6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thu_algorithm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5" name="Google Shape;75;thu_algorithm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algorithm is a step-by-step procedure for solving a problem. We will compare procedures by the work and storage they need as the input grows. Define the input size before using notation. Algorithms block: 55 minutes including the three videos; videos are sequenced at their concepts.</a:t>
            </a:r>
            <a:endParaRPr/>
          </a:p>
        </p:txBody>
      </p:sp>
      <p:sp>
        <p:nvSpPr>
          <p:cNvPr id="76" name="Google Shape;76;thu_algorithm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n as the number of values. Count n visits and one running total before introducing Big O. Ask what happens when the list doubles. Auxiliary space excludes the input; fixed-size arithmetic is the classroom model. Transition: Big O is a compact language for this growth.</a:t>
            </a:r>
            <a:endParaRPr/>
          </a:p>
        </p:txBody>
      </p:sp>
      <p:sp>
        <p:nvSpPr>
          <p:cNvPr id="85" name="Google Shape;8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thu_big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thu_big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Teach the notation explicitly. n is input size, T(n) is the cost function, O(g(n)) is an asymptotic upper bound: beyond some n₀, T(n) ≤ c·g(n) for a fixed constant c. We normally report a tight useful bound. Big O can describe time or space and does not itself specify worst/average case. ASK: does O(1) mean one second? No, it means bounded independently of n under the stated cost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https://ocw.mit.edu/courses/6-006-introduction-to-algorithms-spring-2020/</a:t>
            </a:r>
            <a:endParaRPr/>
          </a:p>
        </p:txBody>
      </p:sp>
      <p:sp>
        <p:nvSpPr>
          <p:cNvPr id="107" name="Google Shape;107;thu_big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thu_simplify: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thu_simplify: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Use a simple illustrative operation model. A setup plus three constant-time operations per item gives T(n)=3n+5. For n≥1, 3n+5≤8n, so O(n). A quadratic term eventually dominates a linear term: n²+3n+5 is O(n²). Do not claim constants never matter: timings and hardware still determine actual speed. ASK students to simplify 2n+100 before revealing the answer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https://ocw.mit.edu/courses/6-006-introduction-to-algorithms-spring-2020/</a:t>
            </a:r>
            <a:endParaRPr/>
          </a:p>
        </p:txBody>
      </p:sp>
      <p:sp>
        <p:nvSpPr>
          <p:cNvPr id="118" name="Google Shape;118;thu_simplify: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plotted curves are mathematical functions with coefficient one, not measured runtimes. Reinforce the definition already introduced: Big O is an asymptotic upper bound. When describing an algorithm, specify the case or assumption: worst case, expected, amortized. We usually seek a tight useful bound. Constants and lower-order terms still matter in real measurements. Examples: direct indexing, binary search, scan, merge sort, all pairs. Ask which curves separate fastest as n increases.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thu_classe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thu_classe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Read names aloud and connect each to a mechanism. Logarithmic: repeated halving; linear: visit each; n log n: levels of linear work; quadratic: all pairs. These are illustrative function values, not operation counts for every implementation. log₂(1024)=10. O(1) excludes dependence on n, not on everything. Sorting and search examples follow.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https://ocw.mit.edu/courses/6-006-introduction-to-algorithms-spring-2020/</a:t>
            </a:r>
            <a:endParaRPr/>
          </a:p>
        </p:txBody>
      </p:sp>
      <p:sp>
        <p:nvSpPr>
          <p:cNvPr id="144" name="Google Shape;144;thu_classe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original Big O video here, after the definitions and before applying them to code. Debrief: which operation causes each growth pattern? If the video uses worst-case shorthand, clarify that Big O is an upper-bound notation and the analyzed case is a separate choice. Source: January Lesson6 slide11. https://www.youtube.com/watch?v=g2o22C3CRfU</a:t>
            </a:r>
            <a:endParaRPr/>
          </a:p>
        </p:txBody>
      </p:sp>
      <p:sp>
        <p:nvSpPr>
          <p:cNvPr id="153" name="Google Shape;15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Left: one operation per input element. Right: one operation for every ordered pair including self-pairs. n=4 gives 4 versus 16. n=8 gives 8 versus 64. ASK: why does doubling n produce four times the pair work? If only unique unordered pairs are needed, n(n−1)/2 is still quadratic, but do not confuse the exact count with this pictured ordered-pair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163" name="Google Shape;1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Purpose: distinguish adding independent work from multiplying repeated work. n trades and m scenarios are separate input sizes. Validate each trade then each scenario: n+m calls. Price every trade under every scenario: nm calls. For n=100,m=10 that is 110 validations versus1,000 valuations; these are different tasks, not competing implementations of the same task. Assume each inner operation constant-time. If m=n, O(n+m)=O(n) and O(nm)=O(n²). Do not label every nested loop quadratic.</a:t>
            </a:r>
            <a:endParaRPr/>
          </a:p>
        </p:txBody>
      </p:sp>
      <p:sp>
        <p:nvSpPr>
          <p:cNvPr id="196" name="Google Shape;19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Search left to right for 42. The pictured run checks ten elements. The data happens to be sorted for comparison with the next slide; linear search does not require that. Worst case checks n elements, for example an absent target. Best case is one comparison. An iterative implementation uses O(1) auxiliary space. ASK: how many comparisons if the target is absent?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210" name="Google Shape;21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3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array must already be sorted and support efficient indexing. Inclusive bounds and floor midpoint: [0,15] midpoint7 value31; [8,15] midpoint11 value53; [8,10] midpoint9 value42. Exclude midpoint after a failed comparison. This run takes three comparisons. Worst-case O(log n), iterative extra space O(1). Sorting unsorted data first has a cost, often O(n log n), so one query may not justify preprocessing. Python bisect finds an insertion position; equality must be checked for membership.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https://docs.python.org/3/library/bisect.html</a:t>
            </a:r>
            <a:endParaRPr/>
          </a:p>
          <a:p>
            <a:pPr indent="0" lvl="0" marL="0" rtl="0" algn="l">
              <a:spcBef>
                <a:spcPts val="0"/>
              </a:spcBef>
              <a:spcAft>
                <a:spcPts val="0"/>
              </a:spcAft>
              <a:buNone/>
            </a:pPr>
            <a:r>
              <a:t/>
            </a:r>
            <a:endParaRPr/>
          </a:p>
        </p:txBody>
      </p:sp>
      <p:sp>
        <p:nvSpPr>
          <p:cNvPr id="248" name="Google Shape;24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 the amortization of construction across queries. n items, q queries: list O(qn) worst case; set build and lookups O(n+q) expected with O(n) extra lookup storage. Demonstration A1 optionally traces search; A2 compares list queries with set construction+queries. Use saved timings if videos consume the available time. Both versions retain identical O(q) output lists in this particular notebook. Explain matching outputs before timing.</a:t>
            </a:r>
            <a:endParaRPr/>
          </a:p>
        </p:txBody>
      </p:sp>
      <p:sp>
        <p:nvSpPr>
          <p:cNvPr id="307" name="Google Shape;30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thu_sortvide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thu_sortvide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Play the original January sorting video at the start of the sorting discussion. The scheduled route uses roughly three minutes of viewing, then moves to the merge-sort diagram. The player retains the full video for extended viewing. ASK: which methods repeatedly compare nearby pairs, and which divide the input? Source: January Lesson6 slide12.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https://www.youtube.com/watch?v=RfXt_qHDEPw</a:t>
            </a:r>
            <a:endParaRPr/>
          </a:p>
        </p:txBody>
      </p:sp>
      <p:sp>
        <p:nvSpPr>
          <p:cNvPr id="330" name="Google Shape;330;thu_sortvide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3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Use the four values to trace splits down to singletons, then merging sorted runs. Ask which head value wins at each merge. At every merge level, all n values participate; there are about log₂ n levels. Standard array merge sort is O(n log n) worst-case time with O(n) auxiliary storage. The drawing is merge sort, not a literal trace of Python list.sort, which uses Timsort. The original sorting video is embedded immediately before this slide and is part of live teaching.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340" name="Google Shape;34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3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define recursion: a function calls itself on a smaller subproblem until a base case stops the chain. Trace total([2,4,6]). Frame i=0 waits to add2, i=1 waits to add4, i=2 waits to add6, and i=3 returns0. Unwind: 0,6,10,12. The index avoids creating list slices. There are n+1 calls and a maximum depth of n+1, giving O(n) time and O(n) auxiliary stack space under unit-cost arithmetic. Python limits recursion depth. ASK: why does returning from the base case not finish the whole function immediately? Each waiting caller still has an addition to perform.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https://docs.python.org/3/library/sys.html#sys.getrecursionlimit</a:t>
            </a:r>
            <a:endParaRPr/>
          </a:p>
          <a:p>
            <a:pPr indent="0" lvl="0" marL="0" rtl="0" algn="l">
              <a:spcBef>
                <a:spcPts val="0"/>
              </a:spcBef>
              <a:spcAft>
                <a:spcPts val="0"/>
              </a:spcAft>
              <a:buNone/>
            </a:pPr>
            <a:r>
              <a:t/>
            </a:r>
            <a:endParaRPr/>
          </a:p>
        </p:txBody>
      </p:sp>
      <p:sp>
        <p:nvSpPr>
          <p:cNvPr id="372" name="Google Shape;37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Connect to the previous slide. The loop computes the same sum by keeping an accumulator, with no chain of waiting calls. Both are linear time. The iterative version retains a constant number of values and uses O(1) auxiliary space, excluding the input and assuming fixed-size arithmetic. This is not a claim that all recursion is inefficient. A balanced divide-and-conquer algorithm can have logarithmic recursion depth. ASK: which version is safer for a very long list in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387" name="Google Shape;38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thu_bs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thu_bs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BST stores smaller keys in the left subtree, larger keys in the right for this distinct-key example. Search follows one path. Left tree has height proportional to log n; right insertion order can produce height proportional to n. Balance is the condition behind logarithmic search, not an automatic property of any BST. Prepare students to watch the next video for branching and shape.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https://ocw.mit.edu/courses/6-006-introduction-to-algorithms-spring-2020/</a:t>
            </a:r>
            <a:endParaRPr/>
          </a:p>
        </p:txBody>
      </p:sp>
      <p:sp>
        <p:nvSpPr>
          <p:cNvPr id="405" name="Google Shape;405;thu_bs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thu_bstvide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thu_bstvide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Play the original January BST video here, after introducing the ordering rule and height. Allow roughly three minutes in the timed route; full video remains playable. Debrief: search follows a path, and balance limits its length. Do not imply all BSTs guarantee O(log n). Source: January Lesson6 slide20.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https://www.youtube.com/watch?v=mtvbVLK5xDQ</a:t>
            </a:r>
            <a:endParaRPr/>
          </a:p>
        </p:txBody>
      </p:sp>
      <p:sp>
        <p:nvSpPr>
          <p:cNvPr id="438" name="Google Shape;438;thu_bstvide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Keep this as an interview map, not a tree implementation lecture. Set/dict membership is expected constant time with normal hashing assumptions. A min-heap exposes the minimum in O(1), while insertion and removing the minimum take O(log n). It is not globally sorted, and arbitrary search is O(n). A balanced search tree supports ordered search/insertion/deletion in O(log n); an ordinary unbalanced BST can degrade to O(n). Python does not include a general balanced-tree container as a built-in. For an order book, price ordering and best-price access are distinct from order-ID lookup.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https://docs.python.org/3/library/heapq.html</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448" name="Google Shape;44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TIME: 2 minutes within the section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Give students a minute, then discuss. 1) One lookup in an unsorted list: linear scan is O(n) worst-case with O(1) extra space; sorting first generally adds unnecessary cost. 2) Many membership queries over a stable watchlist: build/reuse set, expected O(n+q), O(n) extra space. 3) Recursive sum of a very long list: replace with loop or built-in sum to avoid O(n) call-stack growth and recursion depth failure. For every answer ask which input sizes, which case, what preprocessing, and what is excluded from space. Transition after this checkpoint: generators let us avoid retaining every produced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January 2026 UCB MFE Lesson 6, algorithms and data structures section.</a:t>
            </a:r>
            <a:endParaRPr/>
          </a:p>
          <a:p>
            <a:pPr indent="0" lvl="0" marL="0" rtl="0" algn="l">
              <a:spcBef>
                <a:spcPts val="0"/>
              </a:spcBef>
              <a:spcAft>
                <a:spcPts val="0"/>
              </a:spcAft>
              <a:buNone/>
            </a:pPr>
            <a:r>
              <a:rPr lang="en-US"/>
              <a:t>https://ocw.mit.edu/courses/6-006-introduction-to-algorithms-spring-2020/</a:t>
            </a:r>
            <a:endParaRPr/>
          </a:p>
          <a:p>
            <a:pPr indent="0" lvl="0" marL="0" rtl="0" algn="l">
              <a:spcBef>
                <a:spcPts val="0"/>
              </a:spcBef>
              <a:spcAft>
                <a:spcPts val="0"/>
              </a:spcAft>
              <a:buNone/>
            </a:pPr>
            <a:r>
              <a:t/>
            </a:r>
            <a:endParaRPr/>
          </a:p>
        </p:txBody>
      </p:sp>
      <p:sp>
        <p:nvSpPr>
          <p:cNvPr id="457" name="Google Shape;45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thu_gen_sec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thu_gen_sec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Transition: Big O tells us what grows. Now choose whether intermediate values must stay alive. This is the generator material deferred on Monday. 10 minutes including Demo A3.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https://docs.python.org/3/tutorial/classes.html#generators</a:t>
            </a:r>
            <a:endParaRPr/>
          </a:p>
        </p:txBody>
      </p:sp>
      <p:sp>
        <p:nvSpPr>
          <p:cNvPr id="471" name="Google Shape;471;thu_gen_sec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thu_yiel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thu_yiel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Define generator before showing its memory benefit. Calling this function returns a generator; the body starts at next(). It yields2, pauses with local state, then yields4 and6, then raises StopIteration. for loops handle StopIteration. Each next() resumes rather than restarts the function. Demo A3 includes the three next calls.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https://docs.python.org/3/tutorial/classes.html#generators</a:t>
            </a:r>
            <a:endParaRPr/>
          </a:p>
        </p:txBody>
      </p:sp>
      <p:sp>
        <p:nvSpPr>
          <p:cNvPr id="480" name="Google Shape;480;thu_yiel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thu_gen_memory: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thu_gen_memory: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Both expressions square and sum n values. The list version stores all squares before summing; the generator supplies values incrementally to sum. For this fixed-size arithmetic model time is O(n) in both; extra retained intermediates O(n) versus O(1). range is used to avoid retaining an input list. A generator does not automatically make execution faster. Original January notebook also compared memory-efficient and inefficient processing.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https://docs.python.org/3/library/tracemalloc.html</a:t>
            </a:r>
            <a:endParaRPr/>
          </a:p>
        </p:txBody>
      </p:sp>
      <p:sp>
        <p:nvSpPr>
          <p:cNvPr id="501" name="Google Shape;501;thu_gen_memory: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thu_memory_dem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thu_memory_dem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Run Thursday_Prepared_Notebook A3 only for the 10-minute core route. Predict equality and memory growth, then inspect saved or live peak traced Python allocations at n=10,000 and100,000. A1 search trace and A2 repeated lookup are optional within the algorithms block. Measurements are platform-specific and tracemalloc measures traced Python allocations, not total process 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https://docs.python.org/3/library/tracemalloc.html</a:t>
            </a:r>
            <a:endParaRPr/>
          </a:p>
        </p:txBody>
      </p:sp>
      <p:sp>
        <p:nvSpPr>
          <p:cNvPr id="522" name="Google Shape;522;thu_memory_dem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thu_hw_sec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thu_hw_sec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10-minute focused extension of Monday’s hardware discussion. Avoid repeating a component survey. Use the following map, execution paths and one movement calculation. The purpose is to prepare for the LLM memory diagrams.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https://docs.nvidia.com/cuda/cuda-programming-guide/01-introduction/programming-model.html</a:t>
            </a:r>
            <a:endParaRPr/>
          </a:p>
        </p:txBody>
      </p:sp>
      <p:sp>
        <p:nvSpPr>
          <p:cNvPr id="534" name="Google Shape;534;thu_hw_sec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thu_hardwar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thu_hardwar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Representative discrete-GPU system. Disk/storage is persistent; RAM holds active CPU data, caches supply CPU execution, GPU memory holds device data. Arrows indicate movement, not universal physical wiring. Integrated/unified-memory machines can share physical memory and have different transfer paths. Keep this vocabulary for the later inference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https://docs.nvidia.com/cuda/cuda-programming-guide/01-introduction/programming-model.html</a:t>
            </a:r>
            <a:endParaRPr/>
          </a:p>
        </p:txBody>
      </p:sp>
      <p:sp>
        <p:nvSpPr>
          <p:cNvPr id="543" name="Google Shape;543;thu_hardwar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thu_pyth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thu_pyth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Typical CPython path: source compiles to bytecode executed by an interpreter on CPU. Numerical libraries can run compiled CPU routines. GPU-aware libraries dispatch kernels to an accelerator. Ordinary NumPy does not automatically run on a GPU. Do not describe Python as universally compiling to C. Explain the whole execution path, including transfers.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https://docs.nvidia.com/cuda/cuda-programming-guide/01-introduction/programming-model.html</a:t>
            </a:r>
            <a:endParaRPr/>
          </a:p>
          <a:p>
            <a:pPr indent="0" lvl="0" marL="0" rtl="0" algn="l">
              <a:spcBef>
                <a:spcPts val="0"/>
              </a:spcBef>
              <a:spcAft>
                <a:spcPts val="0"/>
              </a:spcAft>
              <a:buNone/>
            </a:pPr>
            <a:r>
              <a:rPr lang="en-US"/>
              <a:t>https://numpy.org/doc/stable/user/whatisnumpy.html</a:t>
            </a:r>
            <a:endParaRPr/>
          </a:p>
        </p:txBody>
      </p:sp>
      <p:sp>
        <p:nvSpPr>
          <p:cNvPr id="561" name="Google Shape;561;thu_pyth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thu_capacity: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thu_capacity: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Define all three quantities. Capacity in bytes; latency in seconds per response; bandwidth in bytes/sec. The transfer calculation is a hypothetical lower-bound arithmetic example without overhead. 1GB/10GB/s=0.1s uses decimal units. Device-specific achieved rates vary. Memory fitting and memory feeding computation are distinct.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https://docs.nvidia.com/cuda/cuda-programming-guide/01-introduction/programming-model.html</a:t>
            </a:r>
            <a:endParaRPr/>
          </a:p>
        </p:txBody>
      </p:sp>
      <p:sp>
        <p:nvSpPr>
          <p:cNvPr id="576" name="Google Shape;576;thu_capacity: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thu_gpu_cos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thu_gpu_cos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Hypothetical durations, not hardware benchmarks: CPU20ms; GPU transfer in12+compute2+transfer out12=26ms. A GPU can be faster for substantial regular parallel computation when movement is amortized or data stays resident. CPUs also vectorize and run multiple cores; GPUs also branch. Do not reduce the distinction to CPU one thing/GPU many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https://docs.nvidia.com/cuda/cuda-programming-guide/01-introduction/programming-model.html</a:t>
            </a:r>
            <a:endParaRPr/>
          </a:p>
        </p:txBody>
      </p:sp>
      <p:sp>
        <p:nvSpPr>
          <p:cNvPr id="585" name="Google Shape;585;thu_gpu_cos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thu_break: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thu_break: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Return at10:30am Pacific /1:30pm Eastern. Break at10:20am Pacific /1:20pm Eastern. Resume with overlapping waits.</a:t>
            </a:r>
            <a:endParaRPr/>
          </a:p>
        </p:txBody>
      </p:sp>
      <p:sp>
        <p:nvSpPr>
          <p:cNvPr id="601" name="Google Shape;601;thu_break: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thu_async_sec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thu_async_sec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30 minutes. Bridge from hardware: some programs spend their time waiting for external work. First distinguish sequential/concurrent/parallel, then explain await and scheduling, then bound in-flight work and account for failures.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https://docs.python.org/3/library/asyncio-task.html</a:t>
            </a:r>
            <a:endParaRPr/>
          </a:p>
        </p:txBody>
      </p:sp>
      <p:sp>
        <p:nvSpPr>
          <p:cNvPr id="610" name="Google Shape;610;thu_async_sec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thu_schedule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thu_schedule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Same two tasks: small active segments and long waits. Sequential: finishA beforeB. Concurrent on one thread: interleave work when one waits. Parallel: active work on multiple execution resources at once. Timelines are schematic. Concurrency does not guarantee parallel execution. Ask which helps independent HTTP requests versus a pure-Python CPU loop.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https://docs.python.org/3/library/asyncio-task.html</a:t>
            </a:r>
            <a:endParaRPr/>
          </a:p>
        </p:txBody>
      </p:sp>
      <p:sp>
        <p:nvSpPr>
          <p:cNvPr id="619" name="Google Shape;619;thu_schedule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thu_awai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thu_awai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coroutine runs until it awaits an operation that suspends. The event loop can then run another ready task. When the awaited operation completes, the coroutine becomes ready to resume. Awaiting something already complete may not suspend. Calling async def produces a coroutine object; scheduling or awaiting makes it execute. Blocking CPU work or time.sleep on the event-loop thread prevents other tasks from running.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https://docs.python.org/3/library/asyncio-task.html</a:t>
            </a:r>
            <a:endParaRPr/>
          </a:p>
        </p:txBody>
      </p:sp>
      <p:sp>
        <p:nvSpPr>
          <p:cNvPr id="641" name="Google Shape;641;thu_awai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thu_async_co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thu_async_cod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whole short runnable example before running Demo B. Calling fetch creates coroutines. gather schedules them concurrently and preserves input order in its returned list; completion order may differ. asyncio.sleep simulates I/O waiting and does not fetch prices. Use await in Jupyter; asyncio.run at a script entry point. Do not call asyncio.run inside the notebook’s running loop.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https://docs.python.org/3/library/asyncio-task.html</a:t>
            </a:r>
            <a:endParaRPr/>
          </a:p>
        </p:txBody>
      </p:sp>
      <p:sp>
        <p:nvSpPr>
          <p:cNvPr id="658" name="Google Shape;658;thu_async_cod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thu_bounde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thu_bounde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Six simulated requests each wait0.4s. With two slots, three waves take ideally1.2s; sequential2.4s, six slots0.4s, before overhead. Semaphore limits active sections, not requests per second. Creating all tasks still retains task objects; large streams need batching or a bounded queue. Demo uses only six. Add timeout and failure accounting rather than silently dropping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https://docs.python.org/3/library/asyncio-sync.html#semaphore</a:t>
            </a:r>
            <a:endParaRPr/>
          </a:p>
        </p:txBody>
      </p:sp>
      <p:sp>
        <p:nvSpPr>
          <p:cNvPr id="668" name="Google Shape;668;thu_bounde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thu_thread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thu_thread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Async tasks are cooperatively scheduled, usually on one event-loop thread. Threads share a process and are useful for blocking I/O and native code. Processes provide separate interpreter execution and memory but incur startup/serialization costs. GIL statements apply to conventional GIL-enabled CPython, not all Python builds; native libraries may release it. Choose by workload and measure.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https://docs.python.org/3/library/threading.html</a:t>
            </a:r>
            <a:endParaRPr/>
          </a:p>
          <a:p>
            <a:pPr indent="0" lvl="0" marL="0" rtl="0" algn="l">
              <a:spcBef>
                <a:spcPts val="0"/>
              </a:spcBef>
              <a:spcAft>
                <a:spcPts val="0"/>
              </a:spcAft>
              <a:buNone/>
            </a:pPr>
            <a:r>
              <a:rPr lang="en-US"/>
              <a:t>https://docs.python.org/3/library/concurrent.futures.html</a:t>
            </a:r>
            <a:endParaRPr/>
          </a:p>
        </p:txBody>
      </p:sp>
      <p:sp>
        <p:nvSpPr>
          <p:cNvPr id="688" name="Google Shape;688;thu_thread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thu_async_dem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thu_async_dem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Run B1 then B2 in Thursday_Prepared_Notebook. Compare six requests sequentially, two at a time and six at a time. Display measured task timelines, total time and max active. Then deliberately fail request3. Assert all six IDs appear exactly once as success/failure and max active≤limit. The expected five successful values match baseline. This revisits the old course async demo with deterministic simulated I/O rather than live web requests.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January2026 Lesson6 Demos notebook: async cells14–20 and concurrency cells65–69.</a:t>
            </a:r>
            <a:endParaRPr/>
          </a:p>
        </p:txBody>
      </p:sp>
      <p:sp>
        <p:nvSpPr>
          <p:cNvPr id="697" name="Google Shape;697;thu_async_dem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thu_llm_sec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thu_llm_sec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Keep the complete45-minute section in the deck even if live coverage runs short. Teach tokens and Q/K/V before KV caching. Sequence: request path, tokens, attention, prefill/decode, uncached/cached comparison, memory budget and calculator, different caches.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709" name="Google Shape;709;thu_llm_sec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thu_reques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thu_reques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Representative hosted inference path. Client sends prompt, serverCPU tokenizes/schedules, accelerator processes tensors, CPU/service streams generated text back. Hosted GPU is remote, not automatically the student laptopGPU. Exact deployments vary. The diagram separates network waiting from model computation.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a:p>
            <a:pPr indent="0" lvl="0" marL="0" rtl="0" algn="l">
              <a:spcBef>
                <a:spcPts val="0"/>
              </a:spcBef>
              <a:spcAft>
                <a:spcPts val="0"/>
              </a:spcAft>
              <a:buNone/>
            </a:pPr>
            <a:r>
              <a:rPr lang="en-US"/>
              <a:t>https://docs.nvidia.com/cuda/cuda-programming-guide/01-introduction/programming-model.html</a:t>
            </a:r>
            <a:endParaRPr/>
          </a:p>
        </p:txBody>
      </p:sp>
      <p:sp>
        <p:nvSpPr>
          <p:cNvPr id="718" name="Google Shape;718;thu_reques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thu_token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thu_token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Tokens are vocabulary units such as word fragments, punctuation or bytes depending on tokenizer. Exact token splits are tokenizer-dependent; the displayed split is schematic. TokenIDs map to learned vectors. The model transforms these representations and predicts a distribution for the next token. Weights are learned parameters, not a growing transcript. Do not confuse context text, activations and weights.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735" name="Google Shape;735;thu_token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thu_atten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thu_atten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simplified single-head view: the current query scores eligible keys; normalized scores weight the values to produce a context-dependent vector. Q/K/V are learned projections of layer representations, not literal database labels. Causal masking prevents looking at future positions. Multi-head/layer details are deliberately omitted. Prior K/V depend on earlier positions and can be reused in ordinary causal inference.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754" name="Google Shape;754;thu_atten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thu_prefil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thu_prefill: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Prompt tokens are processed during prefill to produce the distribution for the first generated token. Then the selected token is fed back to predict the next one. Decode is sequential across generated tokens because each token depends on previous choices. Prefill often exploits parallel work across prompt positions subject to causal masking; bottlenecks depend on size, batching and implementation. TTFT includes other service delays, not only prefill.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777" name="Google Shape;777;thu_prefill: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thu_uncache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thu_uncache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Baseline conceptual implementation recomputes the full causal prefix at each generation step. Four prompt positions produce A; to produceB recompute positions1–4 andA; to produceC recompute1–4,A,B. Orange means freshly computed K/V for each processed position in this schematic. This is a count of processed positions for K/V creation, not a complete FLOP or speed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795" name="Google Shape;795;thu_uncache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thu_cached: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thu_cached: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Same positions and geometry as previous slide. Prefill computes K/V forP1–P4 and predictsA. ProcessA to add its K/V and predictB; processB to predictC. Blue means reused prior K/V, orange means new. Each layer keeps its own cache. The query still reads prior keys/values, so longer context still costs attention work and memory. No claim that KV cache makes token generation constant-time.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821" name="Google Shape;821;thu_cached: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thu_budget: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thu_budget: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Illustrative capacity bar, not measurements or proportions of a real model. Weights, KV cache, runtime workspaces/activations and headroom all consume memory. Increasing context or simultaneous sequences increases KV. Weight quantization does not automatically imply equal KV precision. This section is the concrete application of retained-data reasoning.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847" name="Google Shape;847;thu_budget: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thu_kv_siz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thu_kv_siz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Hypothetical dense full-attention cache. Bytes≈2×layers×sequences×cached tokens×KV heads×head dimension×bytes per element. K andV contribute factor2. Using32layers,8KVheads,128headdim,2bytes gives131072bytes/token/sequence=128KiB. 4096tokens=512MiB,8192=1GiB;4sequences8192=4GiB. Excludes weights and runtime overhead. No prefix sharing, compression, offloading or sliding-window cap assumed. Architecture-specific caches differ.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861" name="Google Shape;861;thu_kv_siz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thu_kv_demo: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thu_kv_demo: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Open KV_Cache_Walkthrough.html. Step through prefill then decoding in cached and uncached views. Change context and sequence count to inspect the dense-cache byte budget. Notebook C provides the same formula with asserted outputs. This is an explanatory simulation, not a model benchmark or live transformer. If browser controls are unavailable, the preceding paired slides and table teach exactly the same points.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p:txBody>
      </p:sp>
      <p:sp>
        <p:nvSpPr>
          <p:cNvPr id="871" name="Google Shape;871;thu_kv_demo: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thu_cache_type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thu_cache_type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Close the loop with Monday’s hardware and Python caching vocabulary. CPU caches retain memory lines, Python result caches map keys to outputs, KV caches store attention state for processed tokens, persistent agent memory is application storage outside a model request. Conversation text is input context, not model weights. These have different lifetimes and invalidation mechanisms.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https://huggingface.co/docs/transformers/v4.57.0/cache_explanation</a:t>
            </a:r>
            <a:endParaRPr/>
          </a:p>
          <a:p>
            <a:pPr indent="0" lvl="0" marL="0" rtl="0" algn="l">
              <a:spcBef>
                <a:spcPts val="0"/>
              </a:spcBef>
              <a:spcAft>
                <a:spcPts val="0"/>
              </a:spcAft>
              <a:buNone/>
            </a:pPr>
            <a:r>
              <a:rPr lang="en-US"/>
              <a:t>https://docs.python.org/3/library/functools.html</a:t>
            </a:r>
            <a:endParaRPr/>
          </a:p>
        </p:txBody>
      </p:sp>
      <p:sp>
        <p:nvSpPr>
          <p:cNvPr id="883" name="Google Shape;883;thu_cache_type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thu_tools_section: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thu_tools_section: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10-minute Monday carryover. This was planned but not reached. No need to open the old deck. Separate a model’s proposed tool call, ordinary code execution and an independent test of the result. The request here is prepared, not live model output.</a:t>
            </a:r>
            <a:endParaRPr/>
          </a:p>
        </p:txBody>
      </p:sp>
      <p:sp>
        <p:nvSpPr>
          <p:cNvPr id="892" name="Google Shape;892;thu_tools_section: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thu_tool_call: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thu_tool_call: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Prepared instructor-authored request: position_value(shares=2,price=100). Harness validates the long-only finite-input contract, dispatches to allowlisted Python function, returns200. Explain that the code does the multiplication. Type hints alone do not enforce constraints. Notebook D tests negative and NaN inputs. This is not a full production harness or end-to-end agent evaluation.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Monday prepared notebook D18–D19.</a:t>
            </a:r>
            <a:endParaRPr/>
          </a:p>
        </p:txBody>
      </p:sp>
      <p:sp>
        <p:nvSpPr>
          <p:cNvPr id="901" name="Google Shape;901;thu_tool_call: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thu_checks: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thu_checks: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Run notebook D: candidate_bad adds, candidate_good multiplies, the independent oracle uses hand-derived expected values. Print all mismatches; do not let an intentional assertion halt the teaching notebook. Check finite nonnegative inputs too. These are development checks for a narrow function, not proof of general agent reliability. Monday’s intended execution/evaluation distinction is now complete.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Monday prepared notebook D19–D20.</a:t>
            </a:r>
            <a:endParaRPr/>
          </a:p>
        </p:txBody>
      </p:sp>
      <p:sp>
        <p:nvSpPr>
          <p:cNvPr id="915" name="Google Shape;915;thu_checks: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thu_clos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thu_clos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5 minutes. Have students give a constraint, proposed change, trade-off and independent check for each.1repeated membership: prebuild set, memory/build cost, compare outputs and end-to-end time.2slowindependentrequests:boundedasync,resource/failure accounting.3inferenceOOM:inspect weights/KV/runtime,shortencontextorbatchwithquality/cost implications. Close with no new assignment ordeadline. If time runs out, keep all detailed LLM content in the deck for follow-up.</a:t>
            </a:r>
            <a:endParaRPr/>
          </a:p>
        </p:txBody>
      </p:sp>
      <p:sp>
        <p:nvSpPr>
          <p:cNvPr id="925" name="Google Shape;925;thu_clos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www.youtube.com/watch?v=g2o22C3CRfU" TargetMode="External"/><Relationship Id="rId4" Type="http://schemas.openxmlformats.org/officeDocument/2006/relationships/image" Target="../media/image3.jpg"/><Relationship Id="rId5" Type="http://schemas.openxmlformats.org/officeDocument/2006/relationships/hyperlink" Target="https://www.youtube.com/watch?v=g2o22C3CRfU"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www.youtube.com/watch?v=RfXt_qHDEPw" TargetMode="External"/><Relationship Id="rId4" Type="http://schemas.openxmlformats.org/officeDocument/2006/relationships/image" Target="../media/image1.jpg"/><Relationship Id="rId5" Type="http://schemas.openxmlformats.org/officeDocument/2006/relationships/hyperlink" Target="https://www.youtube.com/watch?v=RfXt_qHDEP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www.youtube.com/watch?v=mtvbVLK5xDQ" TargetMode="External"/><Relationship Id="rId4" Type="http://schemas.openxmlformats.org/officeDocument/2006/relationships/image" Target="../media/image5.jpg"/><Relationship Id="rId5" Type="http://schemas.openxmlformats.org/officeDocument/2006/relationships/hyperlink" Target="https://www.youtube.com/watch?v=mtvbVLK5xDQ"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pic>
        <p:nvPicPr>
          <p:cNvPr id="31" name="Google Shape;31;p8"/>
          <p:cNvPicPr preferRelativeResize="0"/>
          <p:nvPr/>
        </p:nvPicPr>
        <p:blipFill>
          <a:blip r:embed="rId3">
            <a:alphaModFix/>
          </a:blip>
          <a:stretch>
            <a:fillRect/>
          </a:stretch>
        </p:blipFill>
        <p:spPr>
          <a:xfrm>
            <a:off x="1" y="0"/>
            <a:ext cx="12191998" cy="6861645"/>
          </a:xfrm>
          <a:prstGeom prst="rect">
            <a:avLst/>
          </a:prstGeom>
          <a:noFill/>
          <a:ln>
            <a:noFill/>
          </a:ln>
        </p:spPr>
      </p:pic>
      <p:sp>
        <p:nvSpPr>
          <p:cNvPr id="32" name="Google Shape;32;p8"/>
          <p:cNvSpPr/>
          <p:nvPr/>
        </p:nvSpPr>
        <p:spPr>
          <a:xfrm>
            <a:off x="685800" y="1857375"/>
            <a:ext cx="6477000" cy="211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350">
                <a:solidFill>
                  <a:srgbClr val="FFFFFF"/>
                </a:solidFill>
              </a:rPr>
              <a:t>Algorithms,</a:t>
            </a:r>
            <a:endParaRPr b="1" sz="4350">
              <a:solidFill>
                <a:srgbClr val="FFFFFF"/>
              </a:solidFill>
            </a:endParaRPr>
          </a:p>
          <a:p>
            <a:pPr indent="0" lvl="0" marL="0" marR="0" rtl="0" algn="l">
              <a:spcBef>
                <a:spcPts val="0"/>
              </a:spcBef>
              <a:spcAft>
                <a:spcPts val="0"/>
              </a:spcAft>
              <a:buNone/>
            </a:pPr>
            <a:r>
              <a:rPr b="1" lang="en-US" sz="4350">
                <a:solidFill>
                  <a:srgbClr val="FFFFFF"/>
                </a:solidFill>
              </a:rPr>
              <a:t>performance and</a:t>
            </a:r>
            <a:endParaRPr b="1" sz="4350">
              <a:solidFill>
                <a:srgbClr val="FFFFFF"/>
              </a:solidFill>
            </a:endParaRPr>
          </a:p>
          <a:p>
            <a:pPr indent="0" lvl="0" marL="0" marR="0" rtl="0" algn="l">
              <a:spcBef>
                <a:spcPts val="0"/>
              </a:spcBef>
              <a:spcAft>
                <a:spcPts val="0"/>
              </a:spcAft>
              <a:buNone/>
            </a:pPr>
            <a:r>
              <a:rPr b="1" lang="en-US" sz="4350">
                <a:solidFill>
                  <a:srgbClr val="FFFFFF"/>
                </a:solidFill>
              </a:rPr>
              <a:t>LLM memory</a:t>
            </a:r>
            <a:endParaRPr b="1" sz="4350">
              <a:solidFill>
                <a:srgbClr val="FFFFFF"/>
              </a:solidFill>
            </a:endParaRPr>
          </a:p>
        </p:txBody>
      </p:sp>
      <p:sp>
        <p:nvSpPr>
          <p:cNvPr id="33" name="Google Shape;33;p8"/>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solidFill>
                  <a:srgbClr val="FFFFFF"/>
                </a:solidFill>
              </a:rPr>
              <a:t>01</a:t>
            </a:r>
            <a:endParaRPr>
              <a:solidFill>
                <a:srgbClr val="FFFFFF"/>
              </a:solidFill>
            </a:endParaRPr>
          </a:p>
        </p:txBody>
      </p:sp>
      <p:sp>
        <p:nvSpPr>
          <p:cNvPr id="34" name="Google Shape;34;p8"/>
          <p:cNvSpPr/>
          <p:nvPr/>
        </p:nvSpPr>
        <p:spPr>
          <a:xfrm>
            <a:off x="685800" y="4333875"/>
            <a:ext cx="6191400" cy="52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325">
                <a:solidFill>
                  <a:srgbClr val="FFFFFF"/>
                </a:solidFill>
              </a:rPr>
              <a:t>Advanced Python II</a:t>
            </a:r>
            <a:endParaRPr sz="2325">
              <a:solidFill>
                <a:srgbClr val="FFFFFF"/>
              </a:solidFill>
            </a:endParaRPr>
          </a:p>
        </p:txBody>
      </p:sp>
      <p:sp>
        <p:nvSpPr>
          <p:cNvPr id="35" name="Google Shape;35;p8"/>
          <p:cNvSpPr/>
          <p:nvPr/>
        </p:nvSpPr>
        <p:spPr>
          <a:xfrm>
            <a:off x="685800" y="5286375"/>
            <a:ext cx="61914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75">
                <a:solidFill>
                  <a:srgbClr val="FFFFFF"/>
                </a:solidFill>
              </a:rPr>
              <a:t>Aneesh Sachdeva</a:t>
            </a:r>
            <a:endParaRPr sz="1875">
              <a:solidFill>
                <a:srgbClr val="FFFFFF"/>
              </a:solidFill>
            </a:endParaRPr>
          </a:p>
          <a:p>
            <a:pPr indent="0" lvl="0" marL="0" marR="0" rtl="0" algn="l">
              <a:spcBef>
                <a:spcPts val="0"/>
              </a:spcBef>
              <a:spcAft>
                <a:spcPts val="0"/>
              </a:spcAft>
              <a:buNone/>
            </a:pPr>
            <a:r>
              <a:rPr lang="en-US" sz="1875">
                <a:solidFill>
                  <a:srgbClr val="FFFFFF"/>
                </a:solidFill>
              </a:rPr>
              <a:t>October 22, 2026</a:t>
            </a:r>
            <a:endParaRPr sz="1875">
              <a:solidFill>
                <a:srgbClr val="FFFFFF"/>
              </a:solidFill>
            </a:endParaRPr>
          </a:p>
        </p:txBody>
      </p:sp>
      <p:sp>
        <p:nvSpPr>
          <p:cNvPr id="36" name="Google Shape;36;p8"/>
          <p:cNvSpPr/>
          <p:nvPr/>
        </p:nvSpPr>
        <p:spPr>
          <a:xfrm>
            <a:off x="685800" y="762000"/>
            <a:ext cx="66675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FDB515"/>
                </a:solidFill>
              </a:rPr>
              <a:t>UC BERKELEY MFE</a:t>
            </a:r>
            <a:endParaRPr sz="1800">
              <a:solidFill>
                <a:srgbClr val="FDB51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9"/>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Today’s route</a:t>
            </a:r>
            <a:endParaRPr b="1" sz="3300">
              <a:solidFill>
                <a:srgbClr val="002B49"/>
              </a:solidFill>
            </a:endParaRPr>
          </a:p>
        </p:txBody>
      </p:sp>
      <p:graphicFrame>
        <p:nvGraphicFramePr>
          <p:cNvPr id="43" name="Google Shape;43;p9"/>
          <p:cNvGraphicFramePr/>
          <p:nvPr/>
        </p:nvGraphicFramePr>
        <p:xfrm>
          <a:off x="609600" y="1571625"/>
          <a:ext cx="3000000" cy="3000000"/>
        </p:xfrm>
        <a:graphic>
          <a:graphicData uri="http://schemas.openxmlformats.org/drawingml/2006/table">
            <a:tbl>
              <a:tblPr>
                <a:noFill/>
                <a:tableStyleId>{739E50A3-21F2-4E9A-B190-4EFA897D3436}</a:tableStyleId>
              </a:tblPr>
              <a:tblGrid>
                <a:gridCol w="4953000"/>
                <a:gridCol w="6019800"/>
              </a:tblGrid>
              <a:tr h="551075">
                <a:tc>
                  <a:txBody>
                    <a:bodyPr/>
                    <a:lstStyle/>
                    <a:p>
                      <a:pPr indent="0" lvl="0" marL="0" rtl="0" algn="l">
                        <a:spcBef>
                          <a:spcPts val="0"/>
                        </a:spcBef>
                        <a:spcAft>
                          <a:spcPts val="0"/>
                        </a:spcAft>
                        <a:buNone/>
                      </a:pPr>
                      <a:r>
                        <a:rPr b="1" lang="en-US" sz="1875">
                          <a:solidFill>
                            <a:srgbClr val="FFFFFF"/>
                          </a:solidFill>
                        </a:rPr>
                        <a:t>Section</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Question we will answer</a:t>
                      </a:r>
                      <a:endParaRPr b="1" sz="1875">
                        <a:solidFill>
                          <a:srgbClr val="FFFFFF"/>
                        </a:solidFill>
                      </a:endParaRPr>
                    </a:p>
                  </a:txBody>
                  <a:tcPr marT="91425" marB="91425" marR="91425" marL="91425" anchor="ctr">
                    <a:solidFill>
                      <a:srgbClr val="002B49"/>
                    </a:solidFill>
                  </a:tcPr>
                </a:tc>
              </a:tr>
              <a:tr h="551075">
                <a:tc>
                  <a:txBody>
                    <a:bodyPr/>
                    <a:lstStyle/>
                    <a:p>
                      <a:pPr indent="0" lvl="0" marL="0" rtl="0" algn="l">
                        <a:spcBef>
                          <a:spcPts val="0"/>
                        </a:spcBef>
                        <a:spcAft>
                          <a:spcPts val="0"/>
                        </a:spcAft>
                        <a:buNone/>
                      </a:pPr>
                      <a:r>
                        <a:rPr lang="en-US" sz="1875">
                          <a:solidFill>
                            <a:srgbClr val="17364B"/>
                          </a:solidFill>
                        </a:rPr>
                        <a:t>Algorithms and Big O</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How does work grow as the input grows?</a:t>
                      </a:r>
                      <a:endParaRPr sz="1875">
                        <a:solidFill>
                          <a:srgbClr val="17364B"/>
                        </a:solidFill>
                      </a:endParaRPr>
                    </a:p>
                  </a:txBody>
                  <a:tcPr marT="91425" marB="91425" marR="91425" marL="91425" anchor="ctr">
                    <a:solidFill>
                      <a:srgbClr val="FFFFFF"/>
                    </a:solidFill>
                  </a:tcPr>
                </a:tc>
              </a:tr>
              <a:tr h="551075">
                <a:tc>
                  <a:txBody>
                    <a:bodyPr/>
                    <a:lstStyle/>
                    <a:p>
                      <a:pPr indent="0" lvl="0" marL="0" rtl="0" algn="l">
                        <a:spcBef>
                          <a:spcPts val="0"/>
                        </a:spcBef>
                        <a:spcAft>
                          <a:spcPts val="0"/>
                        </a:spcAft>
                        <a:buNone/>
                      </a:pPr>
                      <a:r>
                        <a:rPr lang="en-US" sz="1875">
                          <a:solidFill>
                            <a:srgbClr val="17364B"/>
                          </a:solidFill>
                        </a:rPr>
                        <a:t>Generators and memory</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Which data must remain in memory?</a:t>
                      </a:r>
                      <a:endParaRPr sz="1875">
                        <a:solidFill>
                          <a:srgbClr val="17364B"/>
                        </a:solidFill>
                      </a:endParaRPr>
                    </a:p>
                  </a:txBody>
                  <a:tcPr marT="91425" marB="91425" marR="91425" marL="91425" anchor="ctr">
                    <a:solidFill>
                      <a:srgbClr val="F0F4F7"/>
                    </a:solidFill>
                  </a:tcPr>
                </a:tc>
              </a:tr>
              <a:tr h="551075">
                <a:tc>
                  <a:txBody>
                    <a:bodyPr/>
                    <a:lstStyle/>
                    <a:p>
                      <a:pPr indent="0" lvl="0" marL="0" rtl="0" algn="l">
                        <a:spcBef>
                          <a:spcPts val="0"/>
                        </a:spcBef>
                        <a:spcAft>
                          <a:spcPts val="0"/>
                        </a:spcAft>
                        <a:buNone/>
                      </a:pPr>
                      <a:r>
                        <a:rPr lang="en-US" sz="1875">
                          <a:solidFill>
                            <a:srgbClr val="17364B"/>
                          </a:solidFill>
                        </a:rPr>
                        <a:t>CPU, GPU and data movement</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Where does the work happen?</a:t>
                      </a:r>
                      <a:endParaRPr sz="1875">
                        <a:solidFill>
                          <a:srgbClr val="17364B"/>
                        </a:solidFill>
                      </a:endParaRPr>
                    </a:p>
                  </a:txBody>
                  <a:tcPr marT="91425" marB="91425" marR="91425" marL="91425" anchor="ctr">
                    <a:solidFill>
                      <a:srgbClr val="FFFFFF"/>
                    </a:solidFill>
                  </a:tcPr>
                </a:tc>
              </a:tr>
              <a:tr h="551075">
                <a:tc>
                  <a:txBody>
                    <a:bodyPr/>
                    <a:lstStyle/>
                    <a:p>
                      <a:pPr indent="0" lvl="0" marL="0" rtl="0" algn="l">
                        <a:spcBef>
                          <a:spcPts val="0"/>
                        </a:spcBef>
                        <a:spcAft>
                          <a:spcPts val="0"/>
                        </a:spcAft>
                        <a:buNone/>
                      </a:pPr>
                      <a:r>
                        <a:rPr lang="en-US" sz="1875">
                          <a:solidFill>
                            <a:srgbClr val="17364B"/>
                          </a:solidFill>
                        </a:rPr>
                        <a:t>Concurrency and async</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Can useful work continue while we wait?</a:t>
                      </a:r>
                      <a:endParaRPr sz="1875">
                        <a:solidFill>
                          <a:srgbClr val="17364B"/>
                        </a:solidFill>
                      </a:endParaRPr>
                    </a:p>
                  </a:txBody>
                  <a:tcPr marT="91425" marB="91425" marR="91425" marL="91425" anchor="ctr">
                    <a:solidFill>
                      <a:srgbClr val="F0F4F7"/>
                    </a:solidFill>
                  </a:tcPr>
                </a:tc>
              </a:tr>
              <a:tr h="551075">
                <a:tc>
                  <a:txBody>
                    <a:bodyPr/>
                    <a:lstStyle/>
                    <a:p>
                      <a:pPr indent="0" lvl="0" marL="0" rtl="0" algn="l">
                        <a:spcBef>
                          <a:spcPts val="0"/>
                        </a:spcBef>
                        <a:spcAft>
                          <a:spcPts val="0"/>
                        </a:spcAft>
                        <a:buNone/>
                      </a:pPr>
                      <a:r>
                        <a:rPr lang="en-US" sz="1875">
                          <a:solidFill>
                            <a:srgbClr val="17364B"/>
                          </a:solidFill>
                        </a:rPr>
                        <a:t>LLM inference and KV cache</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What can we reuse, and what does it cost?</a:t>
                      </a:r>
                      <a:endParaRPr sz="1875">
                        <a:solidFill>
                          <a:srgbClr val="17364B"/>
                        </a:solidFill>
                      </a:endParaRPr>
                    </a:p>
                  </a:txBody>
                  <a:tcPr marT="91425" marB="91425" marR="91425" marL="91425" anchor="ctr">
                    <a:solidFill>
                      <a:srgbClr val="FFFFFF"/>
                    </a:solidFill>
                  </a:tcPr>
                </a:tc>
              </a:tr>
              <a:tr h="551075">
                <a:tc>
                  <a:txBody>
                    <a:bodyPr/>
                    <a:lstStyle/>
                    <a:p>
                      <a:pPr indent="0" lvl="0" marL="0" rtl="0" algn="l">
                        <a:spcBef>
                          <a:spcPts val="0"/>
                        </a:spcBef>
                        <a:spcAft>
                          <a:spcPts val="0"/>
                        </a:spcAft>
                        <a:buNone/>
                      </a:pPr>
                      <a:r>
                        <a:rPr lang="en-US" sz="1875">
                          <a:solidFill>
                            <a:srgbClr val="17364B"/>
                          </a:solidFill>
                        </a:rPr>
                        <a:t>Tool execution and checks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How do we know the result is correct?</a:t>
                      </a:r>
                      <a:endParaRPr sz="1875">
                        <a:solidFill>
                          <a:srgbClr val="17364B"/>
                        </a:solidFill>
                      </a:endParaRPr>
                    </a:p>
                  </a:txBody>
                  <a:tcPr marT="91425" marB="91425" marR="91425" marL="91425" anchor="ctr">
                    <a:solidFill>
                      <a:srgbClr val="F0F4F7"/>
                    </a:solidFill>
                  </a:tcPr>
                </a:tc>
              </a:tr>
            </a:tbl>
          </a:graphicData>
        </a:graphic>
      </p:graphicFrame>
      <p:sp>
        <p:nvSpPr>
          <p:cNvPr id="44" name="Google Shape;44;p9"/>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02</a:t>
            </a:r>
            <a:endParaRPr sz="1350">
              <a:solidFill>
                <a:srgbClr val="6171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10"/>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Monday’s foundation, Thursday’s questions</a:t>
            </a:r>
            <a:endParaRPr b="1" sz="3300">
              <a:solidFill>
                <a:srgbClr val="002B49"/>
              </a:solidFill>
            </a:endParaRPr>
          </a:p>
        </p:txBody>
      </p:sp>
      <p:sp>
        <p:nvSpPr>
          <p:cNvPr id="51" name="Google Shape;51;p10"/>
          <p:cNvSpPr txBox="1"/>
          <p:nvPr/>
        </p:nvSpPr>
        <p:spPr>
          <a:xfrm>
            <a:off x="609600" y="1762125"/>
            <a:ext cx="48579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05A9C"/>
                </a:solidFill>
              </a:rPr>
              <a:t>Already established</a:t>
            </a:r>
            <a:endParaRPr b="1" sz="2400">
              <a:solidFill>
                <a:srgbClr val="005A9C"/>
              </a:solidFill>
            </a:endParaRPr>
          </a:p>
        </p:txBody>
      </p:sp>
      <p:sp>
        <p:nvSpPr>
          <p:cNvPr id="52" name="Google Shape;52;p10"/>
          <p:cNvSpPr txBox="1"/>
          <p:nvPr/>
        </p:nvSpPr>
        <p:spPr>
          <a:xfrm>
            <a:off x="609600" y="2524125"/>
            <a:ext cx="5095800" cy="20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50">
                <a:solidFill>
                  <a:srgbClr val="17364B"/>
                </a:solidFill>
              </a:rPr>
              <a:t>Names refer to objects.</a:t>
            </a:r>
            <a:endParaRPr sz="2250">
              <a:solidFill>
                <a:srgbClr val="17364B"/>
              </a:solidFill>
            </a:endParaRPr>
          </a:p>
          <a:p>
            <a:pPr indent="0" lvl="0" marL="0" rtl="0" algn="l">
              <a:spcBef>
                <a:spcPts val="0"/>
              </a:spcBef>
              <a:spcAft>
                <a:spcPts val="0"/>
              </a:spcAft>
              <a:buNone/>
            </a:pPr>
            <a:r>
              <a:rPr lang="en-US" sz="2250">
                <a:solidFill>
                  <a:srgbClr val="17364B"/>
                </a:solidFill>
              </a:rPr>
              <a:t>Functions and classes organize work.</a:t>
            </a:r>
            <a:endParaRPr sz="2250">
              <a:solidFill>
                <a:srgbClr val="17364B"/>
              </a:solidFill>
            </a:endParaRPr>
          </a:p>
          <a:p>
            <a:pPr indent="0" lvl="0" marL="0" rtl="0" algn="l">
              <a:spcBef>
                <a:spcPts val="0"/>
              </a:spcBef>
              <a:spcAft>
                <a:spcPts val="0"/>
              </a:spcAft>
              <a:buNone/>
            </a:pPr>
            <a:r>
              <a:rPr lang="en-US" sz="2250">
                <a:solidFill>
                  <a:srgbClr val="17364B"/>
                </a:solidFill>
              </a:rPr>
              <a:t>Hardware has limits.</a:t>
            </a:r>
            <a:endParaRPr sz="2250">
              <a:solidFill>
                <a:srgbClr val="17364B"/>
              </a:solidFill>
            </a:endParaRPr>
          </a:p>
        </p:txBody>
      </p:sp>
      <p:sp>
        <p:nvSpPr>
          <p:cNvPr id="53" name="Google Shape;53;p10"/>
          <p:cNvSpPr txBox="1"/>
          <p:nvPr/>
        </p:nvSpPr>
        <p:spPr>
          <a:xfrm>
            <a:off x="6419850" y="1762125"/>
            <a:ext cx="5162700" cy="8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47D64"/>
                </a:solidFill>
              </a:rPr>
              <a:t>Today we make those limits explicit</a:t>
            </a:r>
            <a:endParaRPr b="1" sz="2400">
              <a:solidFill>
                <a:srgbClr val="147D64"/>
              </a:solidFill>
            </a:endParaRPr>
          </a:p>
        </p:txBody>
      </p:sp>
      <p:sp>
        <p:nvSpPr>
          <p:cNvPr id="54" name="Google Shape;54;p10"/>
          <p:cNvSpPr txBox="1"/>
          <p:nvPr/>
        </p:nvSpPr>
        <p:spPr>
          <a:xfrm>
            <a:off x="6419850" y="2857500"/>
            <a:ext cx="5162700" cy="190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50">
                <a:solidFill>
                  <a:srgbClr val="17364B"/>
                </a:solidFill>
              </a:rPr>
              <a:t>Count work and retained data.</a:t>
            </a:r>
            <a:endParaRPr sz="2250">
              <a:solidFill>
                <a:srgbClr val="17364B"/>
              </a:solidFill>
            </a:endParaRPr>
          </a:p>
          <a:p>
            <a:pPr indent="0" lvl="0" marL="0" rtl="0" algn="l">
              <a:spcBef>
                <a:spcPts val="0"/>
              </a:spcBef>
              <a:spcAft>
                <a:spcPts val="0"/>
              </a:spcAft>
              <a:buNone/>
            </a:pPr>
            <a:r>
              <a:rPr lang="en-US" sz="2250">
                <a:solidFill>
                  <a:srgbClr val="17364B"/>
                </a:solidFill>
              </a:rPr>
              <a:t>Trace execution and waiting.</a:t>
            </a:r>
            <a:endParaRPr sz="2250">
              <a:solidFill>
                <a:srgbClr val="17364B"/>
              </a:solidFill>
            </a:endParaRPr>
          </a:p>
          <a:p>
            <a:pPr indent="0" lvl="0" marL="0" rtl="0" algn="l">
              <a:spcBef>
                <a:spcPts val="0"/>
              </a:spcBef>
              <a:spcAft>
                <a:spcPts val="0"/>
              </a:spcAft>
              <a:buNone/>
            </a:pPr>
            <a:r>
              <a:rPr lang="en-US" sz="2250">
                <a:solidFill>
                  <a:srgbClr val="17364B"/>
                </a:solidFill>
              </a:rPr>
              <a:t>Explain reuse in LLM inference.</a:t>
            </a:r>
            <a:endParaRPr sz="2250">
              <a:solidFill>
                <a:srgbClr val="17364B"/>
              </a:solidFill>
            </a:endParaRPr>
          </a:p>
        </p:txBody>
      </p:sp>
      <p:sp>
        <p:nvSpPr>
          <p:cNvPr id="55" name="Google Shape;55;p10"/>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One recall question, then new material.</a:t>
            </a:r>
            <a:endParaRPr b="1" sz="2025">
              <a:solidFill>
                <a:srgbClr val="002B49"/>
              </a:solidFill>
            </a:endParaRPr>
          </a:p>
        </p:txBody>
      </p:sp>
      <p:sp>
        <p:nvSpPr>
          <p:cNvPr id="56" name="Google Shape;56;p10"/>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03</a:t>
            </a:r>
            <a:endParaRPr sz="1350">
              <a:solidFill>
                <a:srgbClr val="61717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cxnSp>
        <p:nvCxnSpPr>
          <p:cNvPr id="62" name="Google Shape;62;p11"/>
          <p:cNvCxnSpPr>
            <a:stCxn id="63" idx="3"/>
            <a:endCxn id="64" idx="1"/>
          </p:cNvCxnSpPr>
          <p:nvPr/>
        </p:nvCxnSpPr>
        <p:spPr>
          <a:xfrm flipH="1" rot="10800000">
            <a:off x="6924675" y="2933550"/>
            <a:ext cx="1676400" cy="781200"/>
          </a:xfrm>
          <a:prstGeom prst="straightConnector1">
            <a:avLst/>
          </a:prstGeom>
          <a:noFill/>
          <a:ln cap="flat" cmpd="sng" w="23800">
            <a:solidFill>
              <a:srgbClr val="005A9C"/>
            </a:solidFill>
            <a:prstDash val="solid"/>
            <a:round/>
            <a:headEnd len="sm" w="sm" type="none"/>
            <a:tailEnd len="med" w="med" type="triangle"/>
          </a:ln>
        </p:spPr>
      </p:cxnSp>
      <p:cxnSp>
        <p:nvCxnSpPr>
          <p:cNvPr id="65" name="Google Shape;65;p11"/>
          <p:cNvCxnSpPr>
            <a:stCxn id="66" idx="3"/>
            <a:endCxn id="64" idx="1"/>
          </p:cNvCxnSpPr>
          <p:nvPr/>
        </p:nvCxnSpPr>
        <p:spPr>
          <a:xfrm>
            <a:off x="6924675" y="2143125"/>
            <a:ext cx="1676400" cy="790500"/>
          </a:xfrm>
          <a:prstGeom prst="straightConnector1">
            <a:avLst/>
          </a:prstGeom>
          <a:noFill/>
          <a:ln cap="flat" cmpd="sng" w="23800">
            <a:solidFill>
              <a:srgbClr val="005A9C"/>
            </a:solidFill>
            <a:prstDash val="solid"/>
            <a:round/>
            <a:headEnd len="sm" w="sm" type="none"/>
            <a:tailEnd len="med" w="med" type="triangle"/>
          </a:ln>
        </p:spPr>
      </p:cxnSp>
      <p:sp>
        <p:nvSpPr>
          <p:cNvPr id="67" name="Google Shape;67;p11"/>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Names, objects and retained data</a:t>
            </a:r>
            <a:endParaRPr/>
          </a:p>
        </p:txBody>
      </p:sp>
      <p:sp>
        <p:nvSpPr>
          <p:cNvPr id="68" name="Google Shape;68;p11"/>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04</a:t>
            </a:r>
            <a:endParaRPr/>
          </a:p>
        </p:txBody>
      </p:sp>
      <p:sp>
        <p:nvSpPr>
          <p:cNvPr id="69" name="Google Shape;69;p11"/>
          <p:cNvSpPr/>
          <p:nvPr/>
        </p:nvSpPr>
        <p:spPr>
          <a:xfrm>
            <a:off x="609600" y="1714500"/>
            <a:ext cx="4286250" cy="1981200"/>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a = [2, 4]</a:t>
            </a:r>
            <a:endParaRPr>
              <a:latin typeface="Roboto Mono"/>
              <a:ea typeface="Roboto Mono"/>
              <a:cs typeface="Roboto Mono"/>
              <a:sym typeface="Roboto Mono"/>
            </a:endParaRPr>
          </a:p>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b = a</a:t>
            </a:r>
            <a:endParaRPr>
              <a:latin typeface="Roboto Mono"/>
              <a:ea typeface="Roboto Mono"/>
              <a:cs typeface="Roboto Mono"/>
              <a:sym typeface="Roboto Mono"/>
            </a:endParaRPr>
          </a:p>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b.append(9)</a:t>
            </a:r>
            <a:endParaRPr>
              <a:latin typeface="Roboto Mono"/>
              <a:ea typeface="Roboto Mono"/>
              <a:cs typeface="Roboto Mono"/>
              <a:sym typeface="Roboto Mono"/>
            </a:endParaRPr>
          </a:p>
        </p:txBody>
      </p:sp>
      <p:sp>
        <p:nvSpPr>
          <p:cNvPr id="66" name="Google Shape;66;p11"/>
          <p:cNvSpPr/>
          <p:nvPr/>
        </p:nvSpPr>
        <p:spPr>
          <a:xfrm>
            <a:off x="5924550" y="1809750"/>
            <a:ext cx="1000125" cy="6667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a</a:t>
            </a:r>
            <a:endParaRPr/>
          </a:p>
        </p:txBody>
      </p:sp>
      <p:sp>
        <p:nvSpPr>
          <p:cNvPr id="63" name="Google Shape;63;p11"/>
          <p:cNvSpPr/>
          <p:nvPr/>
        </p:nvSpPr>
        <p:spPr>
          <a:xfrm>
            <a:off x="5924550" y="3381375"/>
            <a:ext cx="1000125" cy="6667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b</a:t>
            </a:r>
            <a:endParaRPr/>
          </a:p>
        </p:txBody>
      </p:sp>
      <p:sp>
        <p:nvSpPr>
          <p:cNvPr id="64" name="Google Shape;64;p11"/>
          <p:cNvSpPr/>
          <p:nvPr/>
        </p:nvSpPr>
        <p:spPr>
          <a:xfrm>
            <a:off x="8601075" y="2543175"/>
            <a:ext cx="2667000" cy="78105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700">
                <a:solidFill>
                  <a:srgbClr val="17364B"/>
                </a:solidFill>
                <a:latin typeface="Arial"/>
                <a:ea typeface="Arial"/>
                <a:cs typeface="Arial"/>
                <a:sym typeface="Arial"/>
              </a:rPr>
              <a:t>[2, 4, 9]</a:t>
            </a:r>
            <a:endParaRPr/>
          </a:p>
        </p:txBody>
      </p:sp>
      <p:sp>
        <p:nvSpPr>
          <p:cNvPr id="70" name="Google Shape;70;p11"/>
          <p:cNvSpPr/>
          <p:nvPr/>
        </p:nvSpPr>
        <p:spPr>
          <a:xfrm>
            <a:off x="5819775" y="4476750"/>
            <a:ext cx="1714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1717D"/>
                </a:solidFill>
                <a:latin typeface="Arial"/>
                <a:ea typeface="Arial"/>
                <a:cs typeface="Arial"/>
                <a:sym typeface="Arial"/>
              </a:rPr>
              <a:t>two names</a:t>
            </a:r>
            <a:endParaRPr/>
          </a:p>
        </p:txBody>
      </p:sp>
      <p:sp>
        <p:nvSpPr>
          <p:cNvPr id="71" name="Google Shape;71;p11"/>
          <p:cNvSpPr/>
          <p:nvPr/>
        </p:nvSpPr>
        <p:spPr>
          <a:xfrm>
            <a:off x="8610600" y="4476750"/>
            <a:ext cx="2667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1717D"/>
                </a:solidFill>
                <a:latin typeface="Arial"/>
                <a:ea typeface="Arial"/>
                <a:cs typeface="Arial"/>
                <a:sym typeface="Arial"/>
              </a:rPr>
              <a:t>one list object</a:t>
            </a:r>
            <a:endParaRPr/>
          </a:p>
        </p:txBody>
      </p:sp>
      <p:sp>
        <p:nvSpPr>
          <p:cNvPr id="72" name="Google Shape;72;p11"/>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Today: how much work, and how much extra storage?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77" name="Shape 77"/>
        <p:cNvGrpSpPr/>
        <p:nvPr/>
      </p:nvGrpSpPr>
      <p:grpSpPr>
        <a:xfrm>
          <a:off x="0" y="0"/>
          <a:ext cx="0" cy="0"/>
          <a:chOff x="0" y="0"/>
          <a:chExt cx="0" cy="0"/>
        </a:xfrm>
      </p:grpSpPr>
      <p:sp>
        <p:nvSpPr>
          <p:cNvPr id="78" name="Google Shape;78;p12"/>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ALGORITHMS</a:t>
            </a:r>
            <a:endParaRPr b="1" sz="1875">
              <a:solidFill>
                <a:srgbClr val="FDB515"/>
              </a:solidFill>
            </a:endParaRPr>
          </a:p>
        </p:txBody>
      </p:sp>
      <p:sp>
        <p:nvSpPr>
          <p:cNvPr id="79" name="Google Shape;79;p12"/>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Algorithms and Big O</a:t>
            </a:r>
            <a:endParaRPr b="1" sz="4500">
              <a:solidFill>
                <a:srgbClr val="FFFFFF"/>
              </a:solidFill>
            </a:endParaRPr>
          </a:p>
        </p:txBody>
      </p:sp>
      <p:sp>
        <p:nvSpPr>
          <p:cNvPr id="80" name="Google Shape;80;p12"/>
          <p:cNvSpPr txBox="1"/>
          <p:nvPr/>
        </p:nvSpPr>
        <p:spPr>
          <a:xfrm>
            <a:off x="685800" y="4333875"/>
            <a:ext cx="10477500" cy="10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An algorithm is a step-by-step procedure for solving a problem.</a:t>
            </a:r>
            <a:endParaRPr sz="2550">
              <a:solidFill>
                <a:srgbClr val="FFFFFF"/>
              </a:solidFill>
            </a:endParaRPr>
          </a:p>
        </p:txBody>
      </p:sp>
      <p:sp>
        <p:nvSpPr>
          <p:cNvPr id="81" name="Google Shape;81;p12"/>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05</a:t>
            </a:r>
            <a:endParaRPr sz="1350">
              <a:solidFill>
                <a:srgbClr val="61717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13"/>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rPr>
              <a:t>First: input size, work and extra storage</a:t>
            </a:r>
            <a:endParaRPr b="1" sz="3300">
              <a:solidFill>
                <a:srgbClr val="002B49"/>
              </a:solidFill>
            </a:endParaRPr>
          </a:p>
        </p:txBody>
      </p:sp>
      <p:sp>
        <p:nvSpPr>
          <p:cNvPr id="88" name="Google Shape;88;p13"/>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06</a:t>
            </a:r>
            <a:endParaRPr/>
          </a:p>
        </p:txBody>
      </p:sp>
      <p:sp>
        <p:nvSpPr>
          <p:cNvPr id="89" name="Google Shape;89;p13"/>
          <p:cNvSpPr/>
          <p:nvPr/>
        </p:nvSpPr>
        <p:spPr>
          <a:xfrm>
            <a:off x="609600" y="1714500"/>
            <a:ext cx="5334000" cy="1905000"/>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total = 0</a:t>
            </a:r>
            <a:endParaRPr>
              <a:latin typeface="Roboto Mono"/>
              <a:ea typeface="Roboto Mono"/>
              <a:cs typeface="Roboto Mono"/>
              <a:sym typeface="Roboto Mono"/>
            </a:endParaRPr>
          </a:p>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for x in values:</a:t>
            </a:r>
            <a:endParaRPr>
              <a:latin typeface="Roboto Mono"/>
              <a:ea typeface="Roboto Mono"/>
              <a:cs typeface="Roboto Mono"/>
              <a:sym typeface="Roboto Mono"/>
            </a:endParaRPr>
          </a:p>
          <a:p>
            <a:pPr indent="0" lvl="0" marL="0" marR="0" rtl="0" algn="l">
              <a:spcBef>
                <a:spcPts val="0"/>
              </a:spcBef>
              <a:spcAft>
                <a:spcPts val="0"/>
              </a:spcAft>
              <a:buNone/>
            </a:pPr>
            <a:r>
              <a:rPr lang="en-US" sz="2325">
                <a:solidFill>
                  <a:srgbClr val="17364B"/>
                </a:solidFill>
                <a:latin typeface="Roboto Mono"/>
                <a:ea typeface="Roboto Mono"/>
                <a:cs typeface="Roboto Mono"/>
                <a:sym typeface="Roboto Mono"/>
              </a:rPr>
              <a:t>    total += x</a:t>
            </a:r>
            <a:endParaRPr>
              <a:latin typeface="Roboto Mono"/>
              <a:ea typeface="Roboto Mono"/>
              <a:cs typeface="Roboto Mono"/>
              <a:sym typeface="Roboto Mono"/>
            </a:endParaRPr>
          </a:p>
        </p:txBody>
      </p:sp>
      <p:sp>
        <p:nvSpPr>
          <p:cNvPr id="90" name="Google Shape;90;p13"/>
          <p:cNvSpPr/>
          <p:nvPr/>
        </p:nvSpPr>
        <p:spPr>
          <a:xfrm>
            <a:off x="609600" y="4000500"/>
            <a:ext cx="5381625"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latin typeface="Arial"/>
                <a:ea typeface="Arial"/>
                <a:cs typeface="Arial"/>
                <a:sym typeface="Arial"/>
              </a:rPr>
              <a:t>n = number of input values</a:t>
            </a:r>
            <a:endParaRPr/>
          </a:p>
        </p:txBody>
      </p:sp>
      <p:sp>
        <p:nvSpPr>
          <p:cNvPr id="91" name="Google Shape;91;p13"/>
          <p:cNvSpPr/>
          <p:nvPr/>
        </p:nvSpPr>
        <p:spPr>
          <a:xfrm>
            <a:off x="609600" y="4676775"/>
            <a:ext cx="5381625"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61717D"/>
                </a:solidFill>
                <a:latin typeface="Arial"/>
                <a:ea typeface="Arial"/>
                <a:cs typeface="Arial"/>
                <a:sym typeface="Arial"/>
              </a:rPr>
              <a:t>Extra space excludes the input.</a:t>
            </a:r>
            <a:endParaRPr/>
          </a:p>
        </p:txBody>
      </p:sp>
      <p:sp>
        <p:nvSpPr>
          <p:cNvPr id="92" name="Google Shape;92;p13"/>
          <p:cNvSpPr/>
          <p:nvPr/>
        </p:nvSpPr>
        <p:spPr>
          <a:xfrm>
            <a:off x="6972300" y="1666875"/>
            <a:ext cx="42862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latin typeface="Arial"/>
                <a:ea typeface="Arial"/>
                <a:cs typeface="Arial"/>
                <a:sym typeface="Arial"/>
              </a:rPr>
              <a:t>Work</a:t>
            </a:r>
            <a:endParaRPr/>
          </a:p>
        </p:txBody>
      </p:sp>
      <p:sp>
        <p:nvSpPr>
          <p:cNvPr id="93" name="Google Shape;93;p13"/>
          <p:cNvSpPr/>
          <p:nvPr/>
        </p:nvSpPr>
        <p:spPr>
          <a:xfrm>
            <a:off x="69723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2</a:t>
            </a:r>
            <a:endParaRPr/>
          </a:p>
        </p:txBody>
      </p:sp>
      <p:sp>
        <p:nvSpPr>
          <p:cNvPr id="94" name="Google Shape;94;p13"/>
          <p:cNvSpPr/>
          <p:nvPr/>
        </p:nvSpPr>
        <p:spPr>
          <a:xfrm>
            <a:off x="76962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4</a:t>
            </a:r>
            <a:endParaRPr/>
          </a:p>
        </p:txBody>
      </p:sp>
      <p:sp>
        <p:nvSpPr>
          <p:cNvPr id="95" name="Google Shape;95;p13"/>
          <p:cNvSpPr/>
          <p:nvPr/>
        </p:nvSpPr>
        <p:spPr>
          <a:xfrm>
            <a:off x="84201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6</a:t>
            </a:r>
            <a:endParaRPr/>
          </a:p>
        </p:txBody>
      </p:sp>
      <p:sp>
        <p:nvSpPr>
          <p:cNvPr id="96" name="Google Shape;96;p13"/>
          <p:cNvSpPr/>
          <p:nvPr/>
        </p:nvSpPr>
        <p:spPr>
          <a:xfrm>
            <a:off x="91440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8</a:t>
            </a:r>
            <a:endParaRPr/>
          </a:p>
        </p:txBody>
      </p:sp>
      <p:sp>
        <p:nvSpPr>
          <p:cNvPr id="97" name="Google Shape;97;p13"/>
          <p:cNvSpPr/>
          <p:nvPr/>
        </p:nvSpPr>
        <p:spPr>
          <a:xfrm>
            <a:off x="98679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10</a:t>
            </a:r>
            <a:endParaRPr/>
          </a:p>
        </p:txBody>
      </p:sp>
      <p:sp>
        <p:nvSpPr>
          <p:cNvPr id="98" name="Google Shape;98;p13"/>
          <p:cNvSpPr/>
          <p:nvPr/>
        </p:nvSpPr>
        <p:spPr>
          <a:xfrm>
            <a:off x="10591800" y="2238375"/>
            <a:ext cx="695325" cy="6096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12</a:t>
            </a:r>
            <a:endParaRPr/>
          </a:p>
        </p:txBody>
      </p:sp>
      <p:sp>
        <p:nvSpPr>
          <p:cNvPr id="99" name="Google Shape;99;p13"/>
          <p:cNvSpPr/>
          <p:nvPr/>
        </p:nvSpPr>
        <p:spPr>
          <a:xfrm>
            <a:off x="6972300" y="3076575"/>
            <a:ext cx="42862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400">
                <a:solidFill>
                  <a:srgbClr val="17364B"/>
                </a:solidFill>
              </a:rPr>
              <a:t>n visits</a:t>
            </a:r>
            <a:endParaRPr sz="2400">
              <a:solidFill>
                <a:srgbClr val="17364B"/>
              </a:solidFill>
            </a:endParaRPr>
          </a:p>
        </p:txBody>
      </p:sp>
      <p:sp>
        <p:nvSpPr>
          <p:cNvPr id="100" name="Google Shape;100;p13"/>
          <p:cNvSpPr/>
          <p:nvPr/>
        </p:nvSpPr>
        <p:spPr>
          <a:xfrm>
            <a:off x="6972300" y="3838575"/>
            <a:ext cx="42862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147D64"/>
                </a:solidFill>
                <a:latin typeface="Arial"/>
                <a:ea typeface="Arial"/>
                <a:cs typeface="Arial"/>
                <a:sym typeface="Arial"/>
              </a:rPr>
              <a:t>Extra storage</a:t>
            </a:r>
            <a:endParaRPr/>
          </a:p>
        </p:txBody>
      </p:sp>
      <p:sp>
        <p:nvSpPr>
          <p:cNvPr id="101" name="Google Shape;101;p13"/>
          <p:cNvSpPr/>
          <p:nvPr/>
        </p:nvSpPr>
        <p:spPr>
          <a:xfrm>
            <a:off x="6972300" y="4438650"/>
            <a:ext cx="1428750" cy="6096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total</a:t>
            </a:r>
            <a:endParaRPr/>
          </a:p>
        </p:txBody>
      </p:sp>
      <p:sp>
        <p:nvSpPr>
          <p:cNvPr id="102" name="Google Shape;102;p13"/>
          <p:cNvSpPr/>
          <p:nvPr/>
        </p:nvSpPr>
        <p:spPr>
          <a:xfrm>
            <a:off x="8782050" y="4552950"/>
            <a:ext cx="21907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47D64"/>
                </a:solidFill>
              </a:rPr>
              <a:t>1 total</a:t>
            </a:r>
            <a:endParaRPr b="1" sz="2400">
              <a:solidFill>
                <a:srgbClr val="147D64"/>
              </a:solidFill>
            </a:endParaRPr>
          </a:p>
        </p:txBody>
      </p:sp>
      <p:sp>
        <p:nvSpPr>
          <p:cNvPr id="103" name="Google Shape;103;p13"/>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Count operations and retained data separately.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4"/>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What Big O means</a:t>
            </a:r>
            <a:endParaRPr b="1" sz="3300">
              <a:solidFill>
                <a:srgbClr val="002B49"/>
              </a:solidFill>
            </a:endParaRPr>
          </a:p>
        </p:txBody>
      </p:sp>
      <p:sp>
        <p:nvSpPr>
          <p:cNvPr id="110" name="Google Shape;110;p14"/>
          <p:cNvSpPr txBox="1"/>
          <p:nvPr/>
        </p:nvSpPr>
        <p:spPr>
          <a:xfrm>
            <a:off x="609600" y="1666875"/>
            <a:ext cx="10972800" cy="8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75">
                <a:solidFill>
                  <a:srgbClr val="005A9C"/>
                </a:solidFill>
              </a:rPr>
              <a:t>Big O describes how cost grows as input size grows.</a:t>
            </a:r>
            <a:endParaRPr b="1" sz="2775">
              <a:solidFill>
                <a:srgbClr val="005A9C"/>
              </a:solidFill>
            </a:endParaRPr>
          </a:p>
        </p:txBody>
      </p:sp>
      <p:sp>
        <p:nvSpPr>
          <p:cNvPr id="111" name="Google Shape;111;p14"/>
          <p:cNvSpPr/>
          <p:nvPr/>
        </p:nvSpPr>
        <p:spPr>
          <a:xfrm>
            <a:off x="609600" y="3000375"/>
            <a:ext cx="2714700" cy="15240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4650">
                <a:solidFill>
                  <a:srgbClr val="17364B"/>
                </a:solidFill>
              </a:rPr>
              <a:t>O(n)</a:t>
            </a:r>
            <a:endParaRPr sz="4650">
              <a:solidFill>
                <a:srgbClr val="17364B"/>
              </a:solidFill>
            </a:endParaRPr>
          </a:p>
        </p:txBody>
      </p:sp>
      <p:sp>
        <p:nvSpPr>
          <p:cNvPr id="112" name="Google Shape;112;p14"/>
          <p:cNvSpPr txBox="1"/>
          <p:nvPr/>
        </p:nvSpPr>
        <p:spPr>
          <a:xfrm>
            <a:off x="3857625" y="3000375"/>
            <a:ext cx="7477200" cy="18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rgbClr val="17364B"/>
                </a:solidFill>
              </a:rPr>
              <a:t>Read: “order n”</a:t>
            </a:r>
            <a:endParaRPr sz="2400">
              <a:solidFill>
                <a:srgbClr val="17364B"/>
              </a:solidFill>
            </a:endParaRPr>
          </a:p>
          <a:p>
            <a:pPr indent="0" lvl="0" marL="0" rtl="0" algn="l">
              <a:spcBef>
                <a:spcPts val="0"/>
              </a:spcBef>
              <a:spcAft>
                <a:spcPts val="0"/>
              </a:spcAft>
              <a:buNone/>
            </a:pPr>
            <a:r>
              <a:rPr lang="en-US" sz="2400">
                <a:solidFill>
                  <a:srgbClr val="17364B"/>
                </a:solidFill>
              </a:rPr>
              <a:t>A linear growth bound.</a:t>
            </a:r>
            <a:endParaRPr sz="2400">
              <a:solidFill>
                <a:srgbClr val="17364B"/>
              </a:solidFill>
            </a:endParaRPr>
          </a:p>
          <a:p>
            <a:pPr indent="0" lvl="0" marL="0" rtl="0" algn="l">
              <a:spcBef>
                <a:spcPts val="0"/>
              </a:spcBef>
              <a:spcAft>
                <a:spcPts val="0"/>
              </a:spcAft>
              <a:buNone/>
            </a:pPr>
            <a:r>
              <a:rPr lang="en-US" sz="2400">
                <a:solidFill>
                  <a:srgbClr val="17364B"/>
                </a:solidFill>
              </a:rPr>
              <a:t>For a scan, twice the data means about twice the work.</a:t>
            </a:r>
            <a:endParaRPr sz="2400">
              <a:solidFill>
                <a:srgbClr val="17364B"/>
              </a:solidFill>
            </a:endParaRPr>
          </a:p>
        </p:txBody>
      </p:sp>
      <p:sp>
        <p:nvSpPr>
          <p:cNvPr id="113" name="Google Shape;113;p14"/>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It describes growth, not a number of seconds.</a:t>
            </a:r>
            <a:endParaRPr b="1" sz="2025">
              <a:solidFill>
                <a:srgbClr val="002B49"/>
              </a:solidFill>
            </a:endParaRPr>
          </a:p>
        </p:txBody>
      </p:sp>
      <p:sp>
        <p:nvSpPr>
          <p:cNvPr id="114" name="Google Shape;114;p14"/>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07</a:t>
            </a:r>
            <a:endParaRPr sz="1350">
              <a:solidFill>
                <a:srgbClr val="61717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5"/>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Constants and smaller terms</a:t>
            </a:r>
            <a:endParaRPr b="1" sz="3300">
              <a:solidFill>
                <a:srgbClr val="002B49"/>
              </a:solidFill>
            </a:endParaRPr>
          </a:p>
        </p:txBody>
      </p:sp>
      <p:sp>
        <p:nvSpPr>
          <p:cNvPr id="121" name="Google Shape;121;p15"/>
          <p:cNvSpPr txBox="1"/>
          <p:nvPr/>
        </p:nvSpPr>
        <p:spPr>
          <a:xfrm>
            <a:off x="609600" y="1714500"/>
            <a:ext cx="47625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05A9C"/>
                </a:solidFill>
              </a:rPr>
              <a:t>Count first</a:t>
            </a:r>
            <a:endParaRPr b="1" sz="2400">
              <a:solidFill>
                <a:srgbClr val="005A9C"/>
              </a:solidFill>
            </a:endParaRPr>
          </a:p>
        </p:txBody>
      </p:sp>
      <p:sp>
        <p:nvSpPr>
          <p:cNvPr id="122" name="Google Shape;122;p15"/>
          <p:cNvSpPr txBox="1"/>
          <p:nvPr/>
        </p:nvSpPr>
        <p:spPr>
          <a:xfrm>
            <a:off x="609600" y="2476500"/>
            <a:ext cx="6191400" cy="7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900">
                <a:solidFill>
                  <a:srgbClr val="17364B"/>
                </a:solidFill>
              </a:rPr>
              <a:t>T(n) = 3n + 5</a:t>
            </a:r>
            <a:endParaRPr b="1" sz="3900">
              <a:solidFill>
                <a:srgbClr val="17364B"/>
              </a:solidFill>
            </a:endParaRPr>
          </a:p>
        </p:txBody>
      </p:sp>
      <p:sp>
        <p:nvSpPr>
          <p:cNvPr id="123" name="Google Shape;123;p15"/>
          <p:cNvSpPr txBox="1"/>
          <p:nvPr/>
        </p:nvSpPr>
        <p:spPr>
          <a:xfrm>
            <a:off x="7239000" y="1714500"/>
            <a:ext cx="43434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47D64"/>
                </a:solidFill>
              </a:rPr>
              <a:t>Keep the growth rate</a:t>
            </a:r>
            <a:endParaRPr b="1" sz="2400">
              <a:solidFill>
                <a:srgbClr val="147D64"/>
              </a:solidFill>
            </a:endParaRPr>
          </a:p>
        </p:txBody>
      </p:sp>
      <p:sp>
        <p:nvSpPr>
          <p:cNvPr id="124" name="Google Shape;124;p15"/>
          <p:cNvSpPr/>
          <p:nvPr/>
        </p:nvSpPr>
        <p:spPr>
          <a:xfrm>
            <a:off x="7239000" y="2476500"/>
            <a:ext cx="3810000" cy="1000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750">
                <a:solidFill>
                  <a:srgbClr val="17364B"/>
                </a:solidFill>
              </a:rPr>
              <a:t>O(n)</a:t>
            </a:r>
            <a:endParaRPr sz="3750">
              <a:solidFill>
                <a:srgbClr val="17364B"/>
              </a:solidFill>
            </a:endParaRPr>
          </a:p>
        </p:txBody>
      </p:sp>
      <p:sp>
        <p:nvSpPr>
          <p:cNvPr id="125" name="Google Shape;125;p15"/>
          <p:cNvSpPr txBox="1"/>
          <p:nvPr/>
        </p:nvSpPr>
        <p:spPr>
          <a:xfrm>
            <a:off x="609600" y="4191000"/>
            <a:ext cx="59055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600">
                <a:solidFill>
                  <a:srgbClr val="17364B"/>
                </a:solidFill>
              </a:rPr>
              <a:t>n² + 3n + 5</a:t>
            </a:r>
            <a:endParaRPr sz="3600">
              <a:solidFill>
                <a:srgbClr val="17364B"/>
              </a:solidFill>
            </a:endParaRPr>
          </a:p>
        </p:txBody>
      </p:sp>
      <p:sp>
        <p:nvSpPr>
          <p:cNvPr id="126" name="Google Shape;126;p15"/>
          <p:cNvSpPr/>
          <p:nvPr/>
        </p:nvSpPr>
        <p:spPr>
          <a:xfrm>
            <a:off x="7239000" y="4095750"/>
            <a:ext cx="3810000" cy="1000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750">
                <a:solidFill>
                  <a:srgbClr val="17364B"/>
                </a:solidFill>
              </a:rPr>
              <a:t>O(n²)</a:t>
            </a:r>
            <a:endParaRPr sz="3750">
              <a:solidFill>
                <a:srgbClr val="17364B"/>
              </a:solidFill>
            </a:endParaRPr>
          </a:p>
        </p:txBody>
      </p:sp>
      <p:sp>
        <p:nvSpPr>
          <p:cNvPr id="127" name="Google Shape;127;p15"/>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dominant term determines the asymptotic growth.</a:t>
            </a:r>
            <a:endParaRPr b="1" sz="2025">
              <a:solidFill>
                <a:srgbClr val="002B49"/>
              </a:solidFill>
            </a:endParaRPr>
          </a:p>
        </p:txBody>
      </p:sp>
      <p:sp>
        <p:nvSpPr>
          <p:cNvPr id="128" name="Google Shape;128;p15"/>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08</a:t>
            </a:r>
            <a:endParaRPr sz="1350">
              <a:solidFill>
                <a:srgbClr val="61717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6"/>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Common growth rates</a:t>
            </a:r>
            <a:endParaRPr/>
          </a:p>
        </p:txBody>
      </p:sp>
      <p:sp>
        <p:nvSpPr>
          <p:cNvPr id="135" name="Google Shape;135;p16"/>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09</a:t>
            </a:r>
            <a:endParaRPr/>
          </a:p>
        </p:txBody>
      </p:sp>
      <p:sp>
        <p:nvSpPr>
          <p:cNvPr id="136" name="Google Shape;136;p16"/>
          <p:cNvSpPr/>
          <p:nvPr/>
        </p:nvSpPr>
        <p:spPr>
          <a:xfrm>
            <a:off x="8858250" y="1762125"/>
            <a:ext cx="266700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002B49"/>
                </a:solidFill>
                <a:latin typeface="Arial"/>
                <a:ea typeface="Arial"/>
                <a:cs typeface="Arial"/>
                <a:sym typeface="Arial"/>
              </a:rPr>
              <a:t>Big O</a:t>
            </a:r>
            <a:endParaRPr/>
          </a:p>
        </p:txBody>
      </p:sp>
      <p:sp>
        <p:nvSpPr>
          <p:cNvPr id="137" name="Google Shape;137;p16"/>
          <p:cNvSpPr/>
          <p:nvPr/>
        </p:nvSpPr>
        <p:spPr>
          <a:xfrm>
            <a:off x="8858250" y="2381250"/>
            <a:ext cx="2714625"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7364B"/>
                </a:solidFill>
                <a:latin typeface="Arial"/>
                <a:ea typeface="Arial"/>
                <a:cs typeface="Arial"/>
                <a:sym typeface="Arial"/>
              </a:rPr>
              <a:t>An upper bound on</a:t>
            </a:r>
            <a:endParaRPr/>
          </a:p>
          <a:p>
            <a:pPr indent="0" lvl="0" marL="0" marR="0" rtl="0" algn="l">
              <a:spcBef>
                <a:spcPts val="0"/>
              </a:spcBef>
              <a:spcAft>
                <a:spcPts val="0"/>
              </a:spcAft>
              <a:buNone/>
            </a:pPr>
            <a:r>
              <a:rPr b="0" lang="en-US" sz="2100">
                <a:solidFill>
                  <a:srgbClr val="17364B"/>
                </a:solidFill>
                <a:latin typeface="Arial"/>
                <a:ea typeface="Arial"/>
                <a:cs typeface="Arial"/>
                <a:sym typeface="Arial"/>
              </a:rPr>
              <a:t>how cost grows</a:t>
            </a:r>
            <a:endParaRPr/>
          </a:p>
          <a:p>
            <a:pPr indent="0" lvl="0" marL="0" marR="0" rtl="0" algn="l">
              <a:spcBef>
                <a:spcPts val="0"/>
              </a:spcBef>
              <a:spcAft>
                <a:spcPts val="0"/>
              </a:spcAft>
              <a:buNone/>
            </a:pPr>
            <a:r>
              <a:rPr b="0" lang="en-US" sz="2100">
                <a:solidFill>
                  <a:srgbClr val="17364B"/>
                </a:solidFill>
                <a:latin typeface="Arial"/>
                <a:ea typeface="Arial"/>
                <a:cs typeface="Arial"/>
                <a:sym typeface="Arial"/>
              </a:rPr>
              <a:t>with input size.</a:t>
            </a:r>
            <a:endParaRPr/>
          </a:p>
        </p:txBody>
      </p:sp>
      <p:sp>
        <p:nvSpPr>
          <p:cNvPr id="138" name="Google Shape;138;p16"/>
          <p:cNvSpPr/>
          <p:nvPr/>
        </p:nvSpPr>
        <p:spPr>
          <a:xfrm>
            <a:off x="8858250" y="4114800"/>
            <a:ext cx="2714625" cy="1238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61717D"/>
                </a:solidFill>
                <a:latin typeface="Arial"/>
                <a:ea typeface="Arial"/>
                <a:cs typeface="Arial"/>
                <a:sym typeface="Arial"/>
              </a:rPr>
              <a:t>State the case:</a:t>
            </a:r>
            <a:endParaRPr/>
          </a:p>
          <a:p>
            <a:pPr indent="0" lvl="0" marL="0" marR="0" rtl="0" algn="l">
              <a:spcBef>
                <a:spcPts val="0"/>
              </a:spcBef>
              <a:spcAft>
                <a:spcPts val="0"/>
              </a:spcAft>
              <a:buNone/>
            </a:pPr>
            <a:r>
              <a:rPr b="0" lang="en-US" sz="1950">
                <a:solidFill>
                  <a:srgbClr val="61717D"/>
                </a:solidFill>
                <a:latin typeface="Arial"/>
                <a:ea typeface="Arial"/>
                <a:cs typeface="Arial"/>
                <a:sym typeface="Arial"/>
              </a:rPr>
              <a:t>worst, expected,</a:t>
            </a:r>
            <a:endParaRPr/>
          </a:p>
          <a:p>
            <a:pPr indent="0" lvl="0" marL="0" marR="0" rtl="0" algn="l">
              <a:spcBef>
                <a:spcPts val="0"/>
              </a:spcBef>
              <a:spcAft>
                <a:spcPts val="0"/>
              </a:spcAft>
              <a:buNone/>
            </a:pPr>
            <a:r>
              <a:rPr b="0" lang="en-US" sz="1950">
                <a:solidFill>
                  <a:srgbClr val="61717D"/>
                </a:solidFill>
                <a:latin typeface="Arial"/>
                <a:ea typeface="Arial"/>
                <a:cs typeface="Arial"/>
                <a:sym typeface="Arial"/>
              </a:rPr>
              <a:t>or amortized.</a:t>
            </a:r>
            <a:endParaRPr/>
          </a:p>
        </p:txBody>
      </p:sp>
      <p:sp>
        <p:nvSpPr>
          <p:cNvPr id="139" name="Google Shape;139;p16"/>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Growth rates guide the choice. Measurements test the implementation.</a:t>
            </a:r>
            <a:endParaRPr/>
          </a:p>
        </p:txBody>
      </p:sp>
      <p:pic>
        <p:nvPicPr>
          <p:cNvPr id="140" name="Google Shape;140;p16" title="Work as input size grows"/>
          <p:cNvPicPr preferRelativeResize="0"/>
          <p:nvPr/>
        </p:nvPicPr>
        <p:blipFill>
          <a:blip r:embed="rId3">
            <a:alphaModFix/>
          </a:blip>
          <a:stretch>
            <a:fillRect/>
          </a:stretch>
        </p:blipFill>
        <p:spPr>
          <a:xfrm>
            <a:off x="609600" y="1619250"/>
            <a:ext cx="7762875" cy="3733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17"/>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The main complexity classes</a:t>
            </a:r>
            <a:endParaRPr b="1" sz="3300">
              <a:solidFill>
                <a:srgbClr val="002B49"/>
              </a:solidFill>
            </a:endParaRPr>
          </a:p>
        </p:txBody>
      </p:sp>
      <p:graphicFrame>
        <p:nvGraphicFramePr>
          <p:cNvPr id="147" name="Google Shape;147;p17"/>
          <p:cNvGraphicFramePr/>
          <p:nvPr/>
        </p:nvGraphicFramePr>
        <p:xfrm>
          <a:off x="609600" y="1571625"/>
          <a:ext cx="3000000" cy="3000000"/>
        </p:xfrm>
        <a:graphic>
          <a:graphicData uri="http://schemas.openxmlformats.org/drawingml/2006/table">
            <a:tbl>
              <a:tblPr>
                <a:noFill/>
                <a:tableStyleId>{739E50A3-21F2-4E9A-B190-4EFA897D3436}</a:tableStyleId>
              </a:tblPr>
              <a:tblGrid>
                <a:gridCol w="2571750"/>
                <a:gridCol w="5667375"/>
                <a:gridCol w="2733675"/>
              </a:tblGrid>
              <a:tr h="647700">
                <a:tc>
                  <a:txBody>
                    <a:bodyPr/>
                    <a:lstStyle/>
                    <a:p>
                      <a:pPr indent="0" lvl="0" marL="0" rtl="0" algn="l">
                        <a:spcBef>
                          <a:spcPts val="0"/>
                        </a:spcBef>
                        <a:spcAft>
                          <a:spcPts val="0"/>
                        </a:spcAft>
                        <a:buNone/>
                      </a:pPr>
                      <a:r>
                        <a:rPr b="1" lang="en-US" sz="1875">
                          <a:solidFill>
                            <a:srgbClr val="FFFFFF"/>
                          </a:solidFill>
                        </a:rPr>
                        <a:t>Class</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Name / mechanism</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At n = 1,024</a:t>
                      </a:r>
                      <a:endParaRPr b="1" sz="1875">
                        <a:solidFill>
                          <a:srgbClr val="FFFFFF"/>
                        </a:solidFill>
                      </a:endParaRPr>
                    </a:p>
                  </a:txBody>
                  <a:tcPr marT="91425" marB="91425" marR="91425" marL="91425" anchor="ctr">
                    <a:solidFill>
                      <a:srgbClr val="002B49"/>
                    </a:solidFill>
                  </a:tcPr>
                </a:tc>
              </a:tr>
              <a:tr h="647700">
                <a:tc>
                  <a:txBody>
                    <a:bodyPr/>
                    <a:lstStyle/>
                    <a:p>
                      <a:pPr indent="0" lvl="0" marL="0" rtl="0" algn="l">
                        <a:spcBef>
                          <a:spcPts val="0"/>
                        </a:spcBef>
                        <a:spcAft>
                          <a:spcPts val="0"/>
                        </a:spcAft>
                        <a:buNone/>
                      </a:pPr>
                      <a:r>
                        <a:rPr lang="en-US" sz="1875">
                          <a:solidFill>
                            <a:srgbClr val="17364B"/>
                          </a:solidFill>
                        </a:rPr>
                        <a:t>O(1)</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Constant: direct indexing</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1</a:t>
                      </a:r>
                      <a:endParaRPr sz="1875">
                        <a:solidFill>
                          <a:srgbClr val="17364B"/>
                        </a:solidFill>
                      </a:endParaRPr>
                    </a:p>
                  </a:txBody>
                  <a:tcPr marT="91425" marB="91425" marR="91425" marL="91425" anchor="ctr">
                    <a:solidFill>
                      <a:srgbClr val="FFFFFF"/>
                    </a:solidFill>
                  </a:tcPr>
                </a:tc>
              </a:tr>
              <a:tr h="647700">
                <a:tc>
                  <a:txBody>
                    <a:bodyPr/>
                    <a:lstStyle/>
                    <a:p>
                      <a:pPr indent="0" lvl="0" marL="0" rtl="0" algn="l">
                        <a:spcBef>
                          <a:spcPts val="0"/>
                        </a:spcBef>
                        <a:spcAft>
                          <a:spcPts val="0"/>
                        </a:spcAft>
                        <a:buNone/>
                      </a:pPr>
                      <a:r>
                        <a:rPr lang="en-US" sz="1875">
                          <a:solidFill>
                            <a:srgbClr val="17364B"/>
                          </a:solidFill>
                        </a:rPr>
                        <a:t>O(log n)</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Logarithmic: halve the range</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10</a:t>
                      </a:r>
                      <a:endParaRPr sz="1875">
                        <a:solidFill>
                          <a:srgbClr val="17364B"/>
                        </a:solidFill>
                      </a:endParaRPr>
                    </a:p>
                  </a:txBody>
                  <a:tcPr marT="91425" marB="91425" marR="91425" marL="91425" anchor="ctr">
                    <a:solidFill>
                      <a:srgbClr val="F0F4F7"/>
                    </a:solidFill>
                  </a:tcPr>
                </a:tc>
              </a:tr>
              <a:tr h="647700">
                <a:tc>
                  <a:txBody>
                    <a:bodyPr/>
                    <a:lstStyle/>
                    <a:p>
                      <a:pPr indent="0" lvl="0" marL="0" rtl="0" algn="l">
                        <a:spcBef>
                          <a:spcPts val="0"/>
                        </a:spcBef>
                        <a:spcAft>
                          <a:spcPts val="0"/>
                        </a:spcAft>
                        <a:buNone/>
                      </a:pPr>
                      <a:r>
                        <a:rPr lang="en-US" sz="1875">
                          <a:solidFill>
                            <a:srgbClr val="17364B"/>
                          </a:solidFill>
                        </a:rPr>
                        <a:t>O(n)</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Linear: visit each item</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1,024</a:t>
                      </a:r>
                      <a:endParaRPr sz="1875">
                        <a:solidFill>
                          <a:srgbClr val="17364B"/>
                        </a:solidFill>
                      </a:endParaRPr>
                    </a:p>
                  </a:txBody>
                  <a:tcPr marT="91425" marB="91425" marR="91425" marL="91425" anchor="ctr">
                    <a:solidFill>
                      <a:srgbClr val="FFFFFF"/>
                    </a:solidFill>
                  </a:tcPr>
                </a:tc>
              </a:tr>
              <a:tr h="647700">
                <a:tc>
                  <a:txBody>
                    <a:bodyPr/>
                    <a:lstStyle/>
                    <a:p>
                      <a:pPr indent="0" lvl="0" marL="0" rtl="0" algn="l">
                        <a:spcBef>
                          <a:spcPts val="0"/>
                        </a:spcBef>
                        <a:spcAft>
                          <a:spcPts val="0"/>
                        </a:spcAft>
                        <a:buNone/>
                      </a:pPr>
                      <a:r>
                        <a:rPr lang="en-US" sz="1875">
                          <a:solidFill>
                            <a:srgbClr val="17364B"/>
                          </a:solidFill>
                        </a:rPr>
                        <a:t>O(n log n)</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Linearithmic: merge-sort levels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10,240</a:t>
                      </a:r>
                      <a:endParaRPr sz="1875">
                        <a:solidFill>
                          <a:srgbClr val="17364B"/>
                        </a:solidFill>
                      </a:endParaRPr>
                    </a:p>
                  </a:txBody>
                  <a:tcPr marT="91425" marB="91425" marR="91425" marL="91425" anchor="ctr">
                    <a:solidFill>
                      <a:srgbClr val="F0F4F7"/>
                    </a:solidFill>
                  </a:tcPr>
                </a:tc>
              </a:tr>
              <a:tr h="647700">
                <a:tc>
                  <a:txBody>
                    <a:bodyPr/>
                    <a:lstStyle/>
                    <a:p>
                      <a:pPr indent="0" lvl="0" marL="0" rtl="0" algn="l">
                        <a:spcBef>
                          <a:spcPts val="0"/>
                        </a:spcBef>
                        <a:spcAft>
                          <a:spcPts val="0"/>
                        </a:spcAft>
                        <a:buNone/>
                      </a:pPr>
                      <a:r>
                        <a:rPr lang="en-US" sz="1875">
                          <a:solidFill>
                            <a:srgbClr val="17364B"/>
                          </a:solidFill>
                        </a:rPr>
                        <a:t>O(n²)</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Quadratic: every ordered pair</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1,048,576</a:t>
                      </a:r>
                      <a:endParaRPr sz="1875">
                        <a:solidFill>
                          <a:srgbClr val="17364B"/>
                        </a:solidFill>
                      </a:endParaRPr>
                    </a:p>
                  </a:txBody>
                  <a:tcPr marT="91425" marB="91425" marR="91425" marL="91425" anchor="ctr">
                    <a:solidFill>
                      <a:srgbClr val="FFFFFF"/>
                    </a:solidFill>
                  </a:tcPr>
                </a:tc>
              </a:tr>
            </a:tbl>
          </a:graphicData>
        </a:graphic>
      </p:graphicFrame>
      <p:sp>
        <p:nvSpPr>
          <p:cNvPr id="148" name="Google Shape;148;p17"/>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Illustrative values of 1, log₂ n, n, n log₂ n and n².</a:t>
            </a:r>
            <a:endParaRPr b="1" sz="2025">
              <a:solidFill>
                <a:srgbClr val="002B49"/>
              </a:solidFill>
            </a:endParaRPr>
          </a:p>
        </p:txBody>
      </p:sp>
      <p:sp>
        <p:nvSpPr>
          <p:cNvPr id="149" name="Google Shape;149;p17"/>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10</a:t>
            </a:r>
            <a:endParaRPr sz="1350">
              <a:solidFill>
                <a:srgbClr val="61717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8"/>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rPr>
              <a:t>Video: Big O</a:t>
            </a:r>
            <a:endParaRPr b="1" sz="3300">
              <a:solidFill>
                <a:srgbClr val="002B49"/>
              </a:solidFill>
            </a:endParaRPr>
          </a:p>
        </p:txBody>
      </p:sp>
      <p:sp>
        <p:nvSpPr>
          <p:cNvPr id="156" name="Google Shape;156;p18"/>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11</a:t>
            </a:r>
            <a:endParaRPr/>
          </a:p>
        </p:txBody>
      </p:sp>
      <p:pic>
        <p:nvPicPr>
          <p:cNvPr id="157" name="Google Shape;157;p18">
            <a:hlinkClick r:id="rId3"/>
          </p:cNvPr>
          <p:cNvPicPr preferRelativeResize="0"/>
          <p:nvPr/>
        </p:nvPicPr>
        <p:blipFill>
          <a:blip r:embed="rId4">
            <a:alphaModFix/>
          </a:blip>
          <a:stretch>
            <a:fillRect/>
          </a:stretch>
        </p:blipFill>
        <p:spPr>
          <a:xfrm>
            <a:off x="2352675" y="1428750"/>
            <a:ext cx="7486650" cy="4210050"/>
          </a:xfrm>
          <a:prstGeom prst="rect">
            <a:avLst/>
          </a:prstGeom>
          <a:noFill/>
          <a:ln>
            <a:noFill/>
          </a:ln>
        </p:spPr>
      </p:pic>
      <p:sp>
        <p:nvSpPr>
          <p:cNvPr id="158" name="Google Shape;158;p18"/>
          <p:cNvSpPr txBox="1"/>
          <p:nvPr/>
        </p:nvSpPr>
        <p:spPr>
          <a:xfrm>
            <a:off x="609600" y="6315075"/>
            <a:ext cx="5715000" cy="3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75" u="sng">
                <a:solidFill>
                  <a:schemeClr val="hlink"/>
                </a:solidFill>
                <a:hlinkClick r:id="rId5"/>
              </a:rPr>
              <a:t>Open video in YouTube</a:t>
            </a:r>
            <a:endParaRPr sz="1575">
              <a:solidFill>
                <a:srgbClr val="005A9C"/>
              </a:solidFill>
            </a:endParaRPr>
          </a:p>
        </p:txBody>
      </p:sp>
      <p:sp>
        <p:nvSpPr>
          <p:cNvPr id="159" name="Google Shape;159;p18"/>
          <p:cNvSpPr txBox="1"/>
          <p:nvPr/>
        </p:nvSpPr>
        <p:spPr>
          <a:xfrm>
            <a:off x="609600" y="5724525"/>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002B49"/>
                </a:solidFill>
              </a:rPr>
              <a:t>Watch for the operation behind each growth rate.</a:t>
            </a:r>
            <a:endParaRPr b="1" sz="2100">
              <a:solidFill>
                <a:srgbClr val="002B49"/>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9"/>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A scan and an all-pairs comparison</a:t>
            </a:r>
            <a:endParaRPr/>
          </a:p>
        </p:txBody>
      </p:sp>
      <p:sp>
        <p:nvSpPr>
          <p:cNvPr id="166" name="Google Shape;166;p19"/>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12</a:t>
            </a:r>
            <a:endParaRPr/>
          </a:p>
        </p:txBody>
      </p:sp>
      <p:sp>
        <p:nvSpPr>
          <p:cNvPr id="167" name="Google Shape;167;p19"/>
          <p:cNvSpPr/>
          <p:nvPr/>
        </p:nvSpPr>
        <p:spPr>
          <a:xfrm>
            <a:off x="609600" y="1590675"/>
            <a:ext cx="47625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005A9C"/>
                </a:solidFill>
                <a:latin typeface="Arial"/>
                <a:ea typeface="Arial"/>
                <a:cs typeface="Arial"/>
                <a:sym typeface="Arial"/>
              </a:rPr>
              <a:t>Scan each item</a:t>
            </a:r>
            <a:endParaRPr/>
          </a:p>
        </p:txBody>
      </p:sp>
      <p:sp>
        <p:nvSpPr>
          <p:cNvPr id="168" name="Google Shape;168;p19"/>
          <p:cNvSpPr/>
          <p:nvPr/>
        </p:nvSpPr>
        <p:spPr>
          <a:xfrm>
            <a:off x="609600" y="2333625"/>
            <a:ext cx="828675" cy="6858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a:t>
            </a:r>
            <a:endParaRPr/>
          </a:p>
        </p:txBody>
      </p:sp>
      <p:sp>
        <p:nvSpPr>
          <p:cNvPr id="169" name="Google Shape;169;p19"/>
          <p:cNvSpPr/>
          <p:nvPr/>
        </p:nvSpPr>
        <p:spPr>
          <a:xfrm>
            <a:off x="1466850" y="2333625"/>
            <a:ext cx="828675" cy="6858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2</a:t>
            </a:r>
            <a:endParaRPr/>
          </a:p>
        </p:txBody>
      </p:sp>
      <p:sp>
        <p:nvSpPr>
          <p:cNvPr id="170" name="Google Shape;170;p19"/>
          <p:cNvSpPr/>
          <p:nvPr/>
        </p:nvSpPr>
        <p:spPr>
          <a:xfrm>
            <a:off x="2324100" y="2333625"/>
            <a:ext cx="828675" cy="6858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3</a:t>
            </a:r>
            <a:endParaRPr/>
          </a:p>
        </p:txBody>
      </p:sp>
      <p:sp>
        <p:nvSpPr>
          <p:cNvPr id="171" name="Google Shape;171;p19"/>
          <p:cNvSpPr/>
          <p:nvPr/>
        </p:nvSpPr>
        <p:spPr>
          <a:xfrm>
            <a:off x="3181350" y="2333625"/>
            <a:ext cx="828675" cy="68580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4</a:t>
            </a:r>
            <a:endParaRPr/>
          </a:p>
        </p:txBody>
      </p:sp>
      <p:sp>
        <p:nvSpPr>
          <p:cNvPr id="172" name="Google Shape;172;p19"/>
          <p:cNvSpPr/>
          <p:nvPr/>
        </p:nvSpPr>
        <p:spPr>
          <a:xfrm>
            <a:off x="609600" y="3524250"/>
            <a:ext cx="46672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325">
                <a:solidFill>
                  <a:srgbClr val="17364B"/>
                </a:solidFill>
                <a:latin typeface="Arial"/>
                <a:ea typeface="Arial"/>
                <a:cs typeface="Arial"/>
                <a:sym typeface="Arial"/>
              </a:rPr>
              <a:t>4 items = 4 visits</a:t>
            </a:r>
            <a:endParaRPr/>
          </a:p>
        </p:txBody>
      </p:sp>
      <p:sp>
        <p:nvSpPr>
          <p:cNvPr id="173" name="Google Shape;173;p19"/>
          <p:cNvSpPr/>
          <p:nvPr/>
        </p:nvSpPr>
        <p:spPr>
          <a:xfrm>
            <a:off x="609600" y="4429125"/>
            <a:ext cx="4667250" cy="87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latin typeface="Arial"/>
                <a:ea typeface="Arial"/>
                <a:cs typeface="Arial"/>
                <a:sym typeface="Arial"/>
              </a:rPr>
              <a:t>Twice as many items</a:t>
            </a:r>
            <a:endParaRPr/>
          </a:p>
          <a:p>
            <a:pPr indent="0" lvl="0" marL="0" marR="0" rtl="0" algn="l">
              <a:spcBef>
                <a:spcPts val="0"/>
              </a:spcBef>
              <a:spcAft>
                <a:spcPts val="0"/>
              </a:spcAft>
              <a:buNone/>
            </a:pPr>
            <a:r>
              <a:rPr b="1" lang="en-US" sz="2250">
                <a:solidFill>
                  <a:srgbClr val="005A9C"/>
                </a:solidFill>
                <a:latin typeface="Arial"/>
                <a:ea typeface="Arial"/>
                <a:cs typeface="Arial"/>
                <a:sym typeface="Arial"/>
              </a:rPr>
              <a:t>Twice as much work</a:t>
            </a:r>
            <a:endParaRPr/>
          </a:p>
        </p:txBody>
      </p:sp>
      <p:sp>
        <p:nvSpPr>
          <p:cNvPr id="174" name="Google Shape;174;p19"/>
          <p:cNvSpPr/>
          <p:nvPr/>
        </p:nvSpPr>
        <p:spPr>
          <a:xfrm>
            <a:off x="6438900" y="1590675"/>
            <a:ext cx="52387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B75914"/>
                </a:solidFill>
                <a:latin typeface="Arial"/>
                <a:ea typeface="Arial"/>
                <a:cs typeface="Arial"/>
                <a:sym typeface="Arial"/>
              </a:rPr>
              <a:t>Compare every ordered pair</a:t>
            </a:r>
            <a:endParaRPr/>
          </a:p>
        </p:txBody>
      </p:sp>
      <p:sp>
        <p:nvSpPr>
          <p:cNvPr id="175" name="Google Shape;175;p19"/>
          <p:cNvSpPr/>
          <p:nvPr/>
        </p:nvSpPr>
        <p:spPr>
          <a:xfrm>
            <a:off x="7048500" y="22098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1,1</a:t>
            </a:r>
            <a:endParaRPr/>
          </a:p>
        </p:txBody>
      </p:sp>
      <p:sp>
        <p:nvSpPr>
          <p:cNvPr id="176" name="Google Shape;176;p19"/>
          <p:cNvSpPr/>
          <p:nvPr/>
        </p:nvSpPr>
        <p:spPr>
          <a:xfrm>
            <a:off x="7715250" y="22098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1,2</a:t>
            </a:r>
            <a:endParaRPr/>
          </a:p>
        </p:txBody>
      </p:sp>
      <p:sp>
        <p:nvSpPr>
          <p:cNvPr id="177" name="Google Shape;177;p19"/>
          <p:cNvSpPr/>
          <p:nvPr/>
        </p:nvSpPr>
        <p:spPr>
          <a:xfrm>
            <a:off x="8382000" y="22098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1,3</a:t>
            </a:r>
            <a:endParaRPr/>
          </a:p>
        </p:txBody>
      </p:sp>
      <p:sp>
        <p:nvSpPr>
          <p:cNvPr id="178" name="Google Shape;178;p19"/>
          <p:cNvSpPr/>
          <p:nvPr/>
        </p:nvSpPr>
        <p:spPr>
          <a:xfrm>
            <a:off x="9048750" y="22098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1,4</a:t>
            </a:r>
            <a:endParaRPr/>
          </a:p>
        </p:txBody>
      </p:sp>
      <p:sp>
        <p:nvSpPr>
          <p:cNvPr id="179" name="Google Shape;179;p19"/>
          <p:cNvSpPr/>
          <p:nvPr/>
        </p:nvSpPr>
        <p:spPr>
          <a:xfrm>
            <a:off x="7048500" y="28765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2,1</a:t>
            </a:r>
            <a:endParaRPr/>
          </a:p>
        </p:txBody>
      </p:sp>
      <p:sp>
        <p:nvSpPr>
          <p:cNvPr id="180" name="Google Shape;180;p19"/>
          <p:cNvSpPr/>
          <p:nvPr/>
        </p:nvSpPr>
        <p:spPr>
          <a:xfrm>
            <a:off x="7715250" y="28765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2,2</a:t>
            </a:r>
            <a:endParaRPr/>
          </a:p>
        </p:txBody>
      </p:sp>
      <p:sp>
        <p:nvSpPr>
          <p:cNvPr id="181" name="Google Shape;181;p19"/>
          <p:cNvSpPr/>
          <p:nvPr/>
        </p:nvSpPr>
        <p:spPr>
          <a:xfrm>
            <a:off x="8382000" y="28765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2,3</a:t>
            </a:r>
            <a:endParaRPr/>
          </a:p>
        </p:txBody>
      </p:sp>
      <p:sp>
        <p:nvSpPr>
          <p:cNvPr id="182" name="Google Shape;182;p19"/>
          <p:cNvSpPr/>
          <p:nvPr/>
        </p:nvSpPr>
        <p:spPr>
          <a:xfrm>
            <a:off x="9048750" y="28765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2,4</a:t>
            </a:r>
            <a:endParaRPr/>
          </a:p>
        </p:txBody>
      </p:sp>
      <p:sp>
        <p:nvSpPr>
          <p:cNvPr id="183" name="Google Shape;183;p19"/>
          <p:cNvSpPr/>
          <p:nvPr/>
        </p:nvSpPr>
        <p:spPr>
          <a:xfrm>
            <a:off x="7048500" y="35433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3,1</a:t>
            </a:r>
            <a:endParaRPr/>
          </a:p>
        </p:txBody>
      </p:sp>
      <p:sp>
        <p:nvSpPr>
          <p:cNvPr id="184" name="Google Shape;184;p19"/>
          <p:cNvSpPr/>
          <p:nvPr/>
        </p:nvSpPr>
        <p:spPr>
          <a:xfrm>
            <a:off x="7715250" y="35433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3,2</a:t>
            </a:r>
            <a:endParaRPr/>
          </a:p>
        </p:txBody>
      </p:sp>
      <p:sp>
        <p:nvSpPr>
          <p:cNvPr id="185" name="Google Shape;185;p19"/>
          <p:cNvSpPr/>
          <p:nvPr/>
        </p:nvSpPr>
        <p:spPr>
          <a:xfrm>
            <a:off x="8382000" y="35433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3,3</a:t>
            </a:r>
            <a:endParaRPr/>
          </a:p>
        </p:txBody>
      </p:sp>
      <p:sp>
        <p:nvSpPr>
          <p:cNvPr id="186" name="Google Shape;186;p19"/>
          <p:cNvSpPr/>
          <p:nvPr/>
        </p:nvSpPr>
        <p:spPr>
          <a:xfrm>
            <a:off x="9048750" y="354330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3,4</a:t>
            </a:r>
            <a:endParaRPr/>
          </a:p>
        </p:txBody>
      </p:sp>
      <p:sp>
        <p:nvSpPr>
          <p:cNvPr id="187" name="Google Shape;187;p19"/>
          <p:cNvSpPr/>
          <p:nvPr/>
        </p:nvSpPr>
        <p:spPr>
          <a:xfrm>
            <a:off x="7048500" y="42100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4,1</a:t>
            </a:r>
            <a:endParaRPr/>
          </a:p>
        </p:txBody>
      </p:sp>
      <p:sp>
        <p:nvSpPr>
          <p:cNvPr id="188" name="Google Shape;188;p19"/>
          <p:cNvSpPr/>
          <p:nvPr/>
        </p:nvSpPr>
        <p:spPr>
          <a:xfrm>
            <a:off x="7715250" y="42100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4,2</a:t>
            </a:r>
            <a:endParaRPr/>
          </a:p>
        </p:txBody>
      </p:sp>
      <p:sp>
        <p:nvSpPr>
          <p:cNvPr id="189" name="Google Shape;189;p19"/>
          <p:cNvSpPr/>
          <p:nvPr/>
        </p:nvSpPr>
        <p:spPr>
          <a:xfrm>
            <a:off x="8382000" y="42100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4,3</a:t>
            </a:r>
            <a:endParaRPr/>
          </a:p>
        </p:txBody>
      </p:sp>
      <p:sp>
        <p:nvSpPr>
          <p:cNvPr id="190" name="Google Shape;190;p19"/>
          <p:cNvSpPr/>
          <p:nvPr/>
        </p:nvSpPr>
        <p:spPr>
          <a:xfrm>
            <a:off x="9048750" y="4210050"/>
            <a:ext cx="609600" cy="609600"/>
          </a:xfrm>
          <a:prstGeom prst="rect">
            <a:avLst/>
          </a:prstGeom>
          <a:solidFill>
            <a:srgbClr val="FFF1E7"/>
          </a:solidFill>
          <a:ln cap="flat" cmpd="sng" w="13325">
            <a:solidFill>
              <a:srgbClr val="E8C3A8"/>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575">
                <a:solidFill>
                  <a:srgbClr val="17364B"/>
                </a:solidFill>
                <a:latin typeface="Arial"/>
                <a:ea typeface="Arial"/>
                <a:cs typeface="Arial"/>
                <a:sym typeface="Arial"/>
              </a:rPr>
              <a:t>4,4</a:t>
            </a:r>
            <a:endParaRPr/>
          </a:p>
        </p:txBody>
      </p:sp>
      <p:sp>
        <p:nvSpPr>
          <p:cNvPr id="191" name="Google Shape;191;p19"/>
          <p:cNvSpPr/>
          <p:nvPr/>
        </p:nvSpPr>
        <p:spPr>
          <a:xfrm>
            <a:off x="6438900" y="5048250"/>
            <a:ext cx="53340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17364B"/>
                </a:solidFill>
                <a:latin typeface="Arial"/>
                <a:ea typeface="Arial"/>
                <a:cs typeface="Arial"/>
                <a:sym typeface="Arial"/>
              </a:rPr>
              <a:t>4 × 4 = 16 comparisons</a:t>
            </a:r>
            <a:endParaRPr/>
          </a:p>
        </p:txBody>
      </p:sp>
      <p:sp>
        <p:nvSpPr>
          <p:cNvPr id="192" name="Google Shape;192;p19"/>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Doubling n: twice the scan work, four times the all-pairs work.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20"/>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rPr>
              <a:t>Adding work versus repeating work</a:t>
            </a:r>
            <a:endParaRPr b="1" sz="3300">
              <a:solidFill>
                <a:srgbClr val="002B49"/>
              </a:solidFill>
            </a:endParaRPr>
          </a:p>
        </p:txBody>
      </p:sp>
      <p:sp>
        <p:nvSpPr>
          <p:cNvPr id="199" name="Google Shape;199;p20"/>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13</a:t>
            </a:r>
            <a:endParaRPr/>
          </a:p>
        </p:txBody>
      </p:sp>
      <p:sp>
        <p:nvSpPr>
          <p:cNvPr id="200" name="Google Shape;200;p20"/>
          <p:cNvSpPr/>
          <p:nvPr/>
        </p:nvSpPr>
        <p:spPr>
          <a:xfrm>
            <a:off x="609600" y="1600200"/>
            <a:ext cx="52387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rPr>
              <a:t>Validate two inputs</a:t>
            </a:r>
            <a:endParaRPr b="1" sz="2250">
              <a:solidFill>
                <a:srgbClr val="005A9C"/>
              </a:solidFill>
            </a:endParaRPr>
          </a:p>
        </p:txBody>
      </p:sp>
      <p:sp>
        <p:nvSpPr>
          <p:cNvPr id="201" name="Google Shape;201;p20"/>
          <p:cNvSpPr/>
          <p:nvPr/>
        </p:nvSpPr>
        <p:spPr>
          <a:xfrm>
            <a:off x="609600" y="2257425"/>
            <a:ext cx="5238750" cy="2333625"/>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for t in trades:       # n trades</a:t>
            </a:r>
            <a:endParaRPr sz="1650">
              <a:solidFill>
                <a:srgbClr val="17364B"/>
              </a:solidFill>
              <a:latin typeface="Roboto Mono"/>
              <a:ea typeface="Roboto Mono"/>
              <a:cs typeface="Roboto Mono"/>
              <a:sym typeface="Roboto Mono"/>
            </a:endParaRPr>
          </a:p>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    validate(t)</a:t>
            </a:r>
            <a:endParaRPr sz="1650">
              <a:solidFill>
                <a:srgbClr val="17364B"/>
              </a:solidFill>
              <a:latin typeface="Roboto Mono"/>
              <a:ea typeface="Roboto Mono"/>
              <a:cs typeface="Roboto Mono"/>
              <a:sym typeface="Roboto Mono"/>
            </a:endParaRPr>
          </a:p>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for s in scenarios:    # m scenarios</a:t>
            </a:r>
            <a:endParaRPr sz="1650">
              <a:solidFill>
                <a:srgbClr val="17364B"/>
              </a:solidFill>
              <a:latin typeface="Roboto Mono"/>
              <a:ea typeface="Roboto Mono"/>
              <a:cs typeface="Roboto Mono"/>
              <a:sym typeface="Roboto Mono"/>
            </a:endParaRPr>
          </a:p>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    validate(s)</a:t>
            </a:r>
            <a:endParaRPr sz="1650">
              <a:solidFill>
                <a:srgbClr val="17364B"/>
              </a:solidFill>
              <a:latin typeface="Roboto Mono"/>
              <a:ea typeface="Roboto Mono"/>
              <a:cs typeface="Roboto Mono"/>
              <a:sym typeface="Roboto Mono"/>
            </a:endParaRPr>
          </a:p>
        </p:txBody>
      </p:sp>
      <p:sp>
        <p:nvSpPr>
          <p:cNvPr id="202" name="Google Shape;202;p20"/>
          <p:cNvSpPr/>
          <p:nvPr/>
        </p:nvSpPr>
        <p:spPr>
          <a:xfrm>
            <a:off x="6438900" y="1600200"/>
            <a:ext cx="52387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B75914"/>
                </a:solidFill>
              </a:rPr>
              <a:t>Value every trade in every scenario</a:t>
            </a:r>
            <a:endParaRPr b="1" sz="2100">
              <a:solidFill>
                <a:srgbClr val="B75914"/>
              </a:solidFill>
            </a:endParaRPr>
          </a:p>
        </p:txBody>
      </p:sp>
      <p:sp>
        <p:nvSpPr>
          <p:cNvPr id="203" name="Google Shape;203;p20"/>
          <p:cNvSpPr/>
          <p:nvPr/>
        </p:nvSpPr>
        <p:spPr>
          <a:xfrm>
            <a:off x="6438900" y="2257425"/>
            <a:ext cx="5143500" cy="2333625"/>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for t in trades:       # n trades</a:t>
            </a:r>
            <a:endParaRPr sz="1650">
              <a:solidFill>
                <a:srgbClr val="17364B"/>
              </a:solidFill>
              <a:latin typeface="Roboto Mono"/>
              <a:ea typeface="Roboto Mono"/>
              <a:cs typeface="Roboto Mono"/>
              <a:sym typeface="Roboto Mono"/>
            </a:endParaRPr>
          </a:p>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    for s in scenarios:  # m scenarios</a:t>
            </a:r>
            <a:endParaRPr sz="1650">
              <a:solidFill>
                <a:srgbClr val="17364B"/>
              </a:solidFill>
              <a:latin typeface="Roboto Mono"/>
              <a:ea typeface="Roboto Mono"/>
              <a:cs typeface="Roboto Mono"/>
              <a:sym typeface="Roboto Mono"/>
            </a:endParaRPr>
          </a:p>
          <a:p>
            <a:pPr indent="0" lvl="0" marL="0" marR="0" rtl="0" algn="l">
              <a:spcBef>
                <a:spcPts val="0"/>
              </a:spcBef>
              <a:spcAft>
                <a:spcPts val="0"/>
              </a:spcAft>
              <a:buNone/>
            </a:pPr>
            <a:r>
              <a:rPr lang="en-US" sz="1650">
                <a:solidFill>
                  <a:srgbClr val="17364B"/>
                </a:solidFill>
                <a:latin typeface="Roboto Mono"/>
                <a:ea typeface="Roboto Mono"/>
                <a:cs typeface="Roboto Mono"/>
                <a:sym typeface="Roboto Mono"/>
              </a:rPr>
              <a:t>        price(t, s)</a:t>
            </a:r>
            <a:endParaRPr sz="1650">
              <a:solidFill>
                <a:srgbClr val="17364B"/>
              </a:solidFill>
              <a:latin typeface="Roboto Mono"/>
              <a:ea typeface="Roboto Mono"/>
              <a:cs typeface="Roboto Mono"/>
              <a:sym typeface="Roboto Mono"/>
            </a:endParaRPr>
          </a:p>
        </p:txBody>
      </p:sp>
      <p:sp>
        <p:nvSpPr>
          <p:cNvPr id="204" name="Google Shape;204;p20"/>
          <p:cNvSpPr/>
          <p:nvPr/>
        </p:nvSpPr>
        <p:spPr>
          <a:xfrm>
            <a:off x="609600" y="4876800"/>
            <a:ext cx="52387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005A9C"/>
                </a:solidFill>
              </a:rPr>
              <a:t>100 + 10 = 110 validations</a:t>
            </a:r>
            <a:endParaRPr b="1" sz="2175">
              <a:solidFill>
                <a:srgbClr val="005A9C"/>
              </a:solidFill>
            </a:endParaRPr>
          </a:p>
        </p:txBody>
      </p:sp>
      <p:sp>
        <p:nvSpPr>
          <p:cNvPr id="205" name="Google Shape;205;p20"/>
          <p:cNvSpPr/>
          <p:nvPr/>
        </p:nvSpPr>
        <p:spPr>
          <a:xfrm>
            <a:off x="6438900" y="4876800"/>
            <a:ext cx="5143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B75914"/>
                </a:solidFill>
              </a:rPr>
              <a:t>100 × 10 = 1,000 valuations</a:t>
            </a:r>
            <a:endParaRPr b="1" sz="2175">
              <a:solidFill>
                <a:srgbClr val="B75914"/>
              </a:solidFill>
            </a:endParaRPr>
          </a:p>
        </p:txBody>
      </p:sp>
      <p:sp>
        <p:nvSpPr>
          <p:cNvPr id="206" name="Google Shape;206;p20"/>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02B49"/>
                </a:solidFill>
              </a:rPr>
              <a:t>Two scans: O(n + m). Every pairing: O(nm).</a:t>
            </a:r>
            <a:endParaRPr b="1" sz="2025">
              <a:solidFill>
                <a:srgbClr val="002B4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Linear search</a:t>
            </a:r>
            <a:endParaRPr/>
          </a:p>
        </p:txBody>
      </p:sp>
      <p:sp>
        <p:nvSpPr>
          <p:cNvPr id="213" name="Google Shape;213;p21"/>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14</a:t>
            </a:r>
            <a:endParaRPr/>
          </a:p>
        </p:txBody>
      </p:sp>
      <p:sp>
        <p:nvSpPr>
          <p:cNvPr id="214" name="Google Shape;214;p21"/>
          <p:cNvSpPr/>
          <p:nvPr/>
        </p:nvSpPr>
        <p:spPr>
          <a:xfrm>
            <a:off x="609600" y="1571625"/>
            <a:ext cx="10477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005A9C"/>
                </a:solidFill>
                <a:latin typeface="Arial"/>
                <a:ea typeface="Arial"/>
                <a:cs typeface="Arial"/>
                <a:sym typeface="Arial"/>
              </a:rPr>
              <a:t>Find 42</a:t>
            </a:r>
            <a:endParaRPr/>
          </a:p>
        </p:txBody>
      </p:sp>
      <p:sp>
        <p:nvSpPr>
          <p:cNvPr id="215" name="Google Shape;215;p21"/>
          <p:cNvSpPr/>
          <p:nvPr/>
        </p:nvSpPr>
        <p:spPr>
          <a:xfrm>
            <a:off x="6096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3</a:t>
            </a:r>
            <a:endParaRPr/>
          </a:p>
        </p:txBody>
      </p:sp>
      <p:sp>
        <p:nvSpPr>
          <p:cNvPr id="216" name="Google Shape;216;p21"/>
          <p:cNvSpPr/>
          <p:nvPr/>
        </p:nvSpPr>
        <p:spPr>
          <a:xfrm>
            <a:off x="12954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7</a:t>
            </a:r>
            <a:endParaRPr/>
          </a:p>
        </p:txBody>
      </p:sp>
      <p:sp>
        <p:nvSpPr>
          <p:cNvPr id="217" name="Google Shape;217;p21"/>
          <p:cNvSpPr/>
          <p:nvPr/>
        </p:nvSpPr>
        <p:spPr>
          <a:xfrm>
            <a:off x="19812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11</a:t>
            </a:r>
            <a:endParaRPr/>
          </a:p>
        </p:txBody>
      </p:sp>
      <p:sp>
        <p:nvSpPr>
          <p:cNvPr id="218" name="Google Shape;218;p21"/>
          <p:cNvSpPr/>
          <p:nvPr/>
        </p:nvSpPr>
        <p:spPr>
          <a:xfrm>
            <a:off x="26670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14</a:t>
            </a:r>
            <a:endParaRPr/>
          </a:p>
        </p:txBody>
      </p:sp>
      <p:sp>
        <p:nvSpPr>
          <p:cNvPr id="219" name="Google Shape;219;p21"/>
          <p:cNvSpPr/>
          <p:nvPr/>
        </p:nvSpPr>
        <p:spPr>
          <a:xfrm>
            <a:off x="33528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18</a:t>
            </a:r>
            <a:endParaRPr/>
          </a:p>
        </p:txBody>
      </p:sp>
      <p:sp>
        <p:nvSpPr>
          <p:cNvPr id="220" name="Google Shape;220;p21"/>
          <p:cNvSpPr/>
          <p:nvPr/>
        </p:nvSpPr>
        <p:spPr>
          <a:xfrm>
            <a:off x="40386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21</a:t>
            </a:r>
            <a:endParaRPr/>
          </a:p>
        </p:txBody>
      </p:sp>
      <p:sp>
        <p:nvSpPr>
          <p:cNvPr id="221" name="Google Shape;221;p21"/>
          <p:cNvSpPr/>
          <p:nvPr/>
        </p:nvSpPr>
        <p:spPr>
          <a:xfrm>
            <a:off x="47244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26</a:t>
            </a:r>
            <a:endParaRPr/>
          </a:p>
        </p:txBody>
      </p:sp>
      <p:sp>
        <p:nvSpPr>
          <p:cNvPr id="222" name="Google Shape;222;p21"/>
          <p:cNvSpPr/>
          <p:nvPr/>
        </p:nvSpPr>
        <p:spPr>
          <a:xfrm>
            <a:off x="54102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31</a:t>
            </a:r>
            <a:endParaRPr/>
          </a:p>
        </p:txBody>
      </p:sp>
      <p:sp>
        <p:nvSpPr>
          <p:cNvPr id="223" name="Google Shape;223;p21"/>
          <p:cNvSpPr/>
          <p:nvPr/>
        </p:nvSpPr>
        <p:spPr>
          <a:xfrm>
            <a:off x="6096000" y="2571750"/>
            <a:ext cx="657225" cy="70485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35</a:t>
            </a:r>
            <a:endParaRPr/>
          </a:p>
        </p:txBody>
      </p:sp>
      <p:sp>
        <p:nvSpPr>
          <p:cNvPr id="224" name="Google Shape;224;p21"/>
          <p:cNvSpPr/>
          <p:nvPr/>
        </p:nvSpPr>
        <p:spPr>
          <a:xfrm>
            <a:off x="6781800" y="2571750"/>
            <a:ext cx="657225" cy="704850"/>
          </a:xfrm>
          <a:prstGeom prst="rect">
            <a:avLst/>
          </a:prstGeom>
          <a:solidFill>
            <a:srgbClr val="E6F3ED"/>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42</a:t>
            </a:r>
            <a:endParaRPr/>
          </a:p>
        </p:txBody>
      </p:sp>
      <p:sp>
        <p:nvSpPr>
          <p:cNvPr id="225" name="Google Shape;225;p21"/>
          <p:cNvSpPr/>
          <p:nvPr/>
        </p:nvSpPr>
        <p:spPr>
          <a:xfrm>
            <a:off x="74676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48</a:t>
            </a:r>
            <a:endParaRPr/>
          </a:p>
        </p:txBody>
      </p:sp>
      <p:sp>
        <p:nvSpPr>
          <p:cNvPr id="226" name="Google Shape;226;p21"/>
          <p:cNvSpPr/>
          <p:nvPr/>
        </p:nvSpPr>
        <p:spPr>
          <a:xfrm>
            <a:off x="81534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53</a:t>
            </a:r>
            <a:endParaRPr/>
          </a:p>
        </p:txBody>
      </p:sp>
      <p:sp>
        <p:nvSpPr>
          <p:cNvPr id="227" name="Google Shape;227;p21"/>
          <p:cNvSpPr/>
          <p:nvPr/>
        </p:nvSpPr>
        <p:spPr>
          <a:xfrm>
            <a:off x="88392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60</a:t>
            </a:r>
            <a:endParaRPr/>
          </a:p>
        </p:txBody>
      </p:sp>
      <p:sp>
        <p:nvSpPr>
          <p:cNvPr id="228" name="Google Shape;228;p21"/>
          <p:cNvSpPr/>
          <p:nvPr/>
        </p:nvSpPr>
        <p:spPr>
          <a:xfrm>
            <a:off x="95250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66</a:t>
            </a:r>
            <a:endParaRPr/>
          </a:p>
        </p:txBody>
      </p:sp>
      <p:sp>
        <p:nvSpPr>
          <p:cNvPr id="229" name="Google Shape;229;p21"/>
          <p:cNvSpPr/>
          <p:nvPr/>
        </p:nvSpPr>
        <p:spPr>
          <a:xfrm>
            <a:off x="102108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72</a:t>
            </a:r>
            <a:endParaRPr/>
          </a:p>
        </p:txBody>
      </p:sp>
      <p:sp>
        <p:nvSpPr>
          <p:cNvPr id="230" name="Google Shape;230;p21"/>
          <p:cNvSpPr/>
          <p:nvPr/>
        </p:nvSpPr>
        <p:spPr>
          <a:xfrm>
            <a:off x="10896600" y="2571750"/>
            <a:ext cx="657225" cy="7048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80</a:t>
            </a:r>
            <a:endParaRPr/>
          </a:p>
        </p:txBody>
      </p:sp>
      <p:sp>
        <p:nvSpPr>
          <p:cNvPr id="231" name="Google Shape;231;p21"/>
          <p:cNvSpPr/>
          <p:nvPr/>
        </p:nvSpPr>
        <p:spPr>
          <a:xfrm>
            <a:off x="6096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1</a:t>
            </a:r>
            <a:endParaRPr/>
          </a:p>
        </p:txBody>
      </p:sp>
      <p:sp>
        <p:nvSpPr>
          <p:cNvPr id="232" name="Google Shape;232;p21"/>
          <p:cNvSpPr/>
          <p:nvPr/>
        </p:nvSpPr>
        <p:spPr>
          <a:xfrm>
            <a:off x="12954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2</a:t>
            </a:r>
            <a:endParaRPr/>
          </a:p>
        </p:txBody>
      </p:sp>
      <p:sp>
        <p:nvSpPr>
          <p:cNvPr id="233" name="Google Shape;233;p21"/>
          <p:cNvSpPr/>
          <p:nvPr/>
        </p:nvSpPr>
        <p:spPr>
          <a:xfrm>
            <a:off x="19812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3</a:t>
            </a:r>
            <a:endParaRPr/>
          </a:p>
        </p:txBody>
      </p:sp>
      <p:sp>
        <p:nvSpPr>
          <p:cNvPr id="234" name="Google Shape;234;p21"/>
          <p:cNvSpPr/>
          <p:nvPr/>
        </p:nvSpPr>
        <p:spPr>
          <a:xfrm>
            <a:off x="26670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4</a:t>
            </a:r>
            <a:endParaRPr/>
          </a:p>
        </p:txBody>
      </p:sp>
      <p:sp>
        <p:nvSpPr>
          <p:cNvPr id="235" name="Google Shape;235;p21"/>
          <p:cNvSpPr/>
          <p:nvPr/>
        </p:nvSpPr>
        <p:spPr>
          <a:xfrm>
            <a:off x="33528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5</a:t>
            </a:r>
            <a:endParaRPr/>
          </a:p>
        </p:txBody>
      </p:sp>
      <p:sp>
        <p:nvSpPr>
          <p:cNvPr id="236" name="Google Shape;236;p21"/>
          <p:cNvSpPr/>
          <p:nvPr/>
        </p:nvSpPr>
        <p:spPr>
          <a:xfrm>
            <a:off x="40386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6</a:t>
            </a:r>
            <a:endParaRPr/>
          </a:p>
        </p:txBody>
      </p:sp>
      <p:sp>
        <p:nvSpPr>
          <p:cNvPr id="237" name="Google Shape;237;p21"/>
          <p:cNvSpPr/>
          <p:nvPr/>
        </p:nvSpPr>
        <p:spPr>
          <a:xfrm>
            <a:off x="47244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7</a:t>
            </a:r>
            <a:endParaRPr/>
          </a:p>
        </p:txBody>
      </p:sp>
      <p:sp>
        <p:nvSpPr>
          <p:cNvPr id="238" name="Google Shape;238;p21"/>
          <p:cNvSpPr/>
          <p:nvPr/>
        </p:nvSpPr>
        <p:spPr>
          <a:xfrm>
            <a:off x="54102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8</a:t>
            </a:r>
            <a:endParaRPr/>
          </a:p>
        </p:txBody>
      </p:sp>
      <p:sp>
        <p:nvSpPr>
          <p:cNvPr id="239" name="Google Shape;239;p21"/>
          <p:cNvSpPr/>
          <p:nvPr/>
        </p:nvSpPr>
        <p:spPr>
          <a:xfrm>
            <a:off x="60960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005A9C"/>
                </a:solidFill>
                <a:latin typeface="Arial"/>
                <a:ea typeface="Arial"/>
                <a:cs typeface="Arial"/>
                <a:sym typeface="Arial"/>
              </a:rPr>
              <a:t>9</a:t>
            </a:r>
            <a:endParaRPr/>
          </a:p>
        </p:txBody>
      </p:sp>
      <p:sp>
        <p:nvSpPr>
          <p:cNvPr id="240" name="Google Shape;240;p21"/>
          <p:cNvSpPr/>
          <p:nvPr/>
        </p:nvSpPr>
        <p:spPr>
          <a:xfrm>
            <a:off x="6781800" y="3429000"/>
            <a:ext cx="657225" cy="3333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1650">
                <a:solidFill>
                  <a:srgbClr val="147D64"/>
                </a:solidFill>
                <a:latin typeface="Arial"/>
                <a:ea typeface="Arial"/>
                <a:cs typeface="Arial"/>
                <a:sym typeface="Arial"/>
              </a:rPr>
              <a:t>10</a:t>
            </a:r>
            <a:endParaRPr/>
          </a:p>
        </p:txBody>
      </p:sp>
      <p:sp>
        <p:nvSpPr>
          <p:cNvPr id="241" name="Google Shape;241;p21"/>
          <p:cNvSpPr/>
          <p:nvPr/>
        </p:nvSpPr>
        <p:spPr>
          <a:xfrm>
            <a:off x="609600" y="4171950"/>
            <a:ext cx="10972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005A9C"/>
                </a:solidFill>
                <a:latin typeface="Arial"/>
                <a:ea typeface="Arial"/>
                <a:cs typeface="Arial"/>
                <a:sym typeface="Arial"/>
              </a:rPr>
              <a:t>10 comparisons in this run</a:t>
            </a:r>
            <a:endParaRPr/>
          </a:p>
        </p:txBody>
      </p:sp>
      <p:sp>
        <p:nvSpPr>
          <p:cNvPr id="242" name="Google Shape;242;p21"/>
          <p:cNvSpPr/>
          <p:nvPr/>
        </p:nvSpPr>
        <p:spPr>
          <a:xfrm>
            <a:off x="609600" y="4981575"/>
            <a:ext cx="54292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Worst case: O(n) time</a:t>
            </a:r>
            <a:endParaRPr/>
          </a:p>
        </p:txBody>
      </p:sp>
      <p:sp>
        <p:nvSpPr>
          <p:cNvPr id="243" name="Google Shape;243;p21"/>
          <p:cNvSpPr/>
          <p:nvPr/>
        </p:nvSpPr>
        <p:spPr>
          <a:xfrm>
            <a:off x="6877050" y="4981575"/>
            <a:ext cx="47053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Extra space: O(1)</a:t>
            </a:r>
            <a:endParaRPr/>
          </a:p>
        </p:txBody>
      </p:sp>
      <p:sp>
        <p:nvSpPr>
          <p:cNvPr id="244" name="Google Shape;244;p21"/>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Works even when the input is unsorted.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22"/>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Binary search on a sorted array</a:t>
            </a:r>
            <a:endParaRPr/>
          </a:p>
        </p:txBody>
      </p:sp>
      <p:sp>
        <p:nvSpPr>
          <p:cNvPr id="251" name="Google Shape;251;p22"/>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15</a:t>
            </a:r>
            <a:endParaRPr/>
          </a:p>
        </p:txBody>
      </p:sp>
      <p:sp>
        <p:nvSpPr>
          <p:cNvPr id="252" name="Google Shape;252;p22"/>
          <p:cNvSpPr/>
          <p:nvPr/>
        </p:nvSpPr>
        <p:spPr>
          <a:xfrm>
            <a:off x="609600" y="1657350"/>
            <a:ext cx="109728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05A9C"/>
                </a:solidFill>
                <a:latin typeface="Arial"/>
                <a:ea typeface="Arial"/>
                <a:cs typeface="Arial"/>
                <a:sym typeface="Arial"/>
              </a:rPr>
              <a:t>1. 42 &gt; 31: keep the right half</a:t>
            </a:r>
            <a:endParaRPr/>
          </a:p>
        </p:txBody>
      </p:sp>
      <p:sp>
        <p:nvSpPr>
          <p:cNvPr id="253" name="Google Shape;253;p22"/>
          <p:cNvSpPr/>
          <p:nvPr/>
        </p:nvSpPr>
        <p:spPr>
          <a:xfrm>
            <a:off x="6096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3</a:t>
            </a:r>
            <a:endParaRPr/>
          </a:p>
        </p:txBody>
      </p:sp>
      <p:sp>
        <p:nvSpPr>
          <p:cNvPr id="254" name="Google Shape;254;p22"/>
          <p:cNvSpPr/>
          <p:nvPr/>
        </p:nvSpPr>
        <p:spPr>
          <a:xfrm>
            <a:off x="12954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7</a:t>
            </a:r>
            <a:endParaRPr/>
          </a:p>
        </p:txBody>
      </p:sp>
      <p:sp>
        <p:nvSpPr>
          <p:cNvPr id="255" name="Google Shape;255;p22"/>
          <p:cNvSpPr/>
          <p:nvPr/>
        </p:nvSpPr>
        <p:spPr>
          <a:xfrm>
            <a:off x="19812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11</a:t>
            </a:r>
            <a:endParaRPr/>
          </a:p>
        </p:txBody>
      </p:sp>
      <p:sp>
        <p:nvSpPr>
          <p:cNvPr id="256" name="Google Shape;256;p22"/>
          <p:cNvSpPr/>
          <p:nvPr/>
        </p:nvSpPr>
        <p:spPr>
          <a:xfrm>
            <a:off x="26670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14</a:t>
            </a:r>
            <a:endParaRPr/>
          </a:p>
        </p:txBody>
      </p:sp>
      <p:sp>
        <p:nvSpPr>
          <p:cNvPr id="257" name="Google Shape;257;p22"/>
          <p:cNvSpPr/>
          <p:nvPr/>
        </p:nvSpPr>
        <p:spPr>
          <a:xfrm>
            <a:off x="33528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18</a:t>
            </a:r>
            <a:endParaRPr/>
          </a:p>
        </p:txBody>
      </p:sp>
      <p:sp>
        <p:nvSpPr>
          <p:cNvPr id="258" name="Google Shape;258;p22"/>
          <p:cNvSpPr/>
          <p:nvPr/>
        </p:nvSpPr>
        <p:spPr>
          <a:xfrm>
            <a:off x="40386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21</a:t>
            </a:r>
            <a:endParaRPr/>
          </a:p>
        </p:txBody>
      </p:sp>
      <p:sp>
        <p:nvSpPr>
          <p:cNvPr id="259" name="Google Shape;259;p22"/>
          <p:cNvSpPr/>
          <p:nvPr/>
        </p:nvSpPr>
        <p:spPr>
          <a:xfrm>
            <a:off x="47244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26</a:t>
            </a:r>
            <a:endParaRPr/>
          </a:p>
        </p:txBody>
      </p:sp>
      <p:sp>
        <p:nvSpPr>
          <p:cNvPr id="260" name="Google Shape;260;p22"/>
          <p:cNvSpPr/>
          <p:nvPr/>
        </p:nvSpPr>
        <p:spPr>
          <a:xfrm>
            <a:off x="5410200" y="2105025"/>
            <a:ext cx="657225" cy="542925"/>
          </a:xfrm>
          <a:prstGeom prst="rect">
            <a:avLst/>
          </a:prstGeom>
          <a:solidFill>
            <a:srgbClr val="FFF0C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31</a:t>
            </a:r>
            <a:endParaRPr/>
          </a:p>
        </p:txBody>
      </p:sp>
      <p:sp>
        <p:nvSpPr>
          <p:cNvPr id="261" name="Google Shape;261;p22"/>
          <p:cNvSpPr/>
          <p:nvPr/>
        </p:nvSpPr>
        <p:spPr>
          <a:xfrm>
            <a:off x="60960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35</a:t>
            </a:r>
            <a:endParaRPr/>
          </a:p>
        </p:txBody>
      </p:sp>
      <p:sp>
        <p:nvSpPr>
          <p:cNvPr id="262" name="Google Shape;262;p22"/>
          <p:cNvSpPr/>
          <p:nvPr/>
        </p:nvSpPr>
        <p:spPr>
          <a:xfrm>
            <a:off x="67818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42</a:t>
            </a:r>
            <a:endParaRPr/>
          </a:p>
        </p:txBody>
      </p:sp>
      <p:sp>
        <p:nvSpPr>
          <p:cNvPr id="263" name="Google Shape;263;p22"/>
          <p:cNvSpPr/>
          <p:nvPr/>
        </p:nvSpPr>
        <p:spPr>
          <a:xfrm>
            <a:off x="74676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48</a:t>
            </a:r>
            <a:endParaRPr/>
          </a:p>
        </p:txBody>
      </p:sp>
      <p:sp>
        <p:nvSpPr>
          <p:cNvPr id="264" name="Google Shape;264;p22"/>
          <p:cNvSpPr/>
          <p:nvPr/>
        </p:nvSpPr>
        <p:spPr>
          <a:xfrm>
            <a:off x="81534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53</a:t>
            </a:r>
            <a:endParaRPr/>
          </a:p>
        </p:txBody>
      </p:sp>
      <p:sp>
        <p:nvSpPr>
          <p:cNvPr id="265" name="Google Shape;265;p22"/>
          <p:cNvSpPr/>
          <p:nvPr/>
        </p:nvSpPr>
        <p:spPr>
          <a:xfrm>
            <a:off x="88392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60</a:t>
            </a:r>
            <a:endParaRPr/>
          </a:p>
        </p:txBody>
      </p:sp>
      <p:sp>
        <p:nvSpPr>
          <p:cNvPr id="266" name="Google Shape;266;p22"/>
          <p:cNvSpPr/>
          <p:nvPr/>
        </p:nvSpPr>
        <p:spPr>
          <a:xfrm>
            <a:off x="95250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66</a:t>
            </a:r>
            <a:endParaRPr/>
          </a:p>
        </p:txBody>
      </p:sp>
      <p:sp>
        <p:nvSpPr>
          <p:cNvPr id="267" name="Google Shape;267;p22"/>
          <p:cNvSpPr/>
          <p:nvPr/>
        </p:nvSpPr>
        <p:spPr>
          <a:xfrm>
            <a:off x="102108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72</a:t>
            </a:r>
            <a:endParaRPr/>
          </a:p>
        </p:txBody>
      </p:sp>
      <p:sp>
        <p:nvSpPr>
          <p:cNvPr id="268" name="Google Shape;268;p22"/>
          <p:cNvSpPr/>
          <p:nvPr/>
        </p:nvSpPr>
        <p:spPr>
          <a:xfrm>
            <a:off x="10896600" y="210502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80</a:t>
            </a:r>
            <a:endParaRPr/>
          </a:p>
        </p:txBody>
      </p:sp>
      <p:sp>
        <p:nvSpPr>
          <p:cNvPr id="269" name="Google Shape;269;p22"/>
          <p:cNvSpPr/>
          <p:nvPr/>
        </p:nvSpPr>
        <p:spPr>
          <a:xfrm>
            <a:off x="609600" y="2943225"/>
            <a:ext cx="109728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05A9C"/>
                </a:solidFill>
                <a:latin typeface="Arial"/>
                <a:ea typeface="Arial"/>
                <a:cs typeface="Arial"/>
                <a:sym typeface="Arial"/>
              </a:rPr>
              <a:t>2. 42 &lt; 53: keep the left half</a:t>
            </a:r>
            <a:endParaRPr/>
          </a:p>
        </p:txBody>
      </p:sp>
      <p:sp>
        <p:nvSpPr>
          <p:cNvPr id="270" name="Google Shape;270;p22"/>
          <p:cNvSpPr/>
          <p:nvPr/>
        </p:nvSpPr>
        <p:spPr>
          <a:xfrm>
            <a:off x="6096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3</a:t>
            </a:r>
            <a:endParaRPr/>
          </a:p>
        </p:txBody>
      </p:sp>
      <p:sp>
        <p:nvSpPr>
          <p:cNvPr id="271" name="Google Shape;271;p22"/>
          <p:cNvSpPr/>
          <p:nvPr/>
        </p:nvSpPr>
        <p:spPr>
          <a:xfrm>
            <a:off x="12954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7</a:t>
            </a:r>
            <a:endParaRPr/>
          </a:p>
        </p:txBody>
      </p:sp>
      <p:sp>
        <p:nvSpPr>
          <p:cNvPr id="272" name="Google Shape;272;p22"/>
          <p:cNvSpPr/>
          <p:nvPr/>
        </p:nvSpPr>
        <p:spPr>
          <a:xfrm>
            <a:off x="19812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11</a:t>
            </a:r>
            <a:endParaRPr/>
          </a:p>
        </p:txBody>
      </p:sp>
      <p:sp>
        <p:nvSpPr>
          <p:cNvPr id="273" name="Google Shape;273;p22"/>
          <p:cNvSpPr/>
          <p:nvPr/>
        </p:nvSpPr>
        <p:spPr>
          <a:xfrm>
            <a:off x="26670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14</a:t>
            </a:r>
            <a:endParaRPr/>
          </a:p>
        </p:txBody>
      </p:sp>
      <p:sp>
        <p:nvSpPr>
          <p:cNvPr id="274" name="Google Shape;274;p22"/>
          <p:cNvSpPr/>
          <p:nvPr/>
        </p:nvSpPr>
        <p:spPr>
          <a:xfrm>
            <a:off x="33528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18</a:t>
            </a:r>
            <a:endParaRPr/>
          </a:p>
        </p:txBody>
      </p:sp>
      <p:sp>
        <p:nvSpPr>
          <p:cNvPr id="275" name="Google Shape;275;p22"/>
          <p:cNvSpPr/>
          <p:nvPr/>
        </p:nvSpPr>
        <p:spPr>
          <a:xfrm>
            <a:off x="40386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21</a:t>
            </a:r>
            <a:endParaRPr/>
          </a:p>
        </p:txBody>
      </p:sp>
      <p:sp>
        <p:nvSpPr>
          <p:cNvPr id="276" name="Google Shape;276;p22"/>
          <p:cNvSpPr/>
          <p:nvPr/>
        </p:nvSpPr>
        <p:spPr>
          <a:xfrm>
            <a:off x="47244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26</a:t>
            </a:r>
            <a:endParaRPr/>
          </a:p>
        </p:txBody>
      </p:sp>
      <p:sp>
        <p:nvSpPr>
          <p:cNvPr id="277" name="Google Shape;277;p22"/>
          <p:cNvSpPr/>
          <p:nvPr/>
        </p:nvSpPr>
        <p:spPr>
          <a:xfrm>
            <a:off x="5410200" y="3390900"/>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31</a:t>
            </a:r>
            <a:endParaRPr/>
          </a:p>
        </p:txBody>
      </p:sp>
      <p:sp>
        <p:nvSpPr>
          <p:cNvPr id="278" name="Google Shape;278;p22"/>
          <p:cNvSpPr/>
          <p:nvPr/>
        </p:nvSpPr>
        <p:spPr>
          <a:xfrm>
            <a:off x="60960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35</a:t>
            </a:r>
            <a:endParaRPr/>
          </a:p>
        </p:txBody>
      </p:sp>
      <p:sp>
        <p:nvSpPr>
          <p:cNvPr id="279" name="Google Shape;279;p22"/>
          <p:cNvSpPr/>
          <p:nvPr/>
        </p:nvSpPr>
        <p:spPr>
          <a:xfrm>
            <a:off x="67818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42</a:t>
            </a:r>
            <a:endParaRPr/>
          </a:p>
        </p:txBody>
      </p:sp>
      <p:sp>
        <p:nvSpPr>
          <p:cNvPr id="280" name="Google Shape;280;p22"/>
          <p:cNvSpPr/>
          <p:nvPr/>
        </p:nvSpPr>
        <p:spPr>
          <a:xfrm>
            <a:off x="74676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48</a:t>
            </a:r>
            <a:endParaRPr/>
          </a:p>
        </p:txBody>
      </p:sp>
      <p:sp>
        <p:nvSpPr>
          <p:cNvPr id="281" name="Google Shape;281;p22"/>
          <p:cNvSpPr/>
          <p:nvPr/>
        </p:nvSpPr>
        <p:spPr>
          <a:xfrm>
            <a:off x="8153400" y="3390900"/>
            <a:ext cx="657225" cy="542925"/>
          </a:xfrm>
          <a:prstGeom prst="rect">
            <a:avLst/>
          </a:prstGeom>
          <a:solidFill>
            <a:srgbClr val="FFF0C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53</a:t>
            </a:r>
            <a:endParaRPr/>
          </a:p>
        </p:txBody>
      </p:sp>
      <p:sp>
        <p:nvSpPr>
          <p:cNvPr id="282" name="Google Shape;282;p22"/>
          <p:cNvSpPr/>
          <p:nvPr/>
        </p:nvSpPr>
        <p:spPr>
          <a:xfrm>
            <a:off x="88392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60</a:t>
            </a:r>
            <a:endParaRPr/>
          </a:p>
        </p:txBody>
      </p:sp>
      <p:sp>
        <p:nvSpPr>
          <p:cNvPr id="283" name="Google Shape;283;p22"/>
          <p:cNvSpPr/>
          <p:nvPr/>
        </p:nvSpPr>
        <p:spPr>
          <a:xfrm>
            <a:off x="95250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66</a:t>
            </a:r>
            <a:endParaRPr/>
          </a:p>
        </p:txBody>
      </p:sp>
      <p:sp>
        <p:nvSpPr>
          <p:cNvPr id="284" name="Google Shape;284;p22"/>
          <p:cNvSpPr/>
          <p:nvPr/>
        </p:nvSpPr>
        <p:spPr>
          <a:xfrm>
            <a:off x="102108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72</a:t>
            </a:r>
            <a:endParaRPr/>
          </a:p>
        </p:txBody>
      </p:sp>
      <p:sp>
        <p:nvSpPr>
          <p:cNvPr id="285" name="Google Shape;285;p22"/>
          <p:cNvSpPr/>
          <p:nvPr/>
        </p:nvSpPr>
        <p:spPr>
          <a:xfrm>
            <a:off x="10896600" y="3390900"/>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80</a:t>
            </a:r>
            <a:endParaRPr/>
          </a:p>
        </p:txBody>
      </p:sp>
      <p:sp>
        <p:nvSpPr>
          <p:cNvPr id="286" name="Google Shape;286;p22"/>
          <p:cNvSpPr/>
          <p:nvPr/>
        </p:nvSpPr>
        <p:spPr>
          <a:xfrm>
            <a:off x="609600" y="4229100"/>
            <a:ext cx="109728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47D64"/>
                </a:solidFill>
                <a:latin typeface="Arial"/>
                <a:ea typeface="Arial"/>
                <a:cs typeface="Arial"/>
                <a:sym typeface="Arial"/>
              </a:rPr>
              <a:t>3. 42 = 42: found</a:t>
            </a:r>
            <a:endParaRPr/>
          </a:p>
        </p:txBody>
      </p:sp>
      <p:sp>
        <p:nvSpPr>
          <p:cNvPr id="287" name="Google Shape;287;p22"/>
          <p:cNvSpPr/>
          <p:nvPr/>
        </p:nvSpPr>
        <p:spPr>
          <a:xfrm>
            <a:off x="6096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3</a:t>
            </a:r>
            <a:endParaRPr/>
          </a:p>
        </p:txBody>
      </p:sp>
      <p:sp>
        <p:nvSpPr>
          <p:cNvPr id="288" name="Google Shape;288;p22"/>
          <p:cNvSpPr/>
          <p:nvPr/>
        </p:nvSpPr>
        <p:spPr>
          <a:xfrm>
            <a:off x="12954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7</a:t>
            </a:r>
            <a:endParaRPr/>
          </a:p>
        </p:txBody>
      </p:sp>
      <p:sp>
        <p:nvSpPr>
          <p:cNvPr id="289" name="Google Shape;289;p22"/>
          <p:cNvSpPr/>
          <p:nvPr/>
        </p:nvSpPr>
        <p:spPr>
          <a:xfrm>
            <a:off x="19812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11</a:t>
            </a:r>
            <a:endParaRPr/>
          </a:p>
        </p:txBody>
      </p:sp>
      <p:sp>
        <p:nvSpPr>
          <p:cNvPr id="290" name="Google Shape;290;p22"/>
          <p:cNvSpPr/>
          <p:nvPr/>
        </p:nvSpPr>
        <p:spPr>
          <a:xfrm>
            <a:off x="26670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14</a:t>
            </a:r>
            <a:endParaRPr/>
          </a:p>
        </p:txBody>
      </p:sp>
      <p:sp>
        <p:nvSpPr>
          <p:cNvPr id="291" name="Google Shape;291;p22"/>
          <p:cNvSpPr/>
          <p:nvPr/>
        </p:nvSpPr>
        <p:spPr>
          <a:xfrm>
            <a:off x="33528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18</a:t>
            </a:r>
            <a:endParaRPr/>
          </a:p>
        </p:txBody>
      </p:sp>
      <p:sp>
        <p:nvSpPr>
          <p:cNvPr id="292" name="Google Shape;292;p22"/>
          <p:cNvSpPr/>
          <p:nvPr/>
        </p:nvSpPr>
        <p:spPr>
          <a:xfrm>
            <a:off x="40386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21</a:t>
            </a:r>
            <a:endParaRPr/>
          </a:p>
        </p:txBody>
      </p:sp>
      <p:sp>
        <p:nvSpPr>
          <p:cNvPr id="293" name="Google Shape;293;p22"/>
          <p:cNvSpPr/>
          <p:nvPr/>
        </p:nvSpPr>
        <p:spPr>
          <a:xfrm>
            <a:off x="47244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26</a:t>
            </a:r>
            <a:endParaRPr/>
          </a:p>
        </p:txBody>
      </p:sp>
      <p:sp>
        <p:nvSpPr>
          <p:cNvPr id="294" name="Google Shape;294;p22"/>
          <p:cNvSpPr/>
          <p:nvPr/>
        </p:nvSpPr>
        <p:spPr>
          <a:xfrm>
            <a:off x="54102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31</a:t>
            </a:r>
            <a:endParaRPr/>
          </a:p>
        </p:txBody>
      </p:sp>
      <p:sp>
        <p:nvSpPr>
          <p:cNvPr id="295" name="Google Shape;295;p22"/>
          <p:cNvSpPr/>
          <p:nvPr/>
        </p:nvSpPr>
        <p:spPr>
          <a:xfrm>
            <a:off x="6096000" y="467677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35</a:t>
            </a:r>
            <a:endParaRPr/>
          </a:p>
        </p:txBody>
      </p:sp>
      <p:sp>
        <p:nvSpPr>
          <p:cNvPr id="296" name="Google Shape;296;p22"/>
          <p:cNvSpPr/>
          <p:nvPr/>
        </p:nvSpPr>
        <p:spPr>
          <a:xfrm>
            <a:off x="6781800" y="4676775"/>
            <a:ext cx="657225" cy="542925"/>
          </a:xfrm>
          <a:prstGeom prst="rect">
            <a:avLst/>
          </a:prstGeom>
          <a:solidFill>
            <a:srgbClr val="E6F3ED"/>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42</a:t>
            </a:r>
            <a:endParaRPr/>
          </a:p>
        </p:txBody>
      </p:sp>
      <p:sp>
        <p:nvSpPr>
          <p:cNvPr id="297" name="Google Shape;297;p22"/>
          <p:cNvSpPr/>
          <p:nvPr/>
        </p:nvSpPr>
        <p:spPr>
          <a:xfrm>
            <a:off x="7467600" y="4676775"/>
            <a:ext cx="657225"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17364B"/>
                </a:solidFill>
                <a:latin typeface="Arial"/>
                <a:ea typeface="Arial"/>
                <a:cs typeface="Arial"/>
                <a:sym typeface="Arial"/>
              </a:rPr>
              <a:t>48</a:t>
            </a:r>
            <a:endParaRPr/>
          </a:p>
        </p:txBody>
      </p:sp>
      <p:sp>
        <p:nvSpPr>
          <p:cNvPr id="298" name="Google Shape;298;p22"/>
          <p:cNvSpPr/>
          <p:nvPr/>
        </p:nvSpPr>
        <p:spPr>
          <a:xfrm>
            <a:off x="81534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53</a:t>
            </a:r>
            <a:endParaRPr/>
          </a:p>
        </p:txBody>
      </p:sp>
      <p:sp>
        <p:nvSpPr>
          <p:cNvPr id="299" name="Google Shape;299;p22"/>
          <p:cNvSpPr/>
          <p:nvPr/>
        </p:nvSpPr>
        <p:spPr>
          <a:xfrm>
            <a:off x="88392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60</a:t>
            </a:r>
            <a:endParaRPr/>
          </a:p>
        </p:txBody>
      </p:sp>
      <p:sp>
        <p:nvSpPr>
          <p:cNvPr id="300" name="Google Shape;300;p22"/>
          <p:cNvSpPr/>
          <p:nvPr/>
        </p:nvSpPr>
        <p:spPr>
          <a:xfrm>
            <a:off x="95250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66</a:t>
            </a:r>
            <a:endParaRPr/>
          </a:p>
        </p:txBody>
      </p:sp>
      <p:sp>
        <p:nvSpPr>
          <p:cNvPr id="301" name="Google Shape;301;p22"/>
          <p:cNvSpPr/>
          <p:nvPr/>
        </p:nvSpPr>
        <p:spPr>
          <a:xfrm>
            <a:off x="102108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72</a:t>
            </a:r>
            <a:endParaRPr/>
          </a:p>
        </p:txBody>
      </p:sp>
      <p:sp>
        <p:nvSpPr>
          <p:cNvPr id="302" name="Google Shape;302;p22"/>
          <p:cNvSpPr/>
          <p:nvPr/>
        </p:nvSpPr>
        <p:spPr>
          <a:xfrm>
            <a:off x="10896600" y="4676775"/>
            <a:ext cx="657225" cy="542925"/>
          </a:xfrm>
          <a:prstGeom prst="rect">
            <a:avLst/>
          </a:prstGeom>
          <a:solidFill>
            <a:srgbClr val="F6F7F8"/>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800">
                <a:solidFill>
                  <a:srgbClr val="A8B1B7"/>
                </a:solidFill>
                <a:latin typeface="Arial"/>
                <a:ea typeface="Arial"/>
                <a:cs typeface="Arial"/>
                <a:sym typeface="Arial"/>
              </a:rPr>
              <a:t>80</a:t>
            </a:r>
            <a:endParaRPr/>
          </a:p>
        </p:txBody>
      </p:sp>
      <p:sp>
        <p:nvSpPr>
          <p:cNvPr id="303" name="Google Shape;303;p22"/>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Each comparison roughly halves the remaining search range. O(log 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cxnSp>
        <p:nvCxnSpPr>
          <p:cNvPr id="309" name="Google Shape;309;p23"/>
          <p:cNvCxnSpPr>
            <a:stCxn id="310" idx="3"/>
            <a:endCxn id="311" idx="1"/>
          </p:cNvCxnSpPr>
          <p:nvPr/>
        </p:nvCxnSpPr>
        <p:spPr>
          <a:xfrm>
            <a:off x="8696325" y="2800350"/>
            <a:ext cx="600000" cy="0"/>
          </a:xfrm>
          <a:prstGeom prst="straightConnector1">
            <a:avLst/>
          </a:prstGeom>
          <a:noFill/>
          <a:ln cap="flat" cmpd="sng" w="23800">
            <a:solidFill>
              <a:srgbClr val="147D64"/>
            </a:solidFill>
            <a:prstDash val="solid"/>
            <a:round/>
            <a:headEnd len="sm" w="sm" type="none"/>
            <a:tailEnd len="med" w="med" type="triangle"/>
          </a:ln>
        </p:spPr>
      </p:cxnSp>
      <p:sp>
        <p:nvSpPr>
          <p:cNvPr id="312" name="Google Shape;312;p23"/>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Repeated membership: build once, query many</a:t>
            </a:r>
            <a:endParaRPr/>
          </a:p>
        </p:txBody>
      </p:sp>
      <p:sp>
        <p:nvSpPr>
          <p:cNvPr id="313" name="Google Shape;313;p23"/>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16</a:t>
            </a:r>
            <a:endParaRPr/>
          </a:p>
        </p:txBody>
      </p:sp>
      <p:sp>
        <p:nvSpPr>
          <p:cNvPr id="314" name="Google Shape;314;p23"/>
          <p:cNvSpPr/>
          <p:nvPr/>
        </p:nvSpPr>
        <p:spPr>
          <a:xfrm>
            <a:off x="609600" y="1571625"/>
            <a:ext cx="51435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005A9C"/>
                </a:solidFill>
                <a:latin typeface="Arial"/>
                <a:ea typeface="Arial"/>
                <a:cs typeface="Arial"/>
                <a:sym typeface="Arial"/>
              </a:rPr>
              <a:t>Scan a list for every query</a:t>
            </a:r>
            <a:endParaRPr/>
          </a:p>
        </p:txBody>
      </p:sp>
      <p:sp>
        <p:nvSpPr>
          <p:cNvPr id="315" name="Google Shape;315;p23"/>
          <p:cNvSpPr/>
          <p:nvPr/>
        </p:nvSpPr>
        <p:spPr>
          <a:xfrm>
            <a:off x="60960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A</a:t>
            </a:r>
            <a:endParaRPr/>
          </a:p>
        </p:txBody>
      </p:sp>
      <p:sp>
        <p:nvSpPr>
          <p:cNvPr id="316" name="Google Shape;316;p23"/>
          <p:cNvSpPr/>
          <p:nvPr/>
        </p:nvSpPr>
        <p:spPr>
          <a:xfrm>
            <a:off x="135255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B</a:t>
            </a:r>
            <a:endParaRPr/>
          </a:p>
        </p:txBody>
      </p:sp>
      <p:sp>
        <p:nvSpPr>
          <p:cNvPr id="317" name="Google Shape;317;p23"/>
          <p:cNvSpPr/>
          <p:nvPr/>
        </p:nvSpPr>
        <p:spPr>
          <a:xfrm>
            <a:off x="209550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C</a:t>
            </a:r>
            <a:endParaRPr/>
          </a:p>
        </p:txBody>
      </p:sp>
      <p:sp>
        <p:nvSpPr>
          <p:cNvPr id="318" name="Google Shape;318;p23"/>
          <p:cNvSpPr/>
          <p:nvPr/>
        </p:nvSpPr>
        <p:spPr>
          <a:xfrm>
            <a:off x="283845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D</a:t>
            </a:r>
            <a:endParaRPr/>
          </a:p>
        </p:txBody>
      </p:sp>
      <p:sp>
        <p:nvSpPr>
          <p:cNvPr id="319" name="Google Shape;319;p23"/>
          <p:cNvSpPr/>
          <p:nvPr/>
        </p:nvSpPr>
        <p:spPr>
          <a:xfrm>
            <a:off x="358140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E</a:t>
            </a:r>
            <a:endParaRPr/>
          </a:p>
        </p:txBody>
      </p:sp>
      <p:sp>
        <p:nvSpPr>
          <p:cNvPr id="320" name="Google Shape;320;p23"/>
          <p:cNvSpPr/>
          <p:nvPr/>
        </p:nvSpPr>
        <p:spPr>
          <a:xfrm>
            <a:off x="4324350" y="2352675"/>
            <a:ext cx="714375" cy="5905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F</a:t>
            </a:r>
            <a:endParaRPr/>
          </a:p>
        </p:txBody>
      </p:sp>
      <p:sp>
        <p:nvSpPr>
          <p:cNvPr id="321" name="Google Shape;321;p23"/>
          <p:cNvSpPr/>
          <p:nvPr/>
        </p:nvSpPr>
        <p:spPr>
          <a:xfrm>
            <a:off x="609600" y="3467100"/>
            <a:ext cx="523875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q queries × up to n items</a:t>
            </a:r>
            <a:endParaRPr/>
          </a:p>
        </p:txBody>
      </p:sp>
      <p:sp>
        <p:nvSpPr>
          <p:cNvPr id="322" name="Google Shape;322;p23"/>
          <p:cNvSpPr/>
          <p:nvPr/>
        </p:nvSpPr>
        <p:spPr>
          <a:xfrm>
            <a:off x="609600" y="4314825"/>
            <a:ext cx="52387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25">
                <a:solidFill>
                  <a:srgbClr val="005A9C"/>
                </a:solidFill>
                <a:latin typeface="Arial"/>
                <a:ea typeface="Arial"/>
                <a:cs typeface="Arial"/>
                <a:sym typeface="Arial"/>
              </a:rPr>
              <a:t>Worst-case O(qn)</a:t>
            </a:r>
            <a:endParaRPr/>
          </a:p>
        </p:txBody>
      </p:sp>
      <p:sp>
        <p:nvSpPr>
          <p:cNvPr id="323" name="Google Shape;323;p23"/>
          <p:cNvSpPr/>
          <p:nvPr/>
        </p:nvSpPr>
        <p:spPr>
          <a:xfrm>
            <a:off x="6438900" y="1571625"/>
            <a:ext cx="51435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47D64"/>
                </a:solidFill>
                <a:latin typeface="Arial"/>
                <a:ea typeface="Arial"/>
                <a:cs typeface="Arial"/>
                <a:sym typeface="Arial"/>
              </a:rPr>
              <a:t>Build a set, then reuse it</a:t>
            </a:r>
            <a:endParaRPr/>
          </a:p>
        </p:txBody>
      </p:sp>
      <p:sp>
        <p:nvSpPr>
          <p:cNvPr id="310" name="Google Shape;310;p23"/>
          <p:cNvSpPr/>
          <p:nvPr/>
        </p:nvSpPr>
        <p:spPr>
          <a:xfrm>
            <a:off x="6438900" y="2286000"/>
            <a:ext cx="2257425" cy="10287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025">
                <a:solidFill>
                  <a:srgbClr val="17364B"/>
                </a:solidFill>
                <a:latin typeface="Arial"/>
                <a:ea typeface="Arial"/>
                <a:cs typeface="Arial"/>
                <a:sym typeface="Arial"/>
              </a:rPr>
              <a:t>Build</a:t>
            </a:r>
            <a:endParaRPr/>
          </a:p>
          <a:p>
            <a:pPr indent="0" lvl="0" marL="0" marR="0" rtl="0" algn="ctr">
              <a:spcBef>
                <a:spcPts val="0"/>
              </a:spcBef>
              <a:spcAft>
                <a:spcPts val="0"/>
              </a:spcAft>
              <a:buNone/>
            </a:pPr>
            <a:r>
              <a:rPr b="0" lang="en-US" sz="2025">
                <a:solidFill>
                  <a:srgbClr val="17364B"/>
                </a:solidFill>
                <a:latin typeface="Arial"/>
                <a:ea typeface="Arial"/>
                <a:cs typeface="Arial"/>
                <a:sym typeface="Arial"/>
              </a:rPr>
              <a:t>O(n) expected</a:t>
            </a:r>
            <a:endParaRPr/>
          </a:p>
        </p:txBody>
      </p:sp>
      <p:sp>
        <p:nvSpPr>
          <p:cNvPr id="311" name="Google Shape;311;p23"/>
          <p:cNvSpPr/>
          <p:nvPr/>
        </p:nvSpPr>
        <p:spPr>
          <a:xfrm>
            <a:off x="9296400" y="2286000"/>
            <a:ext cx="2286000" cy="10287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025">
                <a:solidFill>
                  <a:srgbClr val="17364B"/>
                </a:solidFill>
                <a:latin typeface="Arial"/>
                <a:ea typeface="Arial"/>
                <a:cs typeface="Arial"/>
                <a:sym typeface="Arial"/>
              </a:rPr>
              <a:t>q lookups</a:t>
            </a:r>
            <a:endParaRPr/>
          </a:p>
          <a:p>
            <a:pPr indent="0" lvl="0" marL="0" marR="0" rtl="0" algn="ctr">
              <a:spcBef>
                <a:spcPts val="0"/>
              </a:spcBef>
              <a:spcAft>
                <a:spcPts val="0"/>
              </a:spcAft>
              <a:buNone/>
            </a:pPr>
            <a:r>
              <a:rPr b="0" lang="en-US" sz="2025">
                <a:solidFill>
                  <a:srgbClr val="17364B"/>
                </a:solidFill>
                <a:latin typeface="Arial"/>
                <a:ea typeface="Arial"/>
                <a:cs typeface="Arial"/>
                <a:sym typeface="Arial"/>
              </a:rPr>
              <a:t>O(q) expected</a:t>
            </a:r>
            <a:endParaRPr/>
          </a:p>
        </p:txBody>
      </p:sp>
      <p:sp>
        <p:nvSpPr>
          <p:cNvPr id="324" name="Google Shape;324;p23"/>
          <p:cNvSpPr/>
          <p:nvPr/>
        </p:nvSpPr>
        <p:spPr>
          <a:xfrm>
            <a:off x="6438900" y="3467100"/>
            <a:ext cx="5143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Extra storage: O(n)</a:t>
            </a:r>
            <a:endParaRPr/>
          </a:p>
        </p:txBody>
      </p:sp>
      <p:sp>
        <p:nvSpPr>
          <p:cNvPr id="325" name="Google Shape;325;p23"/>
          <p:cNvSpPr/>
          <p:nvPr/>
        </p:nvSpPr>
        <p:spPr>
          <a:xfrm>
            <a:off x="6438900" y="4314825"/>
            <a:ext cx="51435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25">
                <a:solidFill>
                  <a:srgbClr val="147D64"/>
                </a:solidFill>
                <a:latin typeface="Arial"/>
                <a:ea typeface="Arial"/>
                <a:cs typeface="Arial"/>
                <a:sym typeface="Arial"/>
              </a:rPr>
              <a:t>Expected O(n + q)</a:t>
            </a:r>
            <a:endParaRPr/>
          </a:p>
        </p:txBody>
      </p:sp>
      <p:sp>
        <p:nvSpPr>
          <p:cNvPr id="326" name="Google Shape;326;p23"/>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The comparison includes construction time and query time.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Video: sorting algorithms</a:t>
            </a:r>
            <a:endParaRPr b="1" sz="3300">
              <a:solidFill>
                <a:srgbClr val="002B49"/>
              </a:solidFill>
            </a:endParaRPr>
          </a:p>
        </p:txBody>
      </p:sp>
      <p:pic>
        <p:nvPicPr>
          <p:cNvPr id="333" name="Google Shape;333;p24">
            <a:hlinkClick r:id="rId3"/>
          </p:cNvPr>
          <p:cNvPicPr preferRelativeResize="0"/>
          <p:nvPr/>
        </p:nvPicPr>
        <p:blipFill>
          <a:blip r:embed="rId4">
            <a:alphaModFix/>
          </a:blip>
          <a:stretch>
            <a:fillRect/>
          </a:stretch>
        </p:blipFill>
        <p:spPr>
          <a:xfrm>
            <a:off x="2352675" y="1428750"/>
            <a:ext cx="7486650" cy="4210050"/>
          </a:xfrm>
          <a:prstGeom prst="rect">
            <a:avLst/>
          </a:prstGeom>
          <a:noFill/>
          <a:ln>
            <a:noFill/>
          </a:ln>
        </p:spPr>
      </p:pic>
      <p:sp>
        <p:nvSpPr>
          <p:cNvPr id="334" name="Google Shape;334;p24"/>
          <p:cNvSpPr txBox="1"/>
          <p:nvPr/>
        </p:nvSpPr>
        <p:spPr>
          <a:xfrm>
            <a:off x="609600" y="6315075"/>
            <a:ext cx="5715000" cy="3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75" u="sng">
                <a:solidFill>
                  <a:schemeClr val="hlink"/>
                </a:solidFill>
                <a:hlinkClick r:id="rId5"/>
              </a:rPr>
              <a:t>Open video in YouTube</a:t>
            </a:r>
            <a:endParaRPr sz="1575">
              <a:solidFill>
                <a:srgbClr val="005A9C"/>
              </a:solidFill>
            </a:endParaRPr>
          </a:p>
        </p:txBody>
      </p:sp>
      <p:sp>
        <p:nvSpPr>
          <p:cNvPr id="335" name="Google Shape;335;p24"/>
          <p:cNvSpPr txBox="1"/>
          <p:nvPr/>
        </p:nvSpPr>
        <p:spPr>
          <a:xfrm>
            <a:off x="609600" y="5724525"/>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002B49"/>
                </a:solidFill>
              </a:rPr>
              <a:t>Which repeated operation determines the amount of work?</a:t>
            </a:r>
            <a:endParaRPr b="1" sz="2100">
              <a:solidFill>
                <a:srgbClr val="002B49"/>
              </a:solidFill>
            </a:endParaRPr>
          </a:p>
        </p:txBody>
      </p:sp>
      <p:sp>
        <p:nvSpPr>
          <p:cNvPr id="336" name="Google Shape;336;p24"/>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17</a:t>
            </a:r>
            <a:endParaRPr sz="1350">
              <a:solidFill>
                <a:srgbClr val="61717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cxnSp>
        <p:nvCxnSpPr>
          <p:cNvPr id="342" name="Google Shape;342;p25"/>
          <p:cNvCxnSpPr>
            <a:stCxn id="343" idx="2"/>
            <a:endCxn id="344" idx="0"/>
          </p:cNvCxnSpPr>
          <p:nvPr/>
        </p:nvCxnSpPr>
        <p:spPr>
          <a:xfrm flipH="1">
            <a:off x="6096075" y="4876800"/>
            <a:ext cx="2619300" cy="362100"/>
          </a:xfrm>
          <a:prstGeom prst="straightConnector1">
            <a:avLst/>
          </a:prstGeom>
          <a:noFill/>
          <a:ln cap="flat" cmpd="sng" w="23800">
            <a:solidFill>
              <a:srgbClr val="147D64"/>
            </a:solidFill>
            <a:prstDash val="solid"/>
            <a:round/>
            <a:headEnd len="sm" w="sm" type="none"/>
            <a:tailEnd len="med" w="med" type="triangle"/>
          </a:ln>
        </p:spPr>
      </p:cxnSp>
      <p:cxnSp>
        <p:nvCxnSpPr>
          <p:cNvPr id="345" name="Google Shape;345;p25"/>
          <p:cNvCxnSpPr>
            <a:stCxn id="346" idx="2"/>
            <a:endCxn id="344" idx="0"/>
          </p:cNvCxnSpPr>
          <p:nvPr/>
        </p:nvCxnSpPr>
        <p:spPr>
          <a:xfrm>
            <a:off x="3476625" y="4876800"/>
            <a:ext cx="2619300" cy="362100"/>
          </a:xfrm>
          <a:prstGeom prst="straightConnector1">
            <a:avLst/>
          </a:prstGeom>
          <a:noFill/>
          <a:ln cap="flat" cmpd="sng" w="23800">
            <a:solidFill>
              <a:srgbClr val="147D64"/>
            </a:solidFill>
            <a:prstDash val="solid"/>
            <a:round/>
            <a:headEnd len="sm" w="sm" type="none"/>
            <a:tailEnd len="med" w="med" type="triangle"/>
          </a:ln>
        </p:spPr>
      </p:cxnSp>
      <p:cxnSp>
        <p:nvCxnSpPr>
          <p:cNvPr id="347" name="Google Shape;347;p25"/>
          <p:cNvCxnSpPr>
            <a:stCxn id="348" idx="2"/>
            <a:endCxn id="343" idx="0"/>
          </p:cNvCxnSpPr>
          <p:nvPr/>
        </p:nvCxnSpPr>
        <p:spPr>
          <a:xfrm flipH="1">
            <a:off x="8715450" y="3914775"/>
            <a:ext cx="981000" cy="419100"/>
          </a:xfrm>
          <a:prstGeom prst="straightConnector1">
            <a:avLst/>
          </a:prstGeom>
          <a:noFill/>
          <a:ln cap="flat" cmpd="sng" w="23800">
            <a:solidFill>
              <a:srgbClr val="147D64"/>
            </a:solidFill>
            <a:prstDash val="solid"/>
            <a:round/>
            <a:headEnd len="sm" w="sm" type="none"/>
            <a:tailEnd len="med" w="med" type="triangle"/>
          </a:ln>
        </p:spPr>
      </p:cxnSp>
      <p:cxnSp>
        <p:nvCxnSpPr>
          <p:cNvPr id="349" name="Google Shape;349;p25"/>
          <p:cNvCxnSpPr>
            <a:stCxn id="350" idx="2"/>
            <a:endCxn id="343" idx="0"/>
          </p:cNvCxnSpPr>
          <p:nvPr/>
        </p:nvCxnSpPr>
        <p:spPr>
          <a:xfrm>
            <a:off x="7696200" y="3914775"/>
            <a:ext cx="1019100" cy="419100"/>
          </a:xfrm>
          <a:prstGeom prst="straightConnector1">
            <a:avLst/>
          </a:prstGeom>
          <a:noFill/>
          <a:ln cap="flat" cmpd="sng" w="23800">
            <a:solidFill>
              <a:srgbClr val="147D64"/>
            </a:solidFill>
            <a:prstDash val="solid"/>
            <a:round/>
            <a:headEnd len="sm" w="sm" type="none"/>
            <a:tailEnd len="med" w="med" type="triangle"/>
          </a:ln>
        </p:spPr>
      </p:cxnSp>
      <p:cxnSp>
        <p:nvCxnSpPr>
          <p:cNvPr id="351" name="Google Shape;351;p25"/>
          <p:cNvCxnSpPr>
            <a:stCxn id="352" idx="2"/>
            <a:endCxn id="346" idx="0"/>
          </p:cNvCxnSpPr>
          <p:nvPr/>
        </p:nvCxnSpPr>
        <p:spPr>
          <a:xfrm flipH="1">
            <a:off x="3476700" y="3914775"/>
            <a:ext cx="981000" cy="419100"/>
          </a:xfrm>
          <a:prstGeom prst="straightConnector1">
            <a:avLst/>
          </a:prstGeom>
          <a:noFill/>
          <a:ln cap="flat" cmpd="sng" w="23800">
            <a:solidFill>
              <a:srgbClr val="147D64"/>
            </a:solidFill>
            <a:prstDash val="solid"/>
            <a:round/>
            <a:headEnd len="sm" w="sm" type="none"/>
            <a:tailEnd len="med" w="med" type="triangle"/>
          </a:ln>
        </p:spPr>
      </p:cxnSp>
      <p:cxnSp>
        <p:nvCxnSpPr>
          <p:cNvPr id="353" name="Google Shape;353;p25"/>
          <p:cNvCxnSpPr>
            <a:stCxn id="354" idx="2"/>
            <a:endCxn id="346" idx="0"/>
          </p:cNvCxnSpPr>
          <p:nvPr/>
        </p:nvCxnSpPr>
        <p:spPr>
          <a:xfrm>
            <a:off x="2457450" y="3914775"/>
            <a:ext cx="1019100" cy="419100"/>
          </a:xfrm>
          <a:prstGeom prst="straightConnector1">
            <a:avLst/>
          </a:prstGeom>
          <a:noFill/>
          <a:ln cap="flat" cmpd="sng" w="23800">
            <a:solidFill>
              <a:srgbClr val="147D64"/>
            </a:solidFill>
            <a:prstDash val="solid"/>
            <a:round/>
            <a:headEnd len="sm" w="sm" type="none"/>
            <a:tailEnd len="med" w="med" type="triangle"/>
          </a:ln>
        </p:spPr>
      </p:cxnSp>
      <p:cxnSp>
        <p:nvCxnSpPr>
          <p:cNvPr id="355" name="Google Shape;355;p25"/>
          <p:cNvCxnSpPr>
            <a:stCxn id="356" idx="2"/>
            <a:endCxn id="348" idx="0"/>
          </p:cNvCxnSpPr>
          <p:nvPr/>
        </p:nvCxnSpPr>
        <p:spPr>
          <a:xfrm>
            <a:off x="8715375" y="3019425"/>
            <a:ext cx="981000" cy="381000"/>
          </a:xfrm>
          <a:prstGeom prst="straightConnector1">
            <a:avLst/>
          </a:prstGeom>
          <a:noFill/>
          <a:ln cap="flat" cmpd="sng" w="23800">
            <a:solidFill>
              <a:srgbClr val="005A9C"/>
            </a:solidFill>
            <a:prstDash val="solid"/>
            <a:round/>
            <a:headEnd len="sm" w="sm" type="none"/>
            <a:tailEnd len="med" w="med" type="triangle"/>
          </a:ln>
        </p:spPr>
      </p:cxnSp>
      <p:cxnSp>
        <p:nvCxnSpPr>
          <p:cNvPr id="357" name="Google Shape;357;p25"/>
          <p:cNvCxnSpPr>
            <a:stCxn id="356" idx="2"/>
            <a:endCxn id="350" idx="0"/>
          </p:cNvCxnSpPr>
          <p:nvPr/>
        </p:nvCxnSpPr>
        <p:spPr>
          <a:xfrm flipH="1">
            <a:off x="7696275" y="3019425"/>
            <a:ext cx="1019100" cy="381000"/>
          </a:xfrm>
          <a:prstGeom prst="straightConnector1">
            <a:avLst/>
          </a:prstGeom>
          <a:noFill/>
          <a:ln cap="flat" cmpd="sng" w="23800">
            <a:solidFill>
              <a:srgbClr val="005A9C"/>
            </a:solidFill>
            <a:prstDash val="solid"/>
            <a:round/>
            <a:headEnd len="sm" w="sm" type="none"/>
            <a:tailEnd len="med" w="med" type="triangle"/>
          </a:ln>
        </p:spPr>
      </p:cxnSp>
      <p:cxnSp>
        <p:nvCxnSpPr>
          <p:cNvPr id="358" name="Google Shape;358;p25"/>
          <p:cNvCxnSpPr>
            <a:stCxn id="359" idx="2"/>
            <a:endCxn id="352" idx="0"/>
          </p:cNvCxnSpPr>
          <p:nvPr/>
        </p:nvCxnSpPr>
        <p:spPr>
          <a:xfrm>
            <a:off x="3476625" y="3019425"/>
            <a:ext cx="981000" cy="381000"/>
          </a:xfrm>
          <a:prstGeom prst="straightConnector1">
            <a:avLst/>
          </a:prstGeom>
          <a:noFill/>
          <a:ln cap="flat" cmpd="sng" w="23800">
            <a:solidFill>
              <a:srgbClr val="005A9C"/>
            </a:solidFill>
            <a:prstDash val="solid"/>
            <a:round/>
            <a:headEnd len="sm" w="sm" type="none"/>
            <a:tailEnd len="med" w="med" type="triangle"/>
          </a:ln>
        </p:spPr>
      </p:cxnSp>
      <p:cxnSp>
        <p:nvCxnSpPr>
          <p:cNvPr id="360" name="Google Shape;360;p25"/>
          <p:cNvCxnSpPr>
            <a:stCxn id="359" idx="2"/>
            <a:endCxn id="354" idx="0"/>
          </p:cNvCxnSpPr>
          <p:nvPr/>
        </p:nvCxnSpPr>
        <p:spPr>
          <a:xfrm flipH="1">
            <a:off x="2457525" y="3019425"/>
            <a:ext cx="1019100" cy="381000"/>
          </a:xfrm>
          <a:prstGeom prst="straightConnector1">
            <a:avLst/>
          </a:prstGeom>
          <a:noFill/>
          <a:ln cap="flat" cmpd="sng" w="23800">
            <a:solidFill>
              <a:srgbClr val="005A9C"/>
            </a:solidFill>
            <a:prstDash val="solid"/>
            <a:round/>
            <a:headEnd len="sm" w="sm" type="none"/>
            <a:tailEnd len="med" w="med" type="triangle"/>
          </a:ln>
        </p:spPr>
      </p:cxnSp>
      <p:cxnSp>
        <p:nvCxnSpPr>
          <p:cNvPr id="361" name="Google Shape;361;p25"/>
          <p:cNvCxnSpPr>
            <a:stCxn id="362" idx="2"/>
            <a:endCxn id="356" idx="0"/>
          </p:cNvCxnSpPr>
          <p:nvPr/>
        </p:nvCxnSpPr>
        <p:spPr>
          <a:xfrm>
            <a:off x="6096000" y="2066925"/>
            <a:ext cx="2619300" cy="409500"/>
          </a:xfrm>
          <a:prstGeom prst="straightConnector1">
            <a:avLst/>
          </a:prstGeom>
          <a:noFill/>
          <a:ln cap="flat" cmpd="sng" w="23800">
            <a:solidFill>
              <a:srgbClr val="005A9C"/>
            </a:solidFill>
            <a:prstDash val="solid"/>
            <a:round/>
            <a:headEnd len="sm" w="sm" type="none"/>
            <a:tailEnd len="med" w="med" type="triangle"/>
          </a:ln>
        </p:spPr>
      </p:cxnSp>
      <p:cxnSp>
        <p:nvCxnSpPr>
          <p:cNvPr id="363" name="Google Shape;363;p25"/>
          <p:cNvCxnSpPr>
            <a:stCxn id="362" idx="2"/>
            <a:endCxn id="359" idx="0"/>
          </p:cNvCxnSpPr>
          <p:nvPr/>
        </p:nvCxnSpPr>
        <p:spPr>
          <a:xfrm flipH="1">
            <a:off x="3476700" y="2066925"/>
            <a:ext cx="2619300" cy="409500"/>
          </a:xfrm>
          <a:prstGeom prst="straightConnector1">
            <a:avLst/>
          </a:prstGeom>
          <a:noFill/>
          <a:ln cap="flat" cmpd="sng" w="23800">
            <a:solidFill>
              <a:srgbClr val="005A9C"/>
            </a:solidFill>
            <a:prstDash val="solid"/>
            <a:round/>
            <a:headEnd len="sm" w="sm" type="none"/>
            <a:tailEnd len="med" w="med" type="triangle"/>
          </a:ln>
        </p:spPr>
      </p:cxnSp>
      <p:sp>
        <p:nvSpPr>
          <p:cNvPr id="364" name="Google Shape;364;p25"/>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Merge sort: divide, sort, merge</a:t>
            </a:r>
            <a:endParaRPr/>
          </a:p>
        </p:txBody>
      </p:sp>
      <p:sp>
        <p:nvSpPr>
          <p:cNvPr id="365" name="Google Shape;365;p25"/>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18</a:t>
            </a:r>
            <a:endParaRPr/>
          </a:p>
        </p:txBody>
      </p:sp>
      <p:sp>
        <p:nvSpPr>
          <p:cNvPr id="362" name="Google Shape;362;p25"/>
          <p:cNvSpPr/>
          <p:nvPr/>
        </p:nvSpPr>
        <p:spPr>
          <a:xfrm>
            <a:off x="4171950" y="1524000"/>
            <a:ext cx="3848100" cy="542925"/>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8   3   6   2</a:t>
            </a:r>
            <a:endParaRPr/>
          </a:p>
        </p:txBody>
      </p:sp>
      <p:sp>
        <p:nvSpPr>
          <p:cNvPr id="359" name="Google Shape;359;p25"/>
          <p:cNvSpPr/>
          <p:nvPr/>
        </p:nvSpPr>
        <p:spPr>
          <a:xfrm>
            <a:off x="2238375" y="2476500"/>
            <a:ext cx="2476500" cy="542925"/>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8   3</a:t>
            </a:r>
            <a:endParaRPr/>
          </a:p>
        </p:txBody>
      </p:sp>
      <p:sp>
        <p:nvSpPr>
          <p:cNvPr id="356" name="Google Shape;356;p25"/>
          <p:cNvSpPr/>
          <p:nvPr/>
        </p:nvSpPr>
        <p:spPr>
          <a:xfrm>
            <a:off x="7477125" y="2476500"/>
            <a:ext cx="2476500" cy="542925"/>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6   2</a:t>
            </a:r>
            <a:endParaRPr/>
          </a:p>
        </p:txBody>
      </p:sp>
      <p:sp>
        <p:nvSpPr>
          <p:cNvPr id="354" name="Google Shape;354;p25"/>
          <p:cNvSpPr/>
          <p:nvPr/>
        </p:nvSpPr>
        <p:spPr>
          <a:xfrm>
            <a:off x="1981200" y="3400425"/>
            <a:ext cx="952500" cy="5143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8</a:t>
            </a:r>
            <a:endParaRPr/>
          </a:p>
        </p:txBody>
      </p:sp>
      <p:sp>
        <p:nvSpPr>
          <p:cNvPr id="352" name="Google Shape;352;p25"/>
          <p:cNvSpPr/>
          <p:nvPr/>
        </p:nvSpPr>
        <p:spPr>
          <a:xfrm>
            <a:off x="3981450" y="3400425"/>
            <a:ext cx="952500" cy="5143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3</a:t>
            </a:r>
            <a:endParaRPr/>
          </a:p>
        </p:txBody>
      </p:sp>
      <p:sp>
        <p:nvSpPr>
          <p:cNvPr id="350" name="Google Shape;350;p25"/>
          <p:cNvSpPr/>
          <p:nvPr/>
        </p:nvSpPr>
        <p:spPr>
          <a:xfrm>
            <a:off x="7219950" y="3400425"/>
            <a:ext cx="952500" cy="5143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6</a:t>
            </a:r>
            <a:endParaRPr/>
          </a:p>
        </p:txBody>
      </p:sp>
      <p:sp>
        <p:nvSpPr>
          <p:cNvPr id="348" name="Google Shape;348;p25"/>
          <p:cNvSpPr/>
          <p:nvPr/>
        </p:nvSpPr>
        <p:spPr>
          <a:xfrm>
            <a:off x="9220200" y="3400425"/>
            <a:ext cx="952500" cy="514350"/>
          </a:xfrm>
          <a:prstGeom prst="rect">
            <a:avLst/>
          </a:prstGeom>
          <a:solidFill>
            <a:srgbClr val="F0F4F7"/>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2</a:t>
            </a:r>
            <a:endParaRPr/>
          </a:p>
        </p:txBody>
      </p:sp>
      <p:sp>
        <p:nvSpPr>
          <p:cNvPr id="346" name="Google Shape;346;p25"/>
          <p:cNvSpPr/>
          <p:nvPr/>
        </p:nvSpPr>
        <p:spPr>
          <a:xfrm>
            <a:off x="2238375" y="4333875"/>
            <a:ext cx="2476500" cy="542925"/>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3   8</a:t>
            </a:r>
            <a:endParaRPr/>
          </a:p>
        </p:txBody>
      </p:sp>
      <p:sp>
        <p:nvSpPr>
          <p:cNvPr id="343" name="Google Shape;343;p25"/>
          <p:cNvSpPr/>
          <p:nvPr/>
        </p:nvSpPr>
        <p:spPr>
          <a:xfrm>
            <a:off x="7477125" y="4333875"/>
            <a:ext cx="2476500" cy="542925"/>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2   6</a:t>
            </a:r>
            <a:endParaRPr/>
          </a:p>
        </p:txBody>
      </p:sp>
      <p:sp>
        <p:nvSpPr>
          <p:cNvPr id="344" name="Google Shape;344;p25"/>
          <p:cNvSpPr/>
          <p:nvPr/>
        </p:nvSpPr>
        <p:spPr>
          <a:xfrm>
            <a:off x="4171950" y="5238750"/>
            <a:ext cx="3848100" cy="542925"/>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100">
                <a:solidFill>
                  <a:srgbClr val="17364B"/>
                </a:solidFill>
                <a:latin typeface="Arial"/>
                <a:ea typeface="Arial"/>
                <a:cs typeface="Arial"/>
                <a:sym typeface="Arial"/>
              </a:rPr>
              <a:t>2   3   6   8</a:t>
            </a:r>
            <a:endParaRPr/>
          </a:p>
        </p:txBody>
      </p:sp>
      <p:sp>
        <p:nvSpPr>
          <p:cNvPr id="366" name="Google Shape;366;p25"/>
          <p:cNvSpPr/>
          <p:nvPr/>
        </p:nvSpPr>
        <p:spPr>
          <a:xfrm>
            <a:off x="609600" y="2619375"/>
            <a:ext cx="12382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05A9C"/>
                </a:solidFill>
                <a:latin typeface="Arial"/>
                <a:ea typeface="Arial"/>
                <a:cs typeface="Arial"/>
                <a:sym typeface="Arial"/>
              </a:rPr>
              <a:t>split</a:t>
            </a:r>
            <a:endParaRPr/>
          </a:p>
        </p:txBody>
      </p:sp>
      <p:sp>
        <p:nvSpPr>
          <p:cNvPr id="367" name="Google Shape;367;p25"/>
          <p:cNvSpPr/>
          <p:nvPr/>
        </p:nvSpPr>
        <p:spPr>
          <a:xfrm>
            <a:off x="609600" y="4448175"/>
            <a:ext cx="12382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147D64"/>
                </a:solidFill>
                <a:latin typeface="Arial"/>
                <a:ea typeface="Arial"/>
                <a:cs typeface="Arial"/>
                <a:sym typeface="Arial"/>
              </a:rPr>
              <a:t>merge</a:t>
            </a:r>
            <a:endParaRPr/>
          </a:p>
        </p:txBody>
      </p:sp>
      <p:sp>
        <p:nvSpPr>
          <p:cNvPr id="368" name="Google Shape;368;p25"/>
          <p:cNvSpPr/>
          <p:nvPr/>
        </p:nvSpPr>
        <p:spPr>
          <a:xfrm>
            <a:off x="8629650" y="5429250"/>
            <a:ext cx="2952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25">
                <a:solidFill>
                  <a:srgbClr val="002B49"/>
                </a:solidFill>
                <a:latin typeface="Arial"/>
                <a:ea typeface="Arial"/>
                <a:cs typeface="Arial"/>
                <a:sym typeface="Arial"/>
              </a:rPr>
              <a:t>O(n log n) time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6"/>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Recursion retains unfinished calls</a:t>
            </a:r>
            <a:endParaRPr/>
          </a:p>
        </p:txBody>
      </p:sp>
      <p:sp>
        <p:nvSpPr>
          <p:cNvPr id="375" name="Google Shape;375;p26"/>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19</a:t>
            </a:r>
            <a:endParaRPr/>
          </a:p>
        </p:txBody>
      </p:sp>
      <p:sp>
        <p:nvSpPr>
          <p:cNvPr id="376" name="Google Shape;376;p26"/>
          <p:cNvSpPr/>
          <p:nvPr/>
        </p:nvSpPr>
        <p:spPr>
          <a:xfrm>
            <a:off x="609600" y="1762125"/>
            <a:ext cx="6572250" cy="2190750"/>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1875">
                <a:solidFill>
                  <a:srgbClr val="17364B"/>
                </a:solidFill>
                <a:latin typeface="Roboto Mono"/>
                <a:ea typeface="Roboto Mono"/>
                <a:cs typeface="Roboto Mono"/>
                <a:sym typeface="Roboto Mono"/>
              </a:rPr>
              <a:t>def total(values, i=0):</a:t>
            </a:r>
            <a:endParaRPr>
              <a:latin typeface="Roboto Mono"/>
              <a:ea typeface="Roboto Mono"/>
              <a:cs typeface="Roboto Mono"/>
              <a:sym typeface="Roboto Mono"/>
            </a:endParaRPr>
          </a:p>
          <a:p>
            <a:pPr indent="0" lvl="0" marL="0" marR="0" rtl="0" algn="l">
              <a:spcBef>
                <a:spcPts val="0"/>
              </a:spcBef>
              <a:spcAft>
                <a:spcPts val="0"/>
              </a:spcAft>
              <a:buNone/>
            </a:pPr>
            <a:r>
              <a:rPr lang="en-US" sz="1875">
                <a:solidFill>
                  <a:srgbClr val="17364B"/>
                </a:solidFill>
                <a:latin typeface="Roboto Mono"/>
                <a:ea typeface="Roboto Mono"/>
                <a:cs typeface="Roboto Mono"/>
                <a:sym typeface="Roboto Mono"/>
              </a:rPr>
              <a:t>    </a:t>
            </a:r>
            <a:r>
              <a:rPr lang="en-US" sz="1875">
                <a:solidFill>
                  <a:srgbClr val="17364B"/>
                </a:solidFill>
                <a:latin typeface="Roboto Mono"/>
                <a:ea typeface="Roboto Mono"/>
                <a:cs typeface="Roboto Mono"/>
                <a:sym typeface="Roboto Mono"/>
              </a:rPr>
              <a:t>if i == len(values):</a:t>
            </a:r>
            <a:endParaRPr>
              <a:latin typeface="Roboto Mono"/>
              <a:ea typeface="Roboto Mono"/>
              <a:cs typeface="Roboto Mono"/>
              <a:sym typeface="Roboto Mono"/>
            </a:endParaRPr>
          </a:p>
          <a:p>
            <a:pPr indent="0" lvl="0" marL="0" marR="0" rtl="0" algn="l">
              <a:spcBef>
                <a:spcPts val="0"/>
              </a:spcBef>
              <a:spcAft>
                <a:spcPts val="0"/>
              </a:spcAft>
              <a:buNone/>
            </a:pPr>
            <a:r>
              <a:rPr lang="en-US" sz="1875">
                <a:solidFill>
                  <a:srgbClr val="17364B"/>
                </a:solidFill>
                <a:latin typeface="Roboto Mono"/>
                <a:ea typeface="Roboto Mono"/>
                <a:cs typeface="Roboto Mono"/>
                <a:sym typeface="Roboto Mono"/>
              </a:rPr>
              <a:t>        return 0</a:t>
            </a:r>
            <a:endParaRPr>
              <a:latin typeface="Roboto Mono"/>
              <a:ea typeface="Roboto Mono"/>
              <a:cs typeface="Roboto Mono"/>
              <a:sym typeface="Roboto Mono"/>
            </a:endParaRPr>
          </a:p>
          <a:p>
            <a:pPr indent="0" lvl="0" marL="0" marR="0" rtl="0" algn="l">
              <a:spcBef>
                <a:spcPts val="0"/>
              </a:spcBef>
              <a:spcAft>
                <a:spcPts val="0"/>
              </a:spcAft>
              <a:buNone/>
            </a:pPr>
            <a:r>
              <a:rPr lang="en-US" sz="1875">
                <a:solidFill>
                  <a:srgbClr val="17364B"/>
                </a:solidFill>
                <a:latin typeface="Roboto Mono"/>
                <a:ea typeface="Roboto Mono"/>
                <a:cs typeface="Roboto Mono"/>
                <a:sym typeface="Roboto Mono"/>
              </a:rPr>
              <a:t>    return values[i] + total(values, i+1)</a:t>
            </a:r>
            <a:endParaRPr>
              <a:latin typeface="Roboto Mono"/>
              <a:ea typeface="Roboto Mono"/>
              <a:cs typeface="Roboto Mono"/>
              <a:sym typeface="Roboto Mono"/>
            </a:endParaRPr>
          </a:p>
        </p:txBody>
      </p:sp>
      <p:sp>
        <p:nvSpPr>
          <p:cNvPr id="377" name="Google Shape;377;p26"/>
          <p:cNvSpPr/>
          <p:nvPr/>
        </p:nvSpPr>
        <p:spPr>
          <a:xfrm>
            <a:off x="609600" y="4419600"/>
            <a:ext cx="61912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latin typeface="Arial"/>
                <a:ea typeface="Arial"/>
                <a:cs typeface="Arial"/>
                <a:sym typeface="Arial"/>
              </a:rPr>
              <a:t>values = [2, 4, 6]</a:t>
            </a:r>
            <a:endParaRPr/>
          </a:p>
        </p:txBody>
      </p:sp>
      <p:sp>
        <p:nvSpPr>
          <p:cNvPr id="378" name="Google Shape;378;p26"/>
          <p:cNvSpPr/>
          <p:nvPr/>
        </p:nvSpPr>
        <p:spPr>
          <a:xfrm>
            <a:off x="7981950" y="1666875"/>
            <a:ext cx="3600450" cy="64770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i = 0   waits to add 2</a:t>
            </a:r>
            <a:endParaRPr/>
          </a:p>
        </p:txBody>
      </p:sp>
      <p:sp>
        <p:nvSpPr>
          <p:cNvPr id="379" name="Google Shape;379;p26"/>
          <p:cNvSpPr/>
          <p:nvPr/>
        </p:nvSpPr>
        <p:spPr>
          <a:xfrm>
            <a:off x="7981950" y="2543175"/>
            <a:ext cx="3600450" cy="64770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i = 1   waits to add 4</a:t>
            </a:r>
            <a:endParaRPr/>
          </a:p>
        </p:txBody>
      </p:sp>
      <p:sp>
        <p:nvSpPr>
          <p:cNvPr id="380" name="Google Shape;380;p26"/>
          <p:cNvSpPr/>
          <p:nvPr/>
        </p:nvSpPr>
        <p:spPr>
          <a:xfrm>
            <a:off x="7981950" y="3419475"/>
            <a:ext cx="3600450" cy="647700"/>
          </a:xfrm>
          <a:prstGeom prst="rect">
            <a:avLst/>
          </a:prstGeom>
          <a:solidFill>
            <a:srgbClr val="E6F1FA"/>
          </a:solidFill>
          <a:ln cap="flat" cmpd="sng" w="13325">
            <a:solidFill>
              <a:srgbClr val="D5DFE6"/>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i = 2   waits to add 6</a:t>
            </a:r>
            <a:endParaRPr/>
          </a:p>
        </p:txBody>
      </p:sp>
      <p:sp>
        <p:nvSpPr>
          <p:cNvPr id="381" name="Google Shape;381;p26"/>
          <p:cNvSpPr/>
          <p:nvPr/>
        </p:nvSpPr>
        <p:spPr>
          <a:xfrm>
            <a:off x="7981950" y="4295775"/>
            <a:ext cx="3600450" cy="6477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1950">
                <a:solidFill>
                  <a:srgbClr val="17364B"/>
                </a:solidFill>
                <a:latin typeface="Arial"/>
                <a:ea typeface="Arial"/>
                <a:cs typeface="Arial"/>
                <a:sym typeface="Arial"/>
              </a:rPr>
              <a:t>i = 3   returns 0</a:t>
            </a:r>
            <a:endParaRPr/>
          </a:p>
        </p:txBody>
      </p:sp>
      <p:sp>
        <p:nvSpPr>
          <p:cNvPr id="382" name="Google Shape;382;p26"/>
          <p:cNvSpPr/>
          <p:nvPr/>
        </p:nvSpPr>
        <p:spPr>
          <a:xfrm>
            <a:off x="7620000" y="5172075"/>
            <a:ext cx="3962400"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61717D"/>
                </a:solidFill>
                <a:latin typeface="Arial"/>
                <a:ea typeface="Arial"/>
                <a:cs typeface="Arial"/>
                <a:sym typeface="Arial"/>
              </a:rPr>
              <a:t>Four live calls at the deepest point</a:t>
            </a:r>
            <a:endParaRPr/>
          </a:p>
        </p:txBody>
      </p:sp>
      <p:sp>
        <p:nvSpPr>
          <p:cNvPr id="383" name="Google Shape;383;p26"/>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O(n) time. O(n) extra space for the call stack.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27"/>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The same sum with constant extra space</a:t>
            </a:r>
            <a:endParaRPr/>
          </a:p>
        </p:txBody>
      </p:sp>
      <p:sp>
        <p:nvSpPr>
          <p:cNvPr id="390" name="Google Shape;390;p27"/>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20</a:t>
            </a:r>
            <a:endParaRPr/>
          </a:p>
        </p:txBody>
      </p:sp>
      <p:sp>
        <p:nvSpPr>
          <p:cNvPr id="391" name="Google Shape;391;p27"/>
          <p:cNvSpPr/>
          <p:nvPr/>
        </p:nvSpPr>
        <p:spPr>
          <a:xfrm>
            <a:off x="609600" y="1657350"/>
            <a:ext cx="5695950" cy="2714625"/>
          </a:xfrm>
          <a:prstGeom prst="rect">
            <a:avLst/>
          </a:prstGeom>
          <a:solidFill>
            <a:srgbClr val="F0F4F7"/>
          </a:solidFill>
          <a:ln cap="flat" cmpd="sng" w="13325">
            <a:solidFill>
              <a:srgbClr val="F0F4F7"/>
            </a:solidFill>
            <a:prstDash val="solid"/>
            <a:round/>
            <a:headEnd len="sm" w="sm" type="none"/>
            <a:tailEnd len="sm" w="sm" type="none"/>
          </a:ln>
        </p:spPr>
        <p:txBody>
          <a:bodyPr anchorCtr="0" anchor="ctr" bIns="133350" lIns="209550" spcFirstLastPara="1" rIns="152400" wrap="square" tIns="133350">
            <a:noAutofit/>
          </a:bodyPr>
          <a:lstStyle/>
          <a:p>
            <a:pPr indent="0" lvl="0" marL="0" marR="0" rtl="0" algn="l">
              <a:spcBef>
                <a:spcPts val="0"/>
              </a:spcBef>
              <a:spcAft>
                <a:spcPts val="0"/>
              </a:spcAft>
              <a:buNone/>
            </a:pPr>
            <a:r>
              <a:rPr lang="en-US" sz="2175">
                <a:solidFill>
                  <a:srgbClr val="17364B"/>
                </a:solidFill>
                <a:latin typeface="Roboto Mono"/>
                <a:ea typeface="Roboto Mono"/>
                <a:cs typeface="Roboto Mono"/>
                <a:sym typeface="Roboto Mono"/>
              </a:rPr>
              <a:t>def total(values):</a:t>
            </a:r>
            <a:endParaRPr>
              <a:latin typeface="Roboto Mono"/>
              <a:ea typeface="Roboto Mono"/>
              <a:cs typeface="Roboto Mono"/>
              <a:sym typeface="Roboto Mono"/>
            </a:endParaRPr>
          </a:p>
          <a:p>
            <a:pPr indent="0" lvl="0" marL="0" marR="0" rtl="0" algn="l">
              <a:spcBef>
                <a:spcPts val="0"/>
              </a:spcBef>
              <a:spcAft>
                <a:spcPts val="0"/>
              </a:spcAft>
              <a:buNone/>
            </a:pPr>
            <a:r>
              <a:rPr lang="en-US" sz="2175">
                <a:solidFill>
                  <a:srgbClr val="17364B"/>
                </a:solidFill>
                <a:latin typeface="Roboto Mono"/>
                <a:ea typeface="Roboto Mono"/>
                <a:cs typeface="Roboto Mono"/>
                <a:sym typeface="Roboto Mono"/>
              </a:rPr>
              <a:t>    result = 0</a:t>
            </a:r>
            <a:endParaRPr>
              <a:latin typeface="Roboto Mono"/>
              <a:ea typeface="Roboto Mono"/>
              <a:cs typeface="Roboto Mono"/>
              <a:sym typeface="Roboto Mono"/>
            </a:endParaRPr>
          </a:p>
          <a:p>
            <a:pPr indent="0" lvl="0" marL="0" marR="0" rtl="0" algn="l">
              <a:spcBef>
                <a:spcPts val="0"/>
              </a:spcBef>
              <a:spcAft>
                <a:spcPts val="0"/>
              </a:spcAft>
              <a:buNone/>
            </a:pPr>
            <a:r>
              <a:rPr lang="en-US" sz="2175">
                <a:solidFill>
                  <a:srgbClr val="17364B"/>
                </a:solidFill>
                <a:latin typeface="Roboto Mono"/>
                <a:ea typeface="Roboto Mono"/>
                <a:cs typeface="Roboto Mono"/>
                <a:sym typeface="Roboto Mono"/>
              </a:rPr>
              <a:t>    for value in values:</a:t>
            </a:r>
            <a:endParaRPr>
              <a:latin typeface="Roboto Mono"/>
              <a:ea typeface="Roboto Mono"/>
              <a:cs typeface="Roboto Mono"/>
              <a:sym typeface="Roboto Mono"/>
            </a:endParaRPr>
          </a:p>
          <a:p>
            <a:pPr indent="0" lvl="0" marL="0" marR="0" rtl="0" algn="l">
              <a:spcBef>
                <a:spcPts val="0"/>
              </a:spcBef>
              <a:spcAft>
                <a:spcPts val="0"/>
              </a:spcAft>
              <a:buNone/>
            </a:pPr>
            <a:r>
              <a:rPr lang="en-US" sz="2175">
                <a:solidFill>
                  <a:srgbClr val="17364B"/>
                </a:solidFill>
                <a:latin typeface="Roboto Mono"/>
                <a:ea typeface="Roboto Mono"/>
                <a:cs typeface="Roboto Mono"/>
                <a:sym typeface="Roboto Mono"/>
              </a:rPr>
              <a:t>        result += value</a:t>
            </a:r>
            <a:endParaRPr>
              <a:latin typeface="Roboto Mono"/>
              <a:ea typeface="Roboto Mono"/>
              <a:cs typeface="Roboto Mono"/>
              <a:sym typeface="Roboto Mono"/>
            </a:endParaRPr>
          </a:p>
          <a:p>
            <a:pPr indent="0" lvl="0" marL="0" marR="0" rtl="0" algn="l">
              <a:spcBef>
                <a:spcPts val="0"/>
              </a:spcBef>
              <a:spcAft>
                <a:spcPts val="0"/>
              </a:spcAft>
              <a:buNone/>
            </a:pPr>
            <a:r>
              <a:rPr lang="en-US" sz="2175">
                <a:solidFill>
                  <a:srgbClr val="17364B"/>
                </a:solidFill>
                <a:latin typeface="Roboto Mono"/>
                <a:ea typeface="Roboto Mono"/>
                <a:cs typeface="Roboto Mono"/>
                <a:sym typeface="Roboto Mono"/>
              </a:rPr>
              <a:t>    return result</a:t>
            </a:r>
            <a:endParaRPr>
              <a:latin typeface="Roboto Mono"/>
              <a:ea typeface="Roboto Mono"/>
              <a:cs typeface="Roboto Mono"/>
              <a:sym typeface="Roboto Mono"/>
            </a:endParaRPr>
          </a:p>
        </p:txBody>
      </p:sp>
      <p:sp>
        <p:nvSpPr>
          <p:cNvPr id="392" name="Google Shape;392;p27"/>
          <p:cNvSpPr/>
          <p:nvPr/>
        </p:nvSpPr>
        <p:spPr>
          <a:xfrm>
            <a:off x="7410450" y="1657350"/>
            <a:ext cx="41719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25">
                <a:solidFill>
                  <a:srgbClr val="147D64"/>
                </a:solidFill>
                <a:latin typeface="Arial"/>
                <a:ea typeface="Arial"/>
                <a:cs typeface="Arial"/>
                <a:sym typeface="Arial"/>
              </a:rPr>
              <a:t>One running total</a:t>
            </a:r>
            <a:endParaRPr/>
          </a:p>
        </p:txBody>
      </p:sp>
      <p:sp>
        <p:nvSpPr>
          <p:cNvPr id="393" name="Google Shape;393;p27"/>
          <p:cNvSpPr/>
          <p:nvPr/>
        </p:nvSpPr>
        <p:spPr>
          <a:xfrm>
            <a:off x="7410450" y="2552700"/>
            <a:ext cx="971550" cy="7620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400">
                <a:solidFill>
                  <a:srgbClr val="17364B"/>
                </a:solidFill>
                <a:latin typeface="Arial"/>
                <a:ea typeface="Arial"/>
                <a:cs typeface="Arial"/>
                <a:sym typeface="Arial"/>
              </a:rPr>
              <a:t>0</a:t>
            </a:r>
            <a:endParaRPr/>
          </a:p>
        </p:txBody>
      </p:sp>
      <p:sp>
        <p:nvSpPr>
          <p:cNvPr id="394" name="Google Shape;394;p27"/>
          <p:cNvSpPr/>
          <p:nvPr/>
        </p:nvSpPr>
        <p:spPr>
          <a:xfrm>
            <a:off x="8410575" y="2552700"/>
            <a:ext cx="971550" cy="7620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400">
                <a:solidFill>
                  <a:srgbClr val="17364B"/>
                </a:solidFill>
                <a:latin typeface="Arial"/>
                <a:ea typeface="Arial"/>
                <a:cs typeface="Arial"/>
                <a:sym typeface="Arial"/>
              </a:rPr>
              <a:t>2</a:t>
            </a:r>
            <a:endParaRPr/>
          </a:p>
        </p:txBody>
      </p:sp>
      <p:sp>
        <p:nvSpPr>
          <p:cNvPr id="395" name="Google Shape;395;p27"/>
          <p:cNvSpPr/>
          <p:nvPr/>
        </p:nvSpPr>
        <p:spPr>
          <a:xfrm>
            <a:off x="9410700" y="2552700"/>
            <a:ext cx="971550" cy="7620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400">
                <a:solidFill>
                  <a:srgbClr val="17364B"/>
                </a:solidFill>
                <a:latin typeface="Arial"/>
                <a:ea typeface="Arial"/>
                <a:cs typeface="Arial"/>
                <a:sym typeface="Arial"/>
              </a:rPr>
              <a:t>6</a:t>
            </a:r>
            <a:endParaRPr/>
          </a:p>
        </p:txBody>
      </p:sp>
      <p:sp>
        <p:nvSpPr>
          <p:cNvPr id="396" name="Google Shape;396;p27"/>
          <p:cNvSpPr/>
          <p:nvPr/>
        </p:nvSpPr>
        <p:spPr>
          <a:xfrm>
            <a:off x="10410825" y="2552700"/>
            <a:ext cx="971550" cy="762000"/>
          </a:xfrm>
          <a:prstGeom prst="rect">
            <a:avLst/>
          </a:prstGeom>
          <a:solidFill>
            <a:srgbClr val="E6F3ED"/>
          </a:solidFill>
          <a:ln cap="flat" cmpd="sng" w="13325">
            <a:solidFill>
              <a:srgbClr val="147D6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spcBef>
                <a:spcPts val="0"/>
              </a:spcBef>
              <a:spcAft>
                <a:spcPts val="0"/>
              </a:spcAft>
              <a:buNone/>
            </a:pPr>
            <a:r>
              <a:rPr b="0" lang="en-US" sz="2400">
                <a:solidFill>
                  <a:srgbClr val="17364B"/>
                </a:solidFill>
                <a:latin typeface="Arial"/>
                <a:ea typeface="Arial"/>
                <a:cs typeface="Arial"/>
                <a:sym typeface="Arial"/>
              </a:rPr>
              <a:t>12</a:t>
            </a:r>
            <a:endParaRPr/>
          </a:p>
        </p:txBody>
      </p:sp>
      <p:sp>
        <p:nvSpPr>
          <p:cNvPr id="397" name="Google Shape;397;p27"/>
          <p:cNvSpPr/>
          <p:nvPr/>
        </p:nvSpPr>
        <p:spPr>
          <a:xfrm>
            <a:off x="7410450" y="3533775"/>
            <a:ext cx="41719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75">
                <a:solidFill>
                  <a:srgbClr val="61717D"/>
                </a:solidFill>
                <a:latin typeface="Arial"/>
                <a:ea typeface="Arial"/>
                <a:cs typeface="Arial"/>
                <a:sym typeface="Arial"/>
              </a:rPr>
              <a:t>successive states</a:t>
            </a:r>
            <a:endParaRPr/>
          </a:p>
        </p:txBody>
      </p:sp>
      <p:sp>
        <p:nvSpPr>
          <p:cNvPr id="398" name="Google Shape;398;p27"/>
          <p:cNvSpPr/>
          <p:nvPr/>
        </p:nvSpPr>
        <p:spPr>
          <a:xfrm>
            <a:off x="609600" y="4953000"/>
            <a:ext cx="24765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005A9C"/>
                </a:solidFill>
                <a:latin typeface="Arial"/>
                <a:ea typeface="Arial"/>
                <a:cs typeface="Arial"/>
                <a:sym typeface="Arial"/>
              </a:rPr>
              <a:t>Recursion</a:t>
            </a:r>
            <a:endParaRPr/>
          </a:p>
        </p:txBody>
      </p:sp>
      <p:sp>
        <p:nvSpPr>
          <p:cNvPr id="399" name="Google Shape;399;p27"/>
          <p:cNvSpPr/>
          <p:nvPr/>
        </p:nvSpPr>
        <p:spPr>
          <a:xfrm>
            <a:off x="3000375" y="4953000"/>
            <a:ext cx="3810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17364B"/>
                </a:solidFill>
                <a:latin typeface="Arial"/>
                <a:ea typeface="Arial"/>
                <a:cs typeface="Arial"/>
                <a:sym typeface="Arial"/>
              </a:rPr>
              <a:t>O(n) time   O(n) space</a:t>
            </a:r>
            <a:endParaRPr/>
          </a:p>
        </p:txBody>
      </p:sp>
      <p:sp>
        <p:nvSpPr>
          <p:cNvPr id="400" name="Google Shape;400;p27"/>
          <p:cNvSpPr/>
          <p:nvPr/>
        </p:nvSpPr>
        <p:spPr>
          <a:xfrm>
            <a:off x="7410450" y="4476750"/>
            <a:ext cx="41719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147D64"/>
                </a:solidFill>
                <a:latin typeface="Arial"/>
                <a:ea typeface="Arial"/>
                <a:cs typeface="Arial"/>
                <a:sym typeface="Arial"/>
              </a:rPr>
              <a:t>Iteration</a:t>
            </a:r>
            <a:endParaRPr/>
          </a:p>
        </p:txBody>
      </p:sp>
      <p:sp>
        <p:nvSpPr>
          <p:cNvPr id="401" name="Google Shape;401;p27"/>
          <p:cNvSpPr/>
          <p:nvPr/>
        </p:nvSpPr>
        <p:spPr>
          <a:xfrm>
            <a:off x="7410450" y="5000625"/>
            <a:ext cx="417195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17364B"/>
                </a:solidFill>
                <a:latin typeface="Arial"/>
                <a:ea typeface="Arial"/>
                <a:cs typeface="Arial"/>
                <a:sym typeface="Arial"/>
              </a:rPr>
              <a:t>O(n) time</a:t>
            </a:r>
            <a:endParaRPr/>
          </a:p>
          <a:p>
            <a:pPr indent="0" lvl="0" marL="0" marR="0" rtl="0" algn="l">
              <a:spcBef>
                <a:spcPts val="0"/>
              </a:spcBef>
              <a:spcAft>
                <a:spcPts val="0"/>
              </a:spcAft>
              <a:buNone/>
            </a:pPr>
            <a:r>
              <a:rPr b="0" lang="en-US" sz="2175">
                <a:solidFill>
                  <a:srgbClr val="17364B"/>
                </a:solidFill>
                <a:latin typeface="Arial"/>
                <a:ea typeface="Arial"/>
                <a:cs typeface="Arial"/>
                <a:sym typeface="Arial"/>
              </a:rPr>
              <a:t>O(1) extra space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28"/>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Tree height determines search cost</a:t>
            </a:r>
            <a:endParaRPr b="1" sz="3300">
              <a:solidFill>
                <a:srgbClr val="002B49"/>
              </a:solidFill>
            </a:endParaRPr>
          </a:p>
        </p:txBody>
      </p:sp>
      <p:sp>
        <p:nvSpPr>
          <p:cNvPr id="408" name="Google Shape;408;p28"/>
          <p:cNvSpPr txBox="1"/>
          <p:nvPr/>
        </p:nvSpPr>
        <p:spPr>
          <a:xfrm>
            <a:off x="609600" y="1581150"/>
            <a:ext cx="5143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05A9C"/>
                </a:solidFill>
              </a:rPr>
              <a:t>Balanced</a:t>
            </a:r>
            <a:endParaRPr b="1" sz="2400">
              <a:solidFill>
                <a:srgbClr val="005A9C"/>
              </a:solidFill>
            </a:endParaRPr>
          </a:p>
        </p:txBody>
      </p:sp>
      <p:sp>
        <p:nvSpPr>
          <p:cNvPr id="409" name="Google Shape;409;p28"/>
          <p:cNvSpPr txBox="1"/>
          <p:nvPr/>
        </p:nvSpPr>
        <p:spPr>
          <a:xfrm>
            <a:off x="6800850" y="1581150"/>
            <a:ext cx="4762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B75914"/>
                </a:solidFill>
              </a:rPr>
              <a:t>A chain of nodes</a:t>
            </a:r>
            <a:endParaRPr b="1" sz="2400">
              <a:solidFill>
                <a:srgbClr val="B75914"/>
              </a:solidFill>
            </a:endParaRPr>
          </a:p>
        </p:txBody>
      </p:sp>
      <p:cxnSp>
        <p:nvCxnSpPr>
          <p:cNvPr id="410" name="Google Shape;410;p28"/>
          <p:cNvCxnSpPr/>
          <p:nvPr/>
        </p:nvCxnSpPr>
        <p:spPr>
          <a:xfrm flipH="1">
            <a:off x="2019375" y="2857500"/>
            <a:ext cx="1285800" cy="476400"/>
          </a:xfrm>
          <a:prstGeom prst="straightConnector1">
            <a:avLst/>
          </a:prstGeom>
          <a:noFill/>
          <a:ln cap="flat" cmpd="sng" w="22850">
            <a:solidFill>
              <a:srgbClr val="005A9C"/>
            </a:solidFill>
            <a:prstDash val="solid"/>
            <a:round/>
            <a:headEnd len="med" w="med" type="none"/>
            <a:tailEnd len="med" w="med" type="triangle"/>
          </a:ln>
        </p:spPr>
      </p:cxnSp>
      <p:cxnSp>
        <p:nvCxnSpPr>
          <p:cNvPr id="411" name="Google Shape;411;p28"/>
          <p:cNvCxnSpPr/>
          <p:nvPr/>
        </p:nvCxnSpPr>
        <p:spPr>
          <a:xfrm>
            <a:off x="3305175" y="2857500"/>
            <a:ext cx="1285800" cy="476400"/>
          </a:xfrm>
          <a:prstGeom prst="straightConnector1">
            <a:avLst/>
          </a:prstGeom>
          <a:noFill/>
          <a:ln cap="flat" cmpd="sng" w="22850">
            <a:solidFill>
              <a:srgbClr val="005A9C"/>
            </a:solidFill>
            <a:prstDash val="solid"/>
            <a:round/>
            <a:headEnd len="med" w="med" type="none"/>
            <a:tailEnd len="med" w="med" type="triangle"/>
          </a:ln>
        </p:spPr>
      </p:cxnSp>
      <p:cxnSp>
        <p:nvCxnSpPr>
          <p:cNvPr id="412" name="Google Shape;412;p28"/>
          <p:cNvCxnSpPr/>
          <p:nvPr/>
        </p:nvCxnSpPr>
        <p:spPr>
          <a:xfrm flipH="1">
            <a:off x="1257300" y="3810000"/>
            <a:ext cx="762000" cy="476400"/>
          </a:xfrm>
          <a:prstGeom prst="straightConnector1">
            <a:avLst/>
          </a:prstGeom>
          <a:noFill/>
          <a:ln cap="flat" cmpd="sng" w="22850">
            <a:solidFill>
              <a:srgbClr val="005A9C"/>
            </a:solidFill>
            <a:prstDash val="solid"/>
            <a:round/>
            <a:headEnd len="med" w="med" type="none"/>
            <a:tailEnd len="med" w="med" type="triangle"/>
          </a:ln>
        </p:spPr>
      </p:cxnSp>
      <p:cxnSp>
        <p:nvCxnSpPr>
          <p:cNvPr id="413" name="Google Shape;413;p28"/>
          <p:cNvCxnSpPr/>
          <p:nvPr/>
        </p:nvCxnSpPr>
        <p:spPr>
          <a:xfrm>
            <a:off x="2019300" y="3810000"/>
            <a:ext cx="666900" cy="476400"/>
          </a:xfrm>
          <a:prstGeom prst="straightConnector1">
            <a:avLst/>
          </a:prstGeom>
          <a:noFill/>
          <a:ln cap="flat" cmpd="sng" w="22850">
            <a:solidFill>
              <a:srgbClr val="005A9C"/>
            </a:solidFill>
            <a:prstDash val="solid"/>
            <a:round/>
            <a:headEnd len="med" w="med" type="none"/>
            <a:tailEnd len="med" w="med" type="triangle"/>
          </a:ln>
        </p:spPr>
      </p:cxnSp>
      <p:cxnSp>
        <p:nvCxnSpPr>
          <p:cNvPr id="414" name="Google Shape;414;p28"/>
          <p:cNvCxnSpPr/>
          <p:nvPr/>
        </p:nvCxnSpPr>
        <p:spPr>
          <a:xfrm flipH="1">
            <a:off x="4114950" y="3810000"/>
            <a:ext cx="476100" cy="476400"/>
          </a:xfrm>
          <a:prstGeom prst="straightConnector1">
            <a:avLst/>
          </a:prstGeom>
          <a:noFill/>
          <a:ln cap="flat" cmpd="sng" w="22850">
            <a:solidFill>
              <a:srgbClr val="005A9C"/>
            </a:solidFill>
            <a:prstDash val="solid"/>
            <a:round/>
            <a:headEnd len="med" w="med" type="none"/>
            <a:tailEnd len="med" w="med" type="triangle"/>
          </a:ln>
        </p:spPr>
      </p:cxnSp>
      <p:cxnSp>
        <p:nvCxnSpPr>
          <p:cNvPr id="415" name="Google Shape;415;p28"/>
          <p:cNvCxnSpPr/>
          <p:nvPr/>
        </p:nvCxnSpPr>
        <p:spPr>
          <a:xfrm>
            <a:off x="4591050" y="3810000"/>
            <a:ext cx="952500" cy="476400"/>
          </a:xfrm>
          <a:prstGeom prst="straightConnector1">
            <a:avLst/>
          </a:prstGeom>
          <a:noFill/>
          <a:ln cap="flat" cmpd="sng" w="22850">
            <a:solidFill>
              <a:srgbClr val="005A9C"/>
            </a:solidFill>
            <a:prstDash val="solid"/>
            <a:round/>
            <a:headEnd len="med" w="med" type="none"/>
            <a:tailEnd len="med" w="med" type="triangle"/>
          </a:ln>
        </p:spPr>
      </p:cxnSp>
      <p:sp>
        <p:nvSpPr>
          <p:cNvPr id="416" name="Google Shape;416;p28"/>
          <p:cNvSpPr/>
          <p:nvPr/>
        </p:nvSpPr>
        <p:spPr>
          <a:xfrm>
            <a:off x="3000375" y="23812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4</a:t>
            </a:r>
            <a:endParaRPr sz="2025">
              <a:solidFill>
                <a:srgbClr val="17364B"/>
              </a:solidFill>
            </a:endParaRPr>
          </a:p>
        </p:txBody>
      </p:sp>
      <p:sp>
        <p:nvSpPr>
          <p:cNvPr id="417" name="Google Shape;417;p28"/>
          <p:cNvSpPr/>
          <p:nvPr/>
        </p:nvSpPr>
        <p:spPr>
          <a:xfrm>
            <a:off x="1714500" y="33337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2</a:t>
            </a:r>
            <a:endParaRPr sz="2025">
              <a:solidFill>
                <a:srgbClr val="17364B"/>
              </a:solidFill>
            </a:endParaRPr>
          </a:p>
        </p:txBody>
      </p:sp>
      <p:sp>
        <p:nvSpPr>
          <p:cNvPr id="418" name="Google Shape;418;p28"/>
          <p:cNvSpPr/>
          <p:nvPr/>
        </p:nvSpPr>
        <p:spPr>
          <a:xfrm>
            <a:off x="4286250" y="33337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6</a:t>
            </a:r>
            <a:endParaRPr sz="2025">
              <a:solidFill>
                <a:srgbClr val="17364B"/>
              </a:solidFill>
            </a:endParaRPr>
          </a:p>
        </p:txBody>
      </p:sp>
      <p:sp>
        <p:nvSpPr>
          <p:cNvPr id="419" name="Google Shape;419;p28"/>
          <p:cNvSpPr/>
          <p:nvPr/>
        </p:nvSpPr>
        <p:spPr>
          <a:xfrm>
            <a:off x="952500" y="42862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1</a:t>
            </a:r>
            <a:endParaRPr sz="2025">
              <a:solidFill>
                <a:srgbClr val="17364B"/>
              </a:solidFill>
            </a:endParaRPr>
          </a:p>
        </p:txBody>
      </p:sp>
      <p:sp>
        <p:nvSpPr>
          <p:cNvPr id="420" name="Google Shape;420;p28"/>
          <p:cNvSpPr/>
          <p:nvPr/>
        </p:nvSpPr>
        <p:spPr>
          <a:xfrm>
            <a:off x="2381250" y="42862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3</a:t>
            </a:r>
            <a:endParaRPr sz="2025">
              <a:solidFill>
                <a:srgbClr val="17364B"/>
              </a:solidFill>
            </a:endParaRPr>
          </a:p>
        </p:txBody>
      </p:sp>
      <p:sp>
        <p:nvSpPr>
          <p:cNvPr id="421" name="Google Shape;421;p28"/>
          <p:cNvSpPr/>
          <p:nvPr/>
        </p:nvSpPr>
        <p:spPr>
          <a:xfrm>
            <a:off x="3810000" y="42862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5</a:t>
            </a:r>
            <a:endParaRPr sz="2025">
              <a:solidFill>
                <a:srgbClr val="17364B"/>
              </a:solidFill>
            </a:endParaRPr>
          </a:p>
        </p:txBody>
      </p:sp>
      <p:sp>
        <p:nvSpPr>
          <p:cNvPr id="422" name="Google Shape;422;p28"/>
          <p:cNvSpPr/>
          <p:nvPr/>
        </p:nvSpPr>
        <p:spPr>
          <a:xfrm>
            <a:off x="5238750" y="4286250"/>
            <a:ext cx="609600" cy="476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7</a:t>
            </a:r>
            <a:endParaRPr sz="2025">
              <a:solidFill>
                <a:srgbClr val="17364B"/>
              </a:solidFill>
            </a:endParaRPr>
          </a:p>
        </p:txBody>
      </p:sp>
      <p:sp>
        <p:nvSpPr>
          <p:cNvPr id="423" name="Google Shape;423;p28"/>
          <p:cNvSpPr/>
          <p:nvPr/>
        </p:nvSpPr>
        <p:spPr>
          <a:xfrm>
            <a:off x="7143750" y="2257425"/>
            <a:ext cx="609600" cy="438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1</a:t>
            </a:r>
            <a:endParaRPr sz="1950">
              <a:solidFill>
                <a:srgbClr val="17364B"/>
              </a:solidFill>
            </a:endParaRPr>
          </a:p>
        </p:txBody>
      </p:sp>
      <p:cxnSp>
        <p:nvCxnSpPr>
          <p:cNvPr id="424" name="Google Shape;424;p28"/>
          <p:cNvCxnSpPr/>
          <p:nvPr/>
        </p:nvCxnSpPr>
        <p:spPr>
          <a:xfrm>
            <a:off x="7448550" y="2695575"/>
            <a:ext cx="666900" cy="152400"/>
          </a:xfrm>
          <a:prstGeom prst="straightConnector1">
            <a:avLst/>
          </a:prstGeom>
          <a:noFill/>
          <a:ln cap="flat" cmpd="sng" w="22850">
            <a:solidFill>
              <a:srgbClr val="B75914"/>
            </a:solidFill>
            <a:prstDash val="solid"/>
            <a:round/>
            <a:headEnd len="med" w="med" type="none"/>
            <a:tailEnd len="med" w="med" type="triangle"/>
          </a:ln>
        </p:spPr>
      </p:cxnSp>
      <p:sp>
        <p:nvSpPr>
          <p:cNvPr id="425" name="Google Shape;425;p28"/>
          <p:cNvSpPr/>
          <p:nvPr/>
        </p:nvSpPr>
        <p:spPr>
          <a:xfrm>
            <a:off x="7810500" y="2847975"/>
            <a:ext cx="609600" cy="438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2</a:t>
            </a:r>
            <a:endParaRPr sz="1950">
              <a:solidFill>
                <a:srgbClr val="17364B"/>
              </a:solidFill>
            </a:endParaRPr>
          </a:p>
        </p:txBody>
      </p:sp>
      <p:cxnSp>
        <p:nvCxnSpPr>
          <p:cNvPr id="426" name="Google Shape;426;p28"/>
          <p:cNvCxnSpPr/>
          <p:nvPr/>
        </p:nvCxnSpPr>
        <p:spPr>
          <a:xfrm>
            <a:off x="8115300" y="3286125"/>
            <a:ext cx="666900" cy="152400"/>
          </a:xfrm>
          <a:prstGeom prst="straightConnector1">
            <a:avLst/>
          </a:prstGeom>
          <a:noFill/>
          <a:ln cap="flat" cmpd="sng" w="22850">
            <a:solidFill>
              <a:srgbClr val="B75914"/>
            </a:solidFill>
            <a:prstDash val="solid"/>
            <a:round/>
            <a:headEnd len="med" w="med" type="none"/>
            <a:tailEnd len="med" w="med" type="triangle"/>
          </a:ln>
        </p:spPr>
      </p:cxnSp>
      <p:sp>
        <p:nvSpPr>
          <p:cNvPr id="427" name="Google Shape;427;p28"/>
          <p:cNvSpPr/>
          <p:nvPr/>
        </p:nvSpPr>
        <p:spPr>
          <a:xfrm>
            <a:off x="8477250" y="3438525"/>
            <a:ext cx="609600" cy="438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3</a:t>
            </a:r>
            <a:endParaRPr sz="1950">
              <a:solidFill>
                <a:srgbClr val="17364B"/>
              </a:solidFill>
            </a:endParaRPr>
          </a:p>
        </p:txBody>
      </p:sp>
      <p:cxnSp>
        <p:nvCxnSpPr>
          <p:cNvPr id="428" name="Google Shape;428;p28"/>
          <p:cNvCxnSpPr/>
          <p:nvPr/>
        </p:nvCxnSpPr>
        <p:spPr>
          <a:xfrm>
            <a:off x="8782050" y="3876675"/>
            <a:ext cx="666900" cy="152400"/>
          </a:xfrm>
          <a:prstGeom prst="straightConnector1">
            <a:avLst/>
          </a:prstGeom>
          <a:noFill/>
          <a:ln cap="flat" cmpd="sng" w="22850">
            <a:solidFill>
              <a:srgbClr val="B75914"/>
            </a:solidFill>
            <a:prstDash val="solid"/>
            <a:round/>
            <a:headEnd len="med" w="med" type="none"/>
            <a:tailEnd len="med" w="med" type="triangle"/>
          </a:ln>
        </p:spPr>
      </p:cxnSp>
      <p:sp>
        <p:nvSpPr>
          <p:cNvPr id="429" name="Google Shape;429;p28"/>
          <p:cNvSpPr/>
          <p:nvPr/>
        </p:nvSpPr>
        <p:spPr>
          <a:xfrm>
            <a:off x="9144000" y="4029075"/>
            <a:ext cx="609600" cy="438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4</a:t>
            </a:r>
            <a:endParaRPr sz="1950">
              <a:solidFill>
                <a:srgbClr val="17364B"/>
              </a:solidFill>
            </a:endParaRPr>
          </a:p>
        </p:txBody>
      </p:sp>
      <p:cxnSp>
        <p:nvCxnSpPr>
          <p:cNvPr id="430" name="Google Shape;430;p28"/>
          <p:cNvCxnSpPr/>
          <p:nvPr/>
        </p:nvCxnSpPr>
        <p:spPr>
          <a:xfrm>
            <a:off x="9448800" y="4467225"/>
            <a:ext cx="666900" cy="152400"/>
          </a:xfrm>
          <a:prstGeom prst="straightConnector1">
            <a:avLst/>
          </a:prstGeom>
          <a:noFill/>
          <a:ln cap="flat" cmpd="sng" w="22850">
            <a:solidFill>
              <a:srgbClr val="B75914"/>
            </a:solidFill>
            <a:prstDash val="solid"/>
            <a:round/>
            <a:headEnd len="med" w="med" type="none"/>
            <a:tailEnd len="med" w="med" type="triangle"/>
          </a:ln>
        </p:spPr>
      </p:cxnSp>
      <p:sp>
        <p:nvSpPr>
          <p:cNvPr id="431" name="Google Shape;431;p28"/>
          <p:cNvSpPr/>
          <p:nvPr/>
        </p:nvSpPr>
        <p:spPr>
          <a:xfrm>
            <a:off x="9810750" y="4619625"/>
            <a:ext cx="609600" cy="438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5</a:t>
            </a:r>
            <a:endParaRPr sz="1950">
              <a:solidFill>
                <a:srgbClr val="17364B"/>
              </a:solidFill>
            </a:endParaRPr>
          </a:p>
        </p:txBody>
      </p:sp>
      <p:sp>
        <p:nvSpPr>
          <p:cNvPr id="432" name="Google Shape;432;p28"/>
          <p:cNvSpPr txBox="1"/>
          <p:nvPr/>
        </p:nvSpPr>
        <p:spPr>
          <a:xfrm>
            <a:off x="609600" y="5143500"/>
            <a:ext cx="52389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005A9C"/>
                </a:solidFill>
              </a:rPr>
              <a:t>O(log n) path length</a:t>
            </a:r>
            <a:endParaRPr b="1" sz="2250">
              <a:solidFill>
                <a:srgbClr val="005A9C"/>
              </a:solidFill>
            </a:endParaRPr>
          </a:p>
        </p:txBody>
      </p:sp>
      <p:sp>
        <p:nvSpPr>
          <p:cNvPr id="433" name="Google Shape;433;p28"/>
          <p:cNvSpPr txBox="1"/>
          <p:nvPr/>
        </p:nvSpPr>
        <p:spPr>
          <a:xfrm>
            <a:off x="6800850" y="5429250"/>
            <a:ext cx="4762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B75914"/>
                </a:solidFill>
              </a:rPr>
              <a:t>O(n) in the worst case</a:t>
            </a:r>
            <a:endParaRPr b="1" sz="2250">
              <a:solidFill>
                <a:srgbClr val="B75914"/>
              </a:solidFill>
            </a:endParaRPr>
          </a:p>
        </p:txBody>
      </p:sp>
      <p:sp>
        <p:nvSpPr>
          <p:cNvPr id="434" name="Google Shape;434;p28"/>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21</a:t>
            </a:r>
            <a:endParaRPr sz="1350">
              <a:solidFill>
                <a:srgbClr val="61717D"/>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p29"/>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Video: binary search trees</a:t>
            </a:r>
            <a:endParaRPr b="1" sz="3300">
              <a:solidFill>
                <a:srgbClr val="002B49"/>
              </a:solidFill>
            </a:endParaRPr>
          </a:p>
        </p:txBody>
      </p:sp>
      <p:pic>
        <p:nvPicPr>
          <p:cNvPr id="441" name="Google Shape;441;p29">
            <a:hlinkClick r:id="rId3"/>
          </p:cNvPr>
          <p:cNvPicPr preferRelativeResize="0"/>
          <p:nvPr/>
        </p:nvPicPr>
        <p:blipFill>
          <a:blip r:embed="rId4">
            <a:alphaModFix/>
          </a:blip>
          <a:stretch>
            <a:fillRect/>
          </a:stretch>
        </p:blipFill>
        <p:spPr>
          <a:xfrm>
            <a:off x="2352675" y="1428750"/>
            <a:ext cx="7486650" cy="4210050"/>
          </a:xfrm>
          <a:prstGeom prst="rect">
            <a:avLst/>
          </a:prstGeom>
          <a:noFill/>
          <a:ln>
            <a:noFill/>
          </a:ln>
        </p:spPr>
      </p:pic>
      <p:sp>
        <p:nvSpPr>
          <p:cNvPr id="442" name="Google Shape;442;p29"/>
          <p:cNvSpPr txBox="1"/>
          <p:nvPr/>
        </p:nvSpPr>
        <p:spPr>
          <a:xfrm>
            <a:off x="609600" y="6315075"/>
            <a:ext cx="5715000" cy="3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75" u="sng">
                <a:solidFill>
                  <a:schemeClr val="hlink"/>
                </a:solidFill>
                <a:hlinkClick r:id="rId5"/>
              </a:rPr>
              <a:t>Open video in YouTube</a:t>
            </a:r>
            <a:endParaRPr sz="1575">
              <a:solidFill>
                <a:srgbClr val="005A9C"/>
              </a:solidFill>
            </a:endParaRPr>
          </a:p>
        </p:txBody>
      </p:sp>
      <p:sp>
        <p:nvSpPr>
          <p:cNvPr id="443" name="Google Shape;443;p29"/>
          <p:cNvSpPr txBox="1"/>
          <p:nvPr/>
        </p:nvSpPr>
        <p:spPr>
          <a:xfrm>
            <a:off x="609600" y="5724525"/>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002B49"/>
                </a:solidFill>
              </a:rPr>
              <a:t>Which branch do we choose? How long can that path become?</a:t>
            </a:r>
            <a:endParaRPr b="1" sz="2100">
              <a:solidFill>
                <a:srgbClr val="002B49"/>
              </a:solidFill>
            </a:endParaRPr>
          </a:p>
        </p:txBody>
      </p:sp>
      <p:sp>
        <p:nvSpPr>
          <p:cNvPr id="444" name="Google Shape;444;p29"/>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22</a:t>
            </a:r>
            <a:endParaRPr sz="1350">
              <a:solidFill>
                <a:srgbClr val="61717D"/>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0"/>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Data structures follow the operation</a:t>
            </a:r>
            <a:endParaRPr/>
          </a:p>
        </p:txBody>
      </p:sp>
      <p:sp>
        <p:nvSpPr>
          <p:cNvPr id="451" name="Google Shape;451;p30"/>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23</a:t>
            </a:r>
            <a:endParaRPr/>
          </a:p>
        </p:txBody>
      </p:sp>
      <p:graphicFrame>
        <p:nvGraphicFramePr>
          <p:cNvPr id="452" name="Google Shape;452;p30"/>
          <p:cNvGraphicFramePr/>
          <p:nvPr/>
        </p:nvGraphicFramePr>
        <p:xfrm>
          <a:off x="609600" y="1762125"/>
          <a:ext cx="3000000" cy="3000000"/>
        </p:xfrm>
        <a:graphic>
          <a:graphicData uri="http://schemas.openxmlformats.org/drawingml/2006/table">
            <a:tbl>
              <a:tblPr>
                <a:noFill/>
                <a:tableStyleId>{43703A68-B3D7-494B-BC45-A7467A9B8A1B}</a:tableStyleId>
              </a:tblPr>
              <a:tblGrid>
                <a:gridCol w="3714750"/>
                <a:gridCol w="3000375"/>
                <a:gridCol w="4257675"/>
              </a:tblGrid>
              <a:tr h="814400">
                <a:tc>
                  <a:txBody>
                    <a:bodyPr/>
                    <a:lstStyle/>
                    <a:p>
                      <a:pPr indent="0" lvl="0" marL="0" marR="0" rtl="0" algn="l">
                        <a:spcBef>
                          <a:spcPts val="0"/>
                        </a:spcBef>
                        <a:spcAft>
                          <a:spcPts val="0"/>
                        </a:spcAft>
                        <a:buClr>
                          <a:srgbClr val="FFFFFF"/>
                        </a:buClr>
                        <a:buSzPts val="1950"/>
                        <a:buFont typeface="Arial"/>
                        <a:buNone/>
                      </a:pPr>
                      <a:r>
                        <a:rPr b="1" lang="en-US" sz="1950" u="none" cap="none" strike="noStrike">
                          <a:solidFill>
                            <a:srgbClr val="FFFFFF"/>
                          </a:solidFill>
                          <a:latin typeface="Arial"/>
                          <a:ea typeface="Arial"/>
                          <a:cs typeface="Arial"/>
                          <a:sym typeface="Arial"/>
                        </a:rPr>
                        <a:t>Need</a:t>
                      </a:r>
                      <a:endParaRPr/>
                    </a:p>
                  </a:txBody>
                  <a:tcPr marT="45725" marB="45725" marR="91450" marL="91450" anchor="ctr">
                    <a:lnL cap="flat" cmpd="sng" w="9525">
                      <a:solidFill>
                        <a:srgbClr val="D5DFE6"/>
                      </a:solidFill>
                      <a:prstDash val="solid"/>
                      <a:round/>
                      <a:headEnd len="sm" w="sm" type="none"/>
                      <a:tailEnd len="sm" w="sm" type="none"/>
                    </a:lnL>
                    <a:lnT cap="flat" cmpd="sng" w="9525">
                      <a:solidFill>
                        <a:srgbClr val="D5DF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950"/>
                        <a:buFont typeface="Arial"/>
                        <a:buNone/>
                      </a:pPr>
                      <a:r>
                        <a:rPr b="1" lang="en-US" sz="1950">
                          <a:solidFill>
                            <a:srgbClr val="FFFFFF"/>
                          </a:solidFill>
                          <a:latin typeface="Arial"/>
                          <a:ea typeface="Arial"/>
                          <a:cs typeface="Arial"/>
                          <a:sym typeface="Arial"/>
                        </a:rPr>
                        <a:t>Structure</a:t>
                      </a:r>
                      <a:endParaRPr/>
                    </a:p>
                  </a:txBody>
                  <a:tcPr marT="45725" marB="45725" marR="91450" marL="91450" anchor="ctr">
                    <a:lnT cap="flat" cmpd="sng" w="9525">
                      <a:solidFill>
                        <a:srgbClr val="D5DFE6"/>
                      </a:solidFill>
                      <a:prstDash val="solid"/>
                      <a:round/>
                      <a:headEnd len="sm" w="sm" type="none"/>
                      <a:tailEnd len="sm" w="sm" type="none"/>
                    </a:lnT>
                    <a:solidFill>
                      <a:srgbClr val="002B49"/>
                    </a:solidFill>
                  </a:tcPr>
                </a:tc>
                <a:tc>
                  <a:txBody>
                    <a:bodyPr/>
                    <a:lstStyle/>
                    <a:p>
                      <a:pPr indent="0" lvl="0" marL="0" marR="0" rtl="0" algn="l">
                        <a:spcBef>
                          <a:spcPts val="0"/>
                        </a:spcBef>
                        <a:spcAft>
                          <a:spcPts val="0"/>
                        </a:spcAft>
                        <a:buClr>
                          <a:srgbClr val="FFFFFF"/>
                        </a:buClr>
                        <a:buSzPts val="1950"/>
                        <a:buFont typeface="Arial"/>
                        <a:buNone/>
                      </a:pPr>
                      <a:r>
                        <a:rPr b="1" lang="en-US" sz="1950">
                          <a:solidFill>
                            <a:srgbClr val="FFFFFF"/>
                          </a:solidFill>
                          <a:latin typeface="Arial"/>
                          <a:ea typeface="Arial"/>
                          <a:cs typeface="Arial"/>
                          <a:sym typeface="Arial"/>
                        </a:rPr>
                        <a:t>Relevant cost</a:t>
                      </a:r>
                      <a:endParaRPr/>
                    </a:p>
                  </a:txBody>
                  <a:tcPr marT="45725" marB="45725" marR="91450" marL="91450" anchor="ctr">
                    <a:lnR cap="flat" cmpd="sng" w="9525">
                      <a:solidFill>
                        <a:srgbClr val="D5DFE6"/>
                      </a:solidFill>
                      <a:prstDash val="solid"/>
                      <a:round/>
                      <a:headEnd len="sm" w="sm" type="none"/>
                      <a:tailEnd len="sm" w="sm" type="none"/>
                    </a:lnR>
                    <a:lnT cap="flat" cmpd="sng" w="9525">
                      <a:solidFill>
                        <a:srgbClr val="D5DFE6"/>
                      </a:solidFill>
                      <a:prstDash val="solid"/>
                      <a:round/>
                      <a:headEnd len="sm" w="sm" type="none"/>
                      <a:tailEnd len="sm" w="sm" type="none"/>
                    </a:lnT>
                    <a:solidFill>
                      <a:srgbClr val="002B49"/>
                    </a:solidFill>
                  </a:tcPr>
                </a:tc>
              </a:tr>
              <a:tr h="814400">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Membership / lookup by key</a:t>
                      </a:r>
                      <a:endParaRPr/>
                    </a:p>
                  </a:txBody>
                  <a:tcPr marT="45725" marB="45725" marR="91450" marL="91450" anchor="ctr">
                    <a:lnL cap="flat" cmpd="sng" w="9525">
                      <a:solidFill>
                        <a:srgbClr val="D5DFE6"/>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set / dict</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O(1) expected per lookup</a:t>
                      </a:r>
                      <a:endParaRPr/>
                    </a:p>
                  </a:txBody>
                  <a:tcPr marT="45725" marB="45725" marR="91450" marL="91450" anchor="ctr">
                    <a:lnR cap="flat" cmpd="sng" w="9525">
                      <a:solidFill>
                        <a:srgbClr val="D5DFE6"/>
                      </a:solidFill>
                      <a:prstDash val="solid"/>
                      <a:round/>
                      <a:headEnd len="sm" w="sm" type="none"/>
                      <a:tailEnd len="sm" w="sm" type="none"/>
                    </a:lnR>
                    <a:solidFill>
                      <a:srgbClr val="FFFFFF"/>
                    </a:solidFill>
                  </a:tcPr>
                </a:tc>
              </a:tr>
              <a:tr h="814400">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Repeated smallest item</a:t>
                      </a:r>
                      <a:endParaRPr/>
                    </a:p>
                  </a:txBody>
                  <a:tcPr marT="45725" marB="45725" marR="91450" marL="91450" anchor="ctr">
                    <a:lnL cap="flat" cmpd="sng" w="9525">
                      <a:solidFill>
                        <a:srgbClr val="D5DFE6"/>
                      </a:solidFill>
                      <a:prstDash val="solid"/>
                      <a:round/>
                      <a:headEnd len="sm" w="sm" type="none"/>
                      <a:tailEnd len="sm" w="sm" type="none"/>
                    </a:lnL>
                    <a:solidFill>
                      <a:srgbClr val="F0F4F7"/>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min-heap</a:t>
                      </a:r>
                      <a:endParaRPr/>
                    </a:p>
                  </a:txBody>
                  <a:tcPr marT="45725" marB="45725" marR="91450" marL="91450" anchor="ctr">
                    <a:solidFill>
                      <a:srgbClr val="F0F4F7"/>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peek O(1), push/pop O(log n)</a:t>
                      </a:r>
                      <a:endParaRPr/>
                    </a:p>
                  </a:txBody>
                  <a:tcPr marT="45725" marB="45725" marR="91450" marL="91450" anchor="ctr">
                    <a:lnR cap="flat" cmpd="sng" w="9525">
                      <a:solidFill>
                        <a:srgbClr val="D5DFE6"/>
                      </a:solidFill>
                      <a:prstDash val="solid"/>
                      <a:round/>
                      <a:headEnd len="sm" w="sm" type="none"/>
                      <a:tailEnd len="sm" w="sm" type="none"/>
                    </a:lnR>
                    <a:solidFill>
                      <a:srgbClr val="F0F4F7"/>
                    </a:solidFill>
                  </a:tcPr>
                </a:tc>
              </a:tr>
              <a:tr h="814400">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Search and update in key order</a:t>
                      </a:r>
                      <a:endParaRPr/>
                    </a:p>
                  </a:txBody>
                  <a:tcPr marT="45725" marB="45725" marR="91450" marL="91450" anchor="ctr">
                    <a:lnL cap="flat" cmpd="sng" w="9525">
                      <a:solidFill>
                        <a:srgbClr val="D5DFE6"/>
                      </a:solidFill>
                      <a:prstDash val="solid"/>
                      <a:round/>
                      <a:headEnd len="sm" w="sm" type="none"/>
                      <a:tailEnd len="sm" w="sm" type="none"/>
                    </a:lnL>
                    <a:lnB cap="flat" cmpd="sng" w="9525">
                      <a:solidFill>
                        <a:srgbClr val="D5DF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balanced search tree</a:t>
                      </a:r>
                      <a:endParaRPr/>
                    </a:p>
                  </a:txBody>
                  <a:tcPr marT="45725" marB="45725" marR="91450" marL="91450" anchor="ctr">
                    <a:lnB cap="flat" cmpd="sng" w="9525">
                      <a:solidFill>
                        <a:srgbClr val="D5DFE6"/>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364B"/>
                        </a:buClr>
                        <a:buSzPts val="1950"/>
                        <a:buFont typeface="Arial"/>
                        <a:buNone/>
                      </a:pPr>
                      <a:r>
                        <a:rPr b="0" lang="en-US" sz="1950">
                          <a:solidFill>
                            <a:srgbClr val="17364B"/>
                          </a:solidFill>
                          <a:latin typeface="Arial"/>
                          <a:ea typeface="Arial"/>
                          <a:cs typeface="Arial"/>
                          <a:sym typeface="Arial"/>
                        </a:rPr>
                        <a:t>O(log n) search / insert / delete</a:t>
                      </a:r>
                      <a:endParaRPr/>
                    </a:p>
                  </a:txBody>
                  <a:tcPr marT="45725" marB="45725" marR="91450" marL="91450" anchor="ctr">
                    <a:lnR cap="flat" cmpd="sng" w="9525">
                      <a:solidFill>
                        <a:srgbClr val="D5DFE6"/>
                      </a:solidFill>
                      <a:prstDash val="solid"/>
                      <a:round/>
                      <a:headEnd len="sm" w="sm" type="none"/>
                      <a:tailEnd len="sm" w="sm" type="none"/>
                    </a:lnR>
                    <a:lnB cap="flat" cmpd="sng" w="9525">
                      <a:solidFill>
                        <a:srgbClr val="D5DFE6"/>
                      </a:solidFill>
                      <a:prstDash val="solid"/>
                      <a:round/>
                      <a:headEnd len="sm" w="sm" type="none"/>
                      <a:tailEnd len="sm" w="sm" type="none"/>
                    </a:lnB>
                    <a:solidFill>
                      <a:srgbClr val="FFFFFF"/>
                    </a:solidFill>
                  </a:tcPr>
                </a:tc>
              </a:tr>
            </a:tbl>
          </a:graphicData>
        </a:graphic>
      </p:graphicFrame>
      <p:sp>
        <p:nvSpPr>
          <p:cNvPr id="453" name="Google Shape;453;p30"/>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A heap exposes the minimum. It does not keep the whole array sorted.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1"/>
          <p:cNvSpPr/>
          <p:nvPr/>
        </p:nvSpPr>
        <p:spPr>
          <a:xfrm>
            <a:off x="609600" y="457200"/>
            <a:ext cx="10972800" cy="790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2B49"/>
                </a:solidFill>
                <a:latin typeface="Arial"/>
                <a:ea typeface="Arial"/>
                <a:cs typeface="Arial"/>
                <a:sym typeface="Arial"/>
              </a:rPr>
              <a:t>Interview checkpoint</a:t>
            </a:r>
            <a:endParaRPr/>
          </a:p>
        </p:txBody>
      </p:sp>
      <p:sp>
        <p:nvSpPr>
          <p:cNvPr id="460" name="Google Shape;460;p31"/>
          <p:cNvSpPr/>
          <p:nvPr/>
        </p:nvSpPr>
        <p:spPr>
          <a:xfrm>
            <a:off x="11068050" y="6457950"/>
            <a:ext cx="514350" cy="23812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a:t>24</a:t>
            </a:r>
            <a:endParaRPr/>
          </a:p>
        </p:txBody>
      </p:sp>
      <p:sp>
        <p:nvSpPr>
          <p:cNvPr id="461" name="Google Shape;461;p31"/>
          <p:cNvSpPr/>
          <p:nvPr/>
        </p:nvSpPr>
        <p:spPr>
          <a:xfrm>
            <a:off x="609600" y="1714500"/>
            <a:ext cx="6477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5A9C"/>
                </a:solidFill>
                <a:latin typeface="Arial"/>
                <a:ea typeface="Arial"/>
                <a:cs typeface="Arial"/>
                <a:sym typeface="Arial"/>
              </a:rPr>
              <a:t>1</a:t>
            </a:r>
            <a:endParaRPr/>
          </a:p>
        </p:txBody>
      </p:sp>
      <p:sp>
        <p:nvSpPr>
          <p:cNvPr id="462" name="Google Shape;462;p31"/>
          <p:cNvSpPr/>
          <p:nvPr/>
        </p:nvSpPr>
        <p:spPr>
          <a:xfrm>
            <a:off x="1524000" y="1743075"/>
            <a:ext cx="9906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625">
                <a:solidFill>
                  <a:srgbClr val="17364B"/>
                </a:solidFill>
                <a:latin typeface="Arial"/>
                <a:ea typeface="Arial"/>
                <a:cs typeface="Arial"/>
                <a:sym typeface="Arial"/>
              </a:rPr>
              <a:t>One lookup in an unsorted list</a:t>
            </a:r>
            <a:endParaRPr/>
          </a:p>
        </p:txBody>
      </p:sp>
      <p:sp>
        <p:nvSpPr>
          <p:cNvPr id="463" name="Google Shape;463;p31"/>
          <p:cNvSpPr/>
          <p:nvPr/>
        </p:nvSpPr>
        <p:spPr>
          <a:xfrm>
            <a:off x="609600" y="3000375"/>
            <a:ext cx="6477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5A9C"/>
                </a:solidFill>
                <a:latin typeface="Arial"/>
                <a:ea typeface="Arial"/>
                <a:cs typeface="Arial"/>
                <a:sym typeface="Arial"/>
              </a:rPr>
              <a:t>2</a:t>
            </a:r>
            <a:endParaRPr/>
          </a:p>
        </p:txBody>
      </p:sp>
      <p:sp>
        <p:nvSpPr>
          <p:cNvPr id="464" name="Google Shape;464;p31"/>
          <p:cNvSpPr/>
          <p:nvPr/>
        </p:nvSpPr>
        <p:spPr>
          <a:xfrm>
            <a:off x="1524000" y="3028950"/>
            <a:ext cx="9906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625">
                <a:solidFill>
                  <a:srgbClr val="17364B"/>
                </a:solidFill>
                <a:latin typeface="Arial"/>
                <a:ea typeface="Arial"/>
                <a:cs typeface="Arial"/>
                <a:sym typeface="Arial"/>
              </a:rPr>
              <a:t>Thousands of queries over the same watchlist</a:t>
            </a:r>
            <a:endParaRPr/>
          </a:p>
        </p:txBody>
      </p:sp>
      <p:sp>
        <p:nvSpPr>
          <p:cNvPr id="465" name="Google Shape;465;p31"/>
          <p:cNvSpPr/>
          <p:nvPr/>
        </p:nvSpPr>
        <p:spPr>
          <a:xfrm>
            <a:off x="609600" y="4286250"/>
            <a:ext cx="6477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005A9C"/>
                </a:solidFill>
                <a:latin typeface="Arial"/>
                <a:ea typeface="Arial"/>
                <a:cs typeface="Arial"/>
                <a:sym typeface="Arial"/>
              </a:rPr>
              <a:t>3</a:t>
            </a:r>
            <a:endParaRPr/>
          </a:p>
        </p:txBody>
      </p:sp>
      <p:sp>
        <p:nvSpPr>
          <p:cNvPr id="466" name="Google Shape;466;p31"/>
          <p:cNvSpPr/>
          <p:nvPr/>
        </p:nvSpPr>
        <p:spPr>
          <a:xfrm>
            <a:off x="1524000" y="4314825"/>
            <a:ext cx="9906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625">
                <a:solidFill>
                  <a:srgbClr val="17364B"/>
                </a:solidFill>
                <a:latin typeface="Arial"/>
                <a:ea typeface="Arial"/>
                <a:cs typeface="Arial"/>
                <a:sym typeface="Arial"/>
              </a:rPr>
              <a:t>A recursive sum fails on a very long list</a:t>
            </a:r>
            <a:endParaRPr/>
          </a:p>
        </p:txBody>
      </p:sp>
      <p:sp>
        <p:nvSpPr>
          <p:cNvPr id="467" name="Google Shape;467;p31"/>
          <p:cNvSpPr/>
          <p:nvPr/>
        </p:nvSpPr>
        <p:spPr>
          <a:xfrm>
            <a:off x="609600" y="5743575"/>
            <a:ext cx="10972800" cy="5810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002B49"/>
                </a:solidFill>
                <a:latin typeface="Arial"/>
                <a:ea typeface="Arial"/>
                <a:cs typeface="Arial"/>
                <a:sym typeface="Arial"/>
              </a:rPr>
              <a:t>Choose an approach. Explain time, extra space, and assumptions.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472" name="Shape 472"/>
        <p:cNvGrpSpPr/>
        <p:nvPr/>
      </p:nvGrpSpPr>
      <p:grpSpPr>
        <a:xfrm>
          <a:off x="0" y="0"/>
          <a:ext cx="0" cy="0"/>
          <a:chOff x="0" y="0"/>
          <a:chExt cx="0" cy="0"/>
        </a:xfrm>
      </p:grpSpPr>
      <p:sp>
        <p:nvSpPr>
          <p:cNvPr id="473" name="Google Shape;473;p32"/>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GENERATORS</a:t>
            </a:r>
            <a:endParaRPr b="1" sz="1875">
              <a:solidFill>
                <a:srgbClr val="FDB515"/>
              </a:solidFill>
            </a:endParaRPr>
          </a:p>
        </p:txBody>
      </p:sp>
      <p:sp>
        <p:nvSpPr>
          <p:cNvPr id="474" name="Google Shape;474;p32"/>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Generators and retained memory</a:t>
            </a:r>
            <a:endParaRPr b="1" sz="4500">
              <a:solidFill>
                <a:srgbClr val="FFFFFF"/>
              </a:solidFill>
            </a:endParaRPr>
          </a:p>
        </p:txBody>
      </p:sp>
      <p:sp>
        <p:nvSpPr>
          <p:cNvPr id="475" name="Google Shape;475;p32"/>
          <p:cNvSpPr txBox="1"/>
          <p:nvPr/>
        </p:nvSpPr>
        <p:spPr>
          <a:xfrm>
            <a:off x="685800" y="4333875"/>
            <a:ext cx="10477500" cy="10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Producing one value at a time changes what must remain in memory.</a:t>
            </a:r>
            <a:endParaRPr sz="2550">
              <a:solidFill>
                <a:srgbClr val="FFFFFF"/>
              </a:solidFill>
            </a:endParaRPr>
          </a:p>
        </p:txBody>
      </p:sp>
      <p:sp>
        <p:nvSpPr>
          <p:cNvPr id="476" name="Google Shape;476;p32"/>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25</a:t>
            </a:r>
            <a:endParaRPr sz="1350">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3"/>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A generator pauses at yield</a:t>
            </a:r>
            <a:endParaRPr b="1" sz="3300">
              <a:solidFill>
                <a:srgbClr val="002B49"/>
              </a:solidFill>
            </a:endParaRPr>
          </a:p>
        </p:txBody>
      </p:sp>
      <p:sp>
        <p:nvSpPr>
          <p:cNvPr id="483" name="Google Shape;483;p33"/>
          <p:cNvSpPr/>
          <p:nvPr/>
        </p:nvSpPr>
        <p:spPr>
          <a:xfrm>
            <a:off x="609600" y="1714500"/>
            <a:ext cx="4572000" cy="27624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def values():</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    yield 2</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    yield 4</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    yield 6</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g = values()</a:t>
            </a:r>
            <a:endParaRPr sz="2250">
              <a:solidFill>
                <a:srgbClr val="17364B"/>
              </a:solidFill>
              <a:latin typeface="Roboto Mono"/>
              <a:ea typeface="Roboto Mono"/>
              <a:cs typeface="Roboto Mono"/>
              <a:sym typeface="Roboto Mono"/>
            </a:endParaRPr>
          </a:p>
        </p:txBody>
      </p:sp>
      <p:sp>
        <p:nvSpPr>
          <p:cNvPr id="484" name="Google Shape;484;p33"/>
          <p:cNvSpPr/>
          <p:nvPr/>
        </p:nvSpPr>
        <p:spPr>
          <a:xfrm>
            <a:off x="6286500" y="1743075"/>
            <a:ext cx="1809600" cy="619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next(g)</a:t>
            </a:r>
            <a:endParaRPr sz="2100">
              <a:solidFill>
                <a:srgbClr val="17364B"/>
              </a:solidFill>
            </a:endParaRPr>
          </a:p>
        </p:txBody>
      </p:sp>
      <p:sp>
        <p:nvSpPr>
          <p:cNvPr id="485" name="Google Shape;485;p33"/>
          <p:cNvSpPr/>
          <p:nvPr/>
        </p:nvSpPr>
        <p:spPr>
          <a:xfrm>
            <a:off x="9715500" y="1743075"/>
            <a:ext cx="1428900" cy="619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2</a:t>
            </a:r>
            <a:endParaRPr sz="2400">
              <a:solidFill>
                <a:srgbClr val="17364B"/>
              </a:solidFill>
            </a:endParaRPr>
          </a:p>
        </p:txBody>
      </p:sp>
      <p:cxnSp>
        <p:nvCxnSpPr>
          <p:cNvPr id="486" name="Google Shape;486;p33"/>
          <p:cNvCxnSpPr/>
          <p:nvPr/>
        </p:nvCxnSpPr>
        <p:spPr>
          <a:xfrm>
            <a:off x="8096250" y="2047875"/>
            <a:ext cx="1619100" cy="0"/>
          </a:xfrm>
          <a:prstGeom prst="straightConnector1">
            <a:avLst/>
          </a:prstGeom>
          <a:noFill/>
          <a:ln cap="flat" cmpd="sng" w="22850">
            <a:solidFill>
              <a:srgbClr val="147D64"/>
            </a:solidFill>
            <a:prstDash val="solid"/>
            <a:round/>
            <a:headEnd len="med" w="med" type="none"/>
            <a:tailEnd len="med" w="med" type="triangle"/>
          </a:ln>
        </p:spPr>
      </p:cxnSp>
      <p:sp>
        <p:nvSpPr>
          <p:cNvPr id="487" name="Google Shape;487;p33"/>
          <p:cNvSpPr txBox="1"/>
          <p:nvPr/>
        </p:nvSpPr>
        <p:spPr>
          <a:xfrm>
            <a:off x="6286500" y="2419350"/>
            <a:ext cx="51435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25">
                <a:solidFill>
                  <a:srgbClr val="61717D"/>
                </a:solidFill>
              </a:rPr>
              <a:t>resume, yield, pause</a:t>
            </a:r>
            <a:endParaRPr sz="1725">
              <a:solidFill>
                <a:srgbClr val="61717D"/>
              </a:solidFill>
            </a:endParaRPr>
          </a:p>
        </p:txBody>
      </p:sp>
      <p:sp>
        <p:nvSpPr>
          <p:cNvPr id="488" name="Google Shape;488;p33"/>
          <p:cNvSpPr/>
          <p:nvPr/>
        </p:nvSpPr>
        <p:spPr>
          <a:xfrm>
            <a:off x="6286500" y="2886075"/>
            <a:ext cx="1809600" cy="619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next(g)</a:t>
            </a:r>
            <a:endParaRPr sz="2100">
              <a:solidFill>
                <a:srgbClr val="17364B"/>
              </a:solidFill>
            </a:endParaRPr>
          </a:p>
        </p:txBody>
      </p:sp>
      <p:sp>
        <p:nvSpPr>
          <p:cNvPr id="489" name="Google Shape;489;p33"/>
          <p:cNvSpPr/>
          <p:nvPr/>
        </p:nvSpPr>
        <p:spPr>
          <a:xfrm>
            <a:off x="9715500" y="2886075"/>
            <a:ext cx="1428900" cy="619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4</a:t>
            </a:r>
            <a:endParaRPr sz="2400">
              <a:solidFill>
                <a:srgbClr val="17364B"/>
              </a:solidFill>
            </a:endParaRPr>
          </a:p>
        </p:txBody>
      </p:sp>
      <p:cxnSp>
        <p:nvCxnSpPr>
          <p:cNvPr id="490" name="Google Shape;490;p33"/>
          <p:cNvCxnSpPr/>
          <p:nvPr/>
        </p:nvCxnSpPr>
        <p:spPr>
          <a:xfrm>
            <a:off x="8096250" y="3190875"/>
            <a:ext cx="1619100" cy="0"/>
          </a:xfrm>
          <a:prstGeom prst="straightConnector1">
            <a:avLst/>
          </a:prstGeom>
          <a:noFill/>
          <a:ln cap="flat" cmpd="sng" w="22850">
            <a:solidFill>
              <a:srgbClr val="147D64"/>
            </a:solidFill>
            <a:prstDash val="solid"/>
            <a:round/>
            <a:headEnd len="med" w="med" type="none"/>
            <a:tailEnd len="med" w="med" type="triangle"/>
          </a:ln>
        </p:spPr>
      </p:cxnSp>
      <p:sp>
        <p:nvSpPr>
          <p:cNvPr id="491" name="Google Shape;491;p33"/>
          <p:cNvSpPr txBox="1"/>
          <p:nvPr/>
        </p:nvSpPr>
        <p:spPr>
          <a:xfrm>
            <a:off x="6286500" y="3562350"/>
            <a:ext cx="51435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25">
                <a:solidFill>
                  <a:srgbClr val="61717D"/>
                </a:solidFill>
              </a:rPr>
              <a:t>resume, yield, pause</a:t>
            </a:r>
            <a:endParaRPr sz="1725">
              <a:solidFill>
                <a:srgbClr val="61717D"/>
              </a:solidFill>
            </a:endParaRPr>
          </a:p>
        </p:txBody>
      </p:sp>
      <p:sp>
        <p:nvSpPr>
          <p:cNvPr id="492" name="Google Shape;492;p33"/>
          <p:cNvSpPr/>
          <p:nvPr/>
        </p:nvSpPr>
        <p:spPr>
          <a:xfrm>
            <a:off x="6286500" y="4029075"/>
            <a:ext cx="1809600" cy="619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next(g)</a:t>
            </a:r>
            <a:endParaRPr sz="2100">
              <a:solidFill>
                <a:srgbClr val="17364B"/>
              </a:solidFill>
            </a:endParaRPr>
          </a:p>
        </p:txBody>
      </p:sp>
      <p:sp>
        <p:nvSpPr>
          <p:cNvPr id="493" name="Google Shape;493;p33"/>
          <p:cNvSpPr/>
          <p:nvPr/>
        </p:nvSpPr>
        <p:spPr>
          <a:xfrm>
            <a:off x="9715500" y="4029075"/>
            <a:ext cx="1428900" cy="619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6</a:t>
            </a:r>
            <a:endParaRPr sz="2400">
              <a:solidFill>
                <a:srgbClr val="17364B"/>
              </a:solidFill>
            </a:endParaRPr>
          </a:p>
        </p:txBody>
      </p:sp>
      <p:cxnSp>
        <p:nvCxnSpPr>
          <p:cNvPr id="494" name="Google Shape;494;p33"/>
          <p:cNvCxnSpPr/>
          <p:nvPr/>
        </p:nvCxnSpPr>
        <p:spPr>
          <a:xfrm>
            <a:off x="8096250" y="4333875"/>
            <a:ext cx="1619100" cy="0"/>
          </a:xfrm>
          <a:prstGeom prst="straightConnector1">
            <a:avLst/>
          </a:prstGeom>
          <a:noFill/>
          <a:ln cap="flat" cmpd="sng" w="22850">
            <a:solidFill>
              <a:srgbClr val="147D64"/>
            </a:solidFill>
            <a:prstDash val="solid"/>
            <a:round/>
            <a:headEnd len="med" w="med" type="none"/>
            <a:tailEnd len="med" w="med" type="triangle"/>
          </a:ln>
        </p:spPr>
      </p:cxnSp>
      <p:sp>
        <p:nvSpPr>
          <p:cNvPr id="495" name="Google Shape;495;p33"/>
          <p:cNvSpPr txBox="1"/>
          <p:nvPr/>
        </p:nvSpPr>
        <p:spPr>
          <a:xfrm>
            <a:off x="6286500" y="4705350"/>
            <a:ext cx="51435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25">
                <a:solidFill>
                  <a:srgbClr val="61717D"/>
                </a:solidFill>
              </a:rPr>
              <a:t>resume, yield, pause</a:t>
            </a:r>
            <a:endParaRPr sz="1725">
              <a:solidFill>
                <a:srgbClr val="61717D"/>
              </a:solidFill>
            </a:endParaRPr>
          </a:p>
        </p:txBody>
      </p:sp>
      <p:sp>
        <p:nvSpPr>
          <p:cNvPr id="496" name="Google Shape;496;p33"/>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generator retains its execution state between requests.</a:t>
            </a:r>
            <a:endParaRPr b="1" sz="2025">
              <a:solidFill>
                <a:srgbClr val="002B49"/>
              </a:solidFill>
            </a:endParaRPr>
          </a:p>
        </p:txBody>
      </p:sp>
      <p:sp>
        <p:nvSpPr>
          <p:cNvPr id="497" name="Google Shape;497;p33"/>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26</a:t>
            </a:r>
            <a:endParaRPr sz="1350">
              <a:solidFill>
                <a:srgbClr val="61717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34"/>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Retaining results versus consuming a stream</a:t>
            </a:r>
            <a:endParaRPr b="1" sz="3300">
              <a:solidFill>
                <a:srgbClr val="002B49"/>
              </a:solidFill>
            </a:endParaRPr>
          </a:p>
        </p:txBody>
      </p:sp>
      <p:sp>
        <p:nvSpPr>
          <p:cNvPr id="504" name="Google Shape;504;p34"/>
          <p:cNvSpPr txBox="1"/>
          <p:nvPr/>
        </p:nvSpPr>
        <p:spPr>
          <a:xfrm>
            <a:off x="609600" y="1552575"/>
            <a:ext cx="5238900" cy="4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05A9C"/>
                </a:solidFill>
              </a:rPr>
              <a:t>Materialize every square</a:t>
            </a:r>
            <a:endParaRPr b="1" sz="2400">
              <a:solidFill>
                <a:srgbClr val="005A9C"/>
              </a:solidFill>
            </a:endParaRPr>
          </a:p>
        </p:txBody>
      </p:sp>
      <p:sp>
        <p:nvSpPr>
          <p:cNvPr id="505" name="Google Shape;505;p34"/>
          <p:cNvSpPr/>
          <p:nvPr/>
        </p:nvSpPr>
        <p:spPr>
          <a:xfrm>
            <a:off x="609600" y="2238375"/>
            <a:ext cx="10972800" cy="7620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75">
                <a:solidFill>
                  <a:srgbClr val="17364B"/>
                </a:solidFill>
                <a:latin typeface="Roboto Mono"/>
                <a:ea typeface="Roboto Mono"/>
                <a:cs typeface="Roboto Mono"/>
                <a:sym typeface="Roboto Mono"/>
              </a:rPr>
              <a:t>sum([x*x for x in range(n)])</a:t>
            </a:r>
            <a:endParaRPr sz="2175">
              <a:solidFill>
                <a:srgbClr val="17364B"/>
              </a:solidFill>
              <a:latin typeface="Roboto Mono"/>
              <a:ea typeface="Roboto Mono"/>
              <a:cs typeface="Roboto Mono"/>
              <a:sym typeface="Roboto Mono"/>
            </a:endParaRPr>
          </a:p>
        </p:txBody>
      </p:sp>
      <p:sp>
        <p:nvSpPr>
          <p:cNvPr id="506" name="Google Shape;506;p34"/>
          <p:cNvSpPr/>
          <p:nvPr/>
        </p:nvSpPr>
        <p:spPr>
          <a:xfrm>
            <a:off x="609600"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0</a:t>
            </a:r>
            <a:endParaRPr sz="2100">
              <a:solidFill>
                <a:srgbClr val="17364B"/>
              </a:solidFill>
            </a:endParaRPr>
          </a:p>
        </p:txBody>
      </p:sp>
      <p:sp>
        <p:nvSpPr>
          <p:cNvPr id="507" name="Google Shape;507;p34"/>
          <p:cNvSpPr/>
          <p:nvPr/>
        </p:nvSpPr>
        <p:spPr>
          <a:xfrm>
            <a:off x="1247775"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1</a:t>
            </a:r>
            <a:endParaRPr sz="2100">
              <a:solidFill>
                <a:srgbClr val="17364B"/>
              </a:solidFill>
            </a:endParaRPr>
          </a:p>
        </p:txBody>
      </p:sp>
      <p:sp>
        <p:nvSpPr>
          <p:cNvPr id="508" name="Google Shape;508;p34"/>
          <p:cNvSpPr/>
          <p:nvPr/>
        </p:nvSpPr>
        <p:spPr>
          <a:xfrm>
            <a:off x="1885950"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4</a:t>
            </a:r>
            <a:endParaRPr sz="2100">
              <a:solidFill>
                <a:srgbClr val="17364B"/>
              </a:solidFill>
            </a:endParaRPr>
          </a:p>
        </p:txBody>
      </p:sp>
      <p:sp>
        <p:nvSpPr>
          <p:cNvPr id="509" name="Google Shape;509;p34"/>
          <p:cNvSpPr/>
          <p:nvPr/>
        </p:nvSpPr>
        <p:spPr>
          <a:xfrm>
            <a:off x="2524125"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9</a:t>
            </a:r>
            <a:endParaRPr sz="2100">
              <a:solidFill>
                <a:srgbClr val="17364B"/>
              </a:solidFill>
            </a:endParaRPr>
          </a:p>
        </p:txBody>
      </p:sp>
      <p:sp>
        <p:nvSpPr>
          <p:cNvPr id="510" name="Google Shape;510;p34"/>
          <p:cNvSpPr/>
          <p:nvPr/>
        </p:nvSpPr>
        <p:spPr>
          <a:xfrm>
            <a:off x="3162300"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16</a:t>
            </a:r>
            <a:endParaRPr sz="2100">
              <a:solidFill>
                <a:srgbClr val="17364B"/>
              </a:solidFill>
            </a:endParaRPr>
          </a:p>
        </p:txBody>
      </p:sp>
      <p:sp>
        <p:nvSpPr>
          <p:cNvPr id="511" name="Google Shape;511;p34"/>
          <p:cNvSpPr/>
          <p:nvPr/>
        </p:nvSpPr>
        <p:spPr>
          <a:xfrm>
            <a:off x="3800475"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25</a:t>
            </a:r>
            <a:endParaRPr sz="2100">
              <a:solidFill>
                <a:srgbClr val="17364B"/>
              </a:solidFill>
            </a:endParaRPr>
          </a:p>
        </p:txBody>
      </p:sp>
      <p:sp>
        <p:nvSpPr>
          <p:cNvPr id="512" name="Google Shape;512;p34"/>
          <p:cNvSpPr/>
          <p:nvPr/>
        </p:nvSpPr>
        <p:spPr>
          <a:xfrm>
            <a:off x="4438650"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36</a:t>
            </a:r>
            <a:endParaRPr sz="2100">
              <a:solidFill>
                <a:srgbClr val="17364B"/>
              </a:solidFill>
            </a:endParaRPr>
          </a:p>
        </p:txBody>
      </p:sp>
      <p:sp>
        <p:nvSpPr>
          <p:cNvPr id="513" name="Google Shape;513;p34"/>
          <p:cNvSpPr/>
          <p:nvPr/>
        </p:nvSpPr>
        <p:spPr>
          <a:xfrm>
            <a:off x="5076825" y="3314700"/>
            <a:ext cx="581100" cy="5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49</a:t>
            </a:r>
            <a:endParaRPr sz="2100">
              <a:solidFill>
                <a:srgbClr val="17364B"/>
              </a:solidFill>
            </a:endParaRPr>
          </a:p>
        </p:txBody>
      </p:sp>
      <p:sp>
        <p:nvSpPr>
          <p:cNvPr id="514" name="Google Shape;514;p34"/>
          <p:cNvSpPr txBox="1"/>
          <p:nvPr/>
        </p:nvSpPr>
        <p:spPr>
          <a:xfrm>
            <a:off x="6419850" y="3381375"/>
            <a:ext cx="49530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n retained results</a:t>
            </a:r>
            <a:endParaRPr b="1" sz="2325">
              <a:solidFill>
                <a:srgbClr val="005A9C"/>
              </a:solidFill>
            </a:endParaRPr>
          </a:p>
        </p:txBody>
      </p:sp>
      <p:sp>
        <p:nvSpPr>
          <p:cNvPr id="515" name="Google Shape;515;p34"/>
          <p:cNvSpPr txBox="1"/>
          <p:nvPr/>
        </p:nvSpPr>
        <p:spPr>
          <a:xfrm>
            <a:off x="609600" y="4200525"/>
            <a:ext cx="57150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47D64"/>
                </a:solidFill>
              </a:rPr>
              <a:t>Consume one value at a time</a:t>
            </a:r>
            <a:endParaRPr b="1" sz="2400">
              <a:solidFill>
                <a:srgbClr val="147D64"/>
              </a:solidFill>
            </a:endParaRPr>
          </a:p>
        </p:txBody>
      </p:sp>
      <p:sp>
        <p:nvSpPr>
          <p:cNvPr id="516" name="Google Shape;516;p34"/>
          <p:cNvSpPr/>
          <p:nvPr/>
        </p:nvSpPr>
        <p:spPr>
          <a:xfrm>
            <a:off x="609600" y="4762500"/>
            <a:ext cx="10972800" cy="7620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175">
                <a:solidFill>
                  <a:srgbClr val="17364B"/>
                </a:solidFill>
                <a:latin typeface="Roboto Mono"/>
                <a:ea typeface="Roboto Mono"/>
                <a:cs typeface="Roboto Mono"/>
                <a:sym typeface="Roboto Mono"/>
              </a:rPr>
              <a:t>sum(x*x for x in range(n))</a:t>
            </a:r>
            <a:endParaRPr sz="2175">
              <a:solidFill>
                <a:srgbClr val="17364B"/>
              </a:solidFill>
              <a:latin typeface="Roboto Mono"/>
              <a:ea typeface="Roboto Mono"/>
              <a:cs typeface="Roboto Mono"/>
              <a:sym typeface="Roboto Mono"/>
            </a:endParaRPr>
          </a:p>
        </p:txBody>
      </p:sp>
      <p:sp>
        <p:nvSpPr>
          <p:cNvPr id="517" name="Google Shape;517;p34"/>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Same total work. Different amounts of retained intermediate data.</a:t>
            </a:r>
            <a:endParaRPr b="1" sz="2025">
              <a:solidFill>
                <a:srgbClr val="002B49"/>
              </a:solidFill>
            </a:endParaRPr>
          </a:p>
        </p:txBody>
      </p:sp>
      <p:sp>
        <p:nvSpPr>
          <p:cNvPr id="518" name="Google Shape;518;p34"/>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27</a:t>
            </a:r>
            <a:endParaRPr sz="1350">
              <a:solidFill>
                <a:srgbClr val="61717D"/>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5"/>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Demo A: work and retained memory</a:t>
            </a:r>
            <a:endParaRPr b="1" sz="3300">
              <a:solidFill>
                <a:srgbClr val="002B49"/>
              </a:solidFill>
            </a:endParaRPr>
          </a:p>
        </p:txBody>
      </p:sp>
      <p:sp>
        <p:nvSpPr>
          <p:cNvPr id="525" name="Google Shape;525;p35"/>
          <p:cNvSpPr txBox="1"/>
          <p:nvPr/>
        </p:nvSpPr>
        <p:spPr>
          <a:xfrm>
            <a:off x="609600" y="1809750"/>
            <a:ext cx="23814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005A9C"/>
                </a:solidFill>
              </a:rPr>
              <a:t>Predict</a:t>
            </a:r>
            <a:endParaRPr b="1" sz="2550">
              <a:solidFill>
                <a:srgbClr val="005A9C"/>
              </a:solidFill>
            </a:endParaRPr>
          </a:p>
        </p:txBody>
      </p:sp>
      <p:sp>
        <p:nvSpPr>
          <p:cNvPr id="526" name="Google Shape;526;p35"/>
          <p:cNvSpPr txBox="1"/>
          <p:nvPr/>
        </p:nvSpPr>
        <p:spPr>
          <a:xfrm>
            <a:off x="3581400" y="1809750"/>
            <a:ext cx="7905900" cy="10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17364B"/>
                </a:solidFill>
              </a:rPr>
              <a:t>Will both sums match?</a:t>
            </a:r>
            <a:endParaRPr sz="2550">
              <a:solidFill>
                <a:srgbClr val="17364B"/>
              </a:solidFill>
            </a:endParaRPr>
          </a:p>
          <a:p>
            <a:pPr indent="0" lvl="0" marL="0" rtl="0" algn="l">
              <a:spcBef>
                <a:spcPts val="0"/>
              </a:spcBef>
              <a:spcAft>
                <a:spcPts val="0"/>
              </a:spcAft>
              <a:buNone/>
            </a:pPr>
            <a:r>
              <a:rPr lang="en-US" sz="2550">
                <a:solidFill>
                  <a:srgbClr val="17364B"/>
                </a:solidFill>
              </a:rPr>
              <a:t>What grows when n increases?</a:t>
            </a:r>
            <a:endParaRPr sz="2550">
              <a:solidFill>
                <a:srgbClr val="17364B"/>
              </a:solidFill>
            </a:endParaRPr>
          </a:p>
        </p:txBody>
      </p:sp>
      <p:sp>
        <p:nvSpPr>
          <p:cNvPr id="527" name="Google Shape;527;p35"/>
          <p:cNvSpPr txBox="1"/>
          <p:nvPr/>
        </p:nvSpPr>
        <p:spPr>
          <a:xfrm>
            <a:off x="609600" y="3333750"/>
            <a:ext cx="23814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147D64"/>
                </a:solidFill>
              </a:rPr>
              <a:t>Observe</a:t>
            </a:r>
            <a:endParaRPr b="1" sz="2550">
              <a:solidFill>
                <a:srgbClr val="147D64"/>
              </a:solidFill>
            </a:endParaRPr>
          </a:p>
        </p:txBody>
      </p:sp>
      <p:sp>
        <p:nvSpPr>
          <p:cNvPr id="528" name="Google Shape;528;p35"/>
          <p:cNvSpPr txBox="1"/>
          <p:nvPr/>
        </p:nvSpPr>
        <p:spPr>
          <a:xfrm>
            <a:off x="3581400" y="3333750"/>
            <a:ext cx="7905900" cy="10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17364B"/>
                </a:solidFill>
              </a:rPr>
              <a:t>Peak retained allocation</a:t>
            </a:r>
            <a:endParaRPr sz="2550">
              <a:solidFill>
                <a:srgbClr val="17364B"/>
              </a:solidFill>
            </a:endParaRPr>
          </a:p>
          <a:p>
            <a:pPr indent="0" lvl="0" marL="0" rtl="0" algn="l">
              <a:spcBef>
                <a:spcPts val="0"/>
              </a:spcBef>
              <a:spcAft>
                <a:spcPts val="0"/>
              </a:spcAft>
              <a:buNone/>
            </a:pPr>
            <a:r>
              <a:rPr lang="en-US" sz="2550">
                <a:solidFill>
                  <a:srgbClr val="17364B"/>
                </a:solidFill>
              </a:rPr>
              <a:t>Time measured separately</a:t>
            </a:r>
            <a:endParaRPr sz="2550">
              <a:solidFill>
                <a:srgbClr val="17364B"/>
              </a:solidFill>
            </a:endParaRPr>
          </a:p>
        </p:txBody>
      </p:sp>
      <p:sp>
        <p:nvSpPr>
          <p:cNvPr id="529" name="Google Shape;529;p35"/>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smaller memory footprint does not guarantee a shorter runtime.</a:t>
            </a:r>
            <a:endParaRPr b="1" sz="2025">
              <a:solidFill>
                <a:srgbClr val="002B49"/>
              </a:solidFill>
            </a:endParaRPr>
          </a:p>
        </p:txBody>
      </p:sp>
      <p:sp>
        <p:nvSpPr>
          <p:cNvPr id="530" name="Google Shape;530;p35"/>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28</a:t>
            </a:r>
            <a:endParaRPr sz="1350">
              <a:solidFill>
                <a:srgbClr val="61717D"/>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535" name="Shape 535"/>
        <p:cNvGrpSpPr/>
        <p:nvPr/>
      </p:nvGrpSpPr>
      <p:grpSpPr>
        <a:xfrm>
          <a:off x="0" y="0"/>
          <a:ext cx="0" cy="0"/>
          <a:chOff x="0" y="0"/>
          <a:chExt cx="0" cy="0"/>
        </a:xfrm>
      </p:grpSpPr>
      <p:sp>
        <p:nvSpPr>
          <p:cNvPr id="536" name="Google Shape;536;p36"/>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HARDWARE</a:t>
            </a:r>
            <a:endParaRPr b="1" sz="1875">
              <a:solidFill>
                <a:srgbClr val="FDB515"/>
              </a:solidFill>
            </a:endParaRPr>
          </a:p>
        </p:txBody>
      </p:sp>
      <p:sp>
        <p:nvSpPr>
          <p:cNvPr id="537" name="Google Shape;537;p36"/>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CPU, GPU and data movement</a:t>
            </a:r>
            <a:endParaRPr b="1" sz="4500">
              <a:solidFill>
                <a:srgbClr val="FFFFFF"/>
              </a:solidFill>
            </a:endParaRPr>
          </a:p>
        </p:txBody>
      </p:sp>
      <p:sp>
        <p:nvSpPr>
          <p:cNvPr id="538" name="Google Shape;538;p36"/>
          <p:cNvSpPr txBox="1"/>
          <p:nvPr/>
        </p:nvSpPr>
        <p:spPr>
          <a:xfrm>
            <a:off x="685800" y="4333875"/>
            <a:ext cx="104775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An algorithm runs on hardware that must store and move its data.</a:t>
            </a:r>
            <a:endParaRPr sz="2550">
              <a:solidFill>
                <a:srgbClr val="FFFFFF"/>
              </a:solidFill>
            </a:endParaRPr>
          </a:p>
        </p:txBody>
      </p:sp>
      <p:sp>
        <p:nvSpPr>
          <p:cNvPr id="539" name="Google Shape;539;p36"/>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29</a:t>
            </a:r>
            <a:endParaRPr sz="1350">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4" name="Shape 544"/>
        <p:cNvGrpSpPr/>
        <p:nvPr/>
      </p:nvGrpSpPr>
      <p:grpSpPr>
        <a:xfrm>
          <a:off x="0" y="0"/>
          <a:ext cx="0" cy="0"/>
          <a:chOff x="0" y="0"/>
          <a:chExt cx="0" cy="0"/>
        </a:xfrm>
      </p:grpSpPr>
      <p:sp>
        <p:nvSpPr>
          <p:cNvPr id="545" name="Google Shape;545;p37"/>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Where the data lives</a:t>
            </a:r>
            <a:endParaRPr b="1" sz="3300">
              <a:solidFill>
                <a:srgbClr val="002B49"/>
              </a:solidFill>
            </a:endParaRPr>
          </a:p>
        </p:txBody>
      </p:sp>
      <p:sp>
        <p:nvSpPr>
          <p:cNvPr id="546" name="Google Shape;546;p37"/>
          <p:cNvSpPr/>
          <p:nvPr/>
        </p:nvSpPr>
        <p:spPr>
          <a:xfrm>
            <a:off x="609600" y="2667000"/>
            <a:ext cx="2000100" cy="11430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250">
                <a:solidFill>
                  <a:srgbClr val="17364B"/>
                </a:solidFill>
              </a:rPr>
              <a:t>Storage</a:t>
            </a:r>
            <a:endParaRPr sz="2250">
              <a:solidFill>
                <a:srgbClr val="17364B"/>
              </a:solidFill>
            </a:endParaRPr>
          </a:p>
          <a:p>
            <a:pPr indent="0" lvl="0" marL="0" rtl="0" algn="ctr">
              <a:spcBef>
                <a:spcPts val="0"/>
              </a:spcBef>
              <a:spcAft>
                <a:spcPts val="0"/>
              </a:spcAft>
              <a:buNone/>
            </a:pPr>
            <a:r>
              <a:rPr lang="en-US" sz="2250">
                <a:solidFill>
                  <a:srgbClr val="17364B"/>
                </a:solidFill>
              </a:rPr>
              <a:t>files</a:t>
            </a:r>
            <a:endParaRPr sz="2250">
              <a:solidFill>
                <a:srgbClr val="17364B"/>
              </a:solidFill>
            </a:endParaRPr>
          </a:p>
        </p:txBody>
      </p:sp>
      <p:sp>
        <p:nvSpPr>
          <p:cNvPr id="547" name="Google Shape;547;p37"/>
          <p:cNvSpPr/>
          <p:nvPr/>
        </p:nvSpPr>
        <p:spPr>
          <a:xfrm>
            <a:off x="3600450" y="2667000"/>
            <a:ext cx="2428800" cy="11430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250">
                <a:solidFill>
                  <a:srgbClr val="17364B"/>
                </a:solidFill>
              </a:rPr>
              <a:t>System RAM</a:t>
            </a:r>
            <a:endParaRPr sz="2250">
              <a:solidFill>
                <a:srgbClr val="17364B"/>
              </a:solidFill>
            </a:endParaRPr>
          </a:p>
          <a:p>
            <a:pPr indent="0" lvl="0" marL="0" rtl="0" algn="ctr">
              <a:spcBef>
                <a:spcPts val="0"/>
              </a:spcBef>
              <a:spcAft>
                <a:spcPts val="0"/>
              </a:spcAft>
              <a:buNone/>
            </a:pPr>
            <a:r>
              <a:rPr lang="en-US" sz="2250">
                <a:solidFill>
                  <a:srgbClr val="17364B"/>
                </a:solidFill>
              </a:rPr>
              <a:t>active data</a:t>
            </a:r>
            <a:endParaRPr sz="2250">
              <a:solidFill>
                <a:srgbClr val="17364B"/>
              </a:solidFill>
            </a:endParaRPr>
          </a:p>
        </p:txBody>
      </p:sp>
      <p:sp>
        <p:nvSpPr>
          <p:cNvPr id="548" name="Google Shape;548;p37"/>
          <p:cNvSpPr/>
          <p:nvPr/>
        </p:nvSpPr>
        <p:spPr>
          <a:xfrm>
            <a:off x="3600450" y="4457700"/>
            <a:ext cx="2428800" cy="9525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CPU</a:t>
            </a:r>
            <a:endParaRPr sz="1950">
              <a:solidFill>
                <a:srgbClr val="17364B"/>
              </a:solidFill>
            </a:endParaRPr>
          </a:p>
          <a:p>
            <a:pPr indent="0" lvl="0" marL="0" rtl="0" algn="ctr">
              <a:spcBef>
                <a:spcPts val="0"/>
              </a:spcBef>
              <a:spcAft>
                <a:spcPts val="0"/>
              </a:spcAft>
              <a:buNone/>
            </a:pPr>
            <a:r>
              <a:rPr lang="en-US" sz="1950">
                <a:solidFill>
                  <a:srgbClr val="17364B"/>
                </a:solidFill>
              </a:rPr>
              <a:t>caches + execution</a:t>
            </a:r>
            <a:endParaRPr sz="1950">
              <a:solidFill>
                <a:srgbClr val="17364B"/>
              </a:solidFill>
            </a:endParaRPr>
          </a:p>
        </p:txBody>
      </p:sp>
      <p:sp>
        <p:nvSpPr>
          <p:cNvPr id="549" name="Google Shape;549;p37"/>
          <p:cNvSpPr/>
          <p:nvPr/>
        </p:nvSpPr>
        <p:spPr>
          <a:xfrm>
            <a:off x="8001000" y="2667000"/>
            <a:ext cx="3333900" cy="11430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GPU memory</a:t>
            </a:r>
            <a:endParaRPr sz="2100">
              <a:solidFill>
                <a:srgbClr val="17364B"/>
              </a:solidFill>
            </a:endParaRPr>
          </a:p>
          <a:p>
            <a:pPr indent="0" lvl="0" marL="0" rtl="0" algn="ctr">
              <a:spcBef>
                <a:spcPts val="0"/>
              </a:spcBef>
              <a:spcAft>
                <a:spcPts val="0"/>
              </a:spcAft>
              <a:buNone/>
            </a:pPr>
            <a:r>
              <a:rPr lang="en-US" sz="2100">
                <a:solidFill>
                  <a:srgbClr val="17364B"/>
                </a:solidFill>
              </a:rPr>
              <a:t>weights + working data</a:t>
            </a:r>
            <a:endParaRPr sz="2100">
              <a:solidFill>
                <a:srgbClr val="17364B"/>
              </a:solidFill>
            </a:endParaRPr>
          </a:p>
        </p:txBody>
      </p:sp>
      <p:sp>
        <p:nvSpPr>
          <p:cNvPr id="550" name="Google Shape;550;p37"/>
          <p:cNvSpPr/>
          <p:nvPr/>
        </p:nvSpPr>
        <p:spPr>
          <a:xfrm>
            <a:off x="8001000" y="4457700"/>
            <a:ext cx="3333900" cy="9525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GPU execution</a:t>
            </a:r>
            <a:endParaRPr sz="2175">
              <a:solidFill>
                <a:srgbClr val="17364B"/>
              </a:solidFill>
            </a:endParaRPr>
          </a:p>
        </p:txBody>
      </p:sp>
      <p:cxnSp>
        <p:nvCxnSpPr>
          <p:cNvPr id="551" name="Google Shape;551;p37"/>
          <p:cNvCxnSpPr/>
          <p:nvPr/>
        </p:nvCxnSpPr>
        <p:spPr>
          <a:xfrm>
            <a:off x="2609850" y="3238500"/>
            <a:ext cx="990600" cy="0"/>
          </a:xfrm>
          <a:prstGeom prst="straightConnector1">
            <a:avLst/>
          </a:prstGeom>
          <a:noFill/>
          <a:ln cap="flat" cmpd="sng" w="22850">
            <a:solidFill>
              <a:srgbClr val="005A9C"/>
            </a:solidFill>
            <a:prstDash val="solid"/>
            <a:round/>
            <a:headEnd len="med" w="med" type="none"/>
            <a:tailEnd len="med" w="med" type="triangle"/>
          </a:ln>
        </p:spPr>
      </p:cxnSp>
      <p:cxnSp>
        <p:nvCxnSpPr>
          <p:cNvPr id="552" name="Google Shape;552;p37"/>
          <p:cNvCxnSpPr/>
          <p:nvPr/>
        </p:nvCxnSpPr>
        <p:spPr>
          <a:xfrm>
            <a:off x="4810125" y="3810000"/>
            <a:ext cx="0" cy="647700"/>
          </a:xfrm>
          <a:prstGeom prst="straightConnector1">
            <a:avLst/>
          </a:prstGeom>
          <a:noFill/>
          <a:ln cap="flat" cmpd="sng" w="22850">
            <a:solidFill>
              <a:srgbClr val="005A9C"/>
            </a:solidFill>
            <a:prstDash val="solid"/>
            <a:round/>
            <a:headEnd len="med" w="med" type="none"/>
            <a:tailEnd len="med" w="med" type="triangle"/>
          </a:ln>
        </p:spPr>
      </p:cxnSp>
      <p:cxnSp>
        <p:nvCxnSpPr>
          <p:cNvPr id="553" name="Google Shape;553;p37"/>
          <p:cNvCxnSpPr/>
          <p:nvPr/>
        </p:nvCxnSpPr>
        <p:spPr>
          <a:xfrm>
            <a:off x="6029325" y="3238500"/>
            <a:ext cx="1971600" cy="0"/>
          </a:xfrm>
          <a:prstGeom prst="straightConnector1">
            <a:avLst/>
          </a:prstGeom>
          <a:noFill/>
          <a:ln cap="flat" cmpd="sng" w="22850">
            <a:solidFill>
              <a:srgbClr val="005A9C"/>
            </a:solidFill>
            <a:prstDash val="solid"/>
            <a:round/>
            <a:headEnd len="med" w="med" type="none"/>
            <a:tailEnd len="med" w="med" type="triangle"/>
          </a:ln>
        </p:spPr>
      </p:cxnSp>
      <p:cxnSp>
        <p:nvCxnSpPr>
          <p:cNvPr id="554" name="Google Shape;554;p37"/>
          <p:cNvCxnSpPr/>
          <p:nvPr/>
        </p:nvCxnSpPr>
        <p:spPr>
          <a:xfrm>
            <a:off x="9667875" y="3810000"/>
            <a:ext cx="0" cy="647700"/>
          </a:xfrm>
          <a:prstGeom prst="straightConnector1">
            <a:avLst/>
          </a:prstGeom>
          <a:noFill/>
          <a:ln cap="flat" cmpd="sng" w="22850">
            <a:solidFill>
              <a:srgbClr val="147D64"/>
            </a:solidFill>
            <a:prstDash val="solid"/>
            <a:round/>
            <a:headEnd len="med" w="med" type="none"/>
            <a:tailEnd len="med" w="med" type="triangle"/>
          </a:ln>
        </p:spPr>
      </p:cxnSp>
      <p:sp>
        <p:nvSpPr>
          <p:cNvPr id="555" name="Google Shape;555;p37"/>
          <p:cNvSpPr txBox="1"/>
          <p:nvPr/>
        </p:nvSpPr>
        <p:spPr>
          <a:xfrm>
            <a:off x="6191250" y="2714625"/>
            <a:ext cx="1762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transfer</a:t>
            </a:r>
            <a:endParaRPr sz="1875">
              <a:solidFill>
                <a:srgbClr val="61717D"/>
              </a:solidFill>
            </a:endParaRPr>
          </a:p>
        </p:txBody>
      </p:sp>
      <p:sp>
        <p:nvSpPr>
          <p:cNvPr id="556" name="Google Shape;556;p37"/>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Capacity limits what fits. Movement and access cost time.</a:t>
            </a:r>
            <a:endParaRPr b="1" sz="2025">
              <a:solidFill>
                <a:srgbClr val="002B49"/>
              </a:solidFill>
            </a:endParaRPr>
          </a:p>
        </p:txBody>
      </p:sp>
      <p:sp>
        <p:nvSpPr>
          <p:cNvPr id="557" name="Google Shape;557;p37"/>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30</a:t>
            </a:r>
            <a:endParaRPr sz="1350">
              <a:solidFill>
                <a:srgbClr val="61717D"/>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38"/>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How Python reaches the processor</a:t>
            </a:r>
            <a:endParaRPr b="1" sz="3300">
              <a:solidFill>
                <a:srgbClr val="002B49"/>
              </a:solidFill>
            </a:endParaRPr>
          </a:p>
        </p:txBody>
      </p:sp>
      <p:sp>
        <p:nvSpPr>
          <p:cNvPr id="564" name="Google Shape;564;p38"/>
          <p:cNvSpPr/>
          <p:nvPr/>
        </p:nvSpPr>
        <p:spPr>
          <a:xfrm>
            <a:off x="609600" y="2952750"/>
            <a:ext cx="2571900" cy="9525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Python code</a:t>
            </a:r>
            <a:endParaRPr sz="2400">
              <a:solidFill>
                <a:srgbClr val="17364B"/>
              </a:solidFill>
            </a:endParaRPr>
          </a:p>
        </p:txBody>
      </p:sp>
      <p:sp>
        <p:nvSpPr>
          <p:cNvPr id="565" name="Google Shape;565;p38"/>
          <p:cNvSpPr/>
          <p:nvPr/>
        </p:nvSpPr>
        <p:spPr>
          <a:xfrm>
            <a:off x="5905500" y="1571625"/>
            <a:ext cx="5476800" cy="857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CPython loop</a:t>
            </a:r>
            <a:endParaRPr sz="2175">
              <a:solidFill>
                <a:srgbClr val="17364B"/>
              </a:solidFill>
            </a:endParaRPr>
          </a:p>
          <a:p>
            <a:pPr indent="0" lvl="0" marL="0" rtl="0" algn="ctr">
              <a:spcBef>
                <a:spcPts val="0"/>
              </a:spcBef>
              <a:spcAft>
                <a:spcPts val="0"/>
              </a:spcAft>
              <a:buNone/>
            </a:pPr>
            <a:r>
              <a:rPr lang="en-US" sz="2175">
                <a:solidFill>
                  <a:srgbClr val="17364B"/>
                </a:solidFill>
              </a:rPr>
              <a:t>on the CPU</a:t>
            </a:r>
            <a:endParaRPr sz="2175">
              <a:solidFill>
                <a:srgbClr val="17364B"/>
              </a:solidFill>
            </a:endParaRPr>
          </a:p>
        </p:txBody>
      </p:sp>
      <p:sp>
        <p:nvSpPr>
          <p:cNvPr id="566" name="Google Shape;566;p38"/>
          <p:cNvSpPr/>
          <p:nvPr/>
        </p:nvSpPr>
        <p:spPr>
          <a:xfrm>
            <a:off x="5905500" y="3095625"/>
            <a:ext cx="5476800" cy="8574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Compiled numerical</a:t>
            </a:r>
            <a:endParaRPr sz="2100">
              <a:solidFill>
                <a:srgbClr val="17364B"/>
              </a:solidFill>
            </a:endParaRPr>
          </a:p>
          <a:p>
            <a:pPr indent="0" lvl="0" marL="0" rtl="0" algn="ctr">
              <a:spcBef>
                <a:spcPts val="0"/>
              </a:spcBef>
              <a:spcAft>
                <a:spcPts val="0"/>
              </a:spcAft>
              <a:buNone/>
            </a:pPr>
            <a:r>
              <a:rPr lang="en-US" sz="2100">
                <a:solidFill>
                  <a:srgbClr val="17364B"/>
                </a:solidFill>
              </a:rPr>
              <a:t>routine on CPU</a:t>
            </a:r>
            <a:endParaRPr sz="2100">
              <a:solidFill>
                <a:srgbClr val="17364B"/>
              </a:solidFill>
            </a:endParaRPr>
          </a:p>
        </p:txBody>
      </p:sp>
      <p:sp>
        <p:nvSpPr>
          <p:cNvPr id="567" name="Google Shape;567;p38"/>
          <p:cNvSpPr/>
          <p:nvPr/>
        </p:nvSpPr>
        <p:spPr>
          <a:xfrm>
            <a:off x="5905500" y="4619625"/>
            <a:ext cx="5476800" cy="8574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25">
                <a:solidFill>
                  <a:srgbClr val="17364B"/>
                </a:solidFill>
              </a:rPr>
              <a:t>GPU-aware library</a:t>
            </a:r>
            <a:endParaRPr sz="2025">
              <a:solidFill>
                <a:srgbClr val="17364B"/>
              </a:solidFill>
            </a:endParaRPr>
          </a:p>
          <a:p>
            <a:pPr indent="0" lvl="0" marL="0" rtl="0" algn="ctr">
              <a:spcBef>
                <a:spcPts val="0"/>
              </a:spcBef>
              <a:spcAft>
                <a:spcPts val="0"/>
              </a:spcAft>
              <a:buNone/>
            </a:pPr>
            <a:r>
              <a:rPr lang="en-US" sz="2025">
                <a:solidFill>
                  <a:srgbClr val="17364B"/>
                </a:solidFill>
              </a:rPr>
              <a:t>launches device work</a:t>
            </a:r>
            <a:endParaRPr sz="2025">
              <a:solidFill>
                <a:srgbClr val="17364B"/>
              </a:solidFill>
            </a:endParaRPr>
          </a:p>
        </p:txBody>
      </p:sp>
      <p:sp>
        <p:nvSpPr>
          <p:cNvPr id="568" name="Google Shape;568;p38"/>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library call determines the execution path. GPU use is explicit.</a:t>
            </a:r>
            <a:endParaRPr b="1" sz="2025">
              <a:solidFill>
                <a:srgbClr val="002B49"/>
              </a:solidFill>
            </a:endParaRPr>
          </a:p>
        </p:txBody>
      </p:sp>
      <p:sp>
        <p:nvSpPr>
          <p:cNvPr id="569" name="Google Shape;569;p38"/>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31</a:t>
            </a:r>
            <a:endParaRPr sz="1350">
              <a:solidFill>
                <a:srgbClr val="61717D"/>
              </a:solidFill>
            </a:endParaRPr>
          </a:p>
        </p:txBody>
      </p:sp>
      <p:cxnSp>
        <p:nvCxnSpPr>
          <p:cNvPr id="570" name="Google Shape;570;p38"/>
          <p:cNvCxnSpPr/>
          <p:nvPr/>
        </p:nvCxnSpPr>
        <p:spPr>
          <a:xfrm flipH="1" rot="10800000">
            <a:off x="3181350" y="2000400"/>
            <a:ext cx="2724300" cy="1428600"/>
          </a:xfrm>
          <a:prstGeom prst="straightConnector1">
            <a:avLst/>
          </a:prstGeom>
          <a:noFill/>
          <a:ln cap="flat" cmpd="sng" w="22850">
            <a:solidFill>
              <a:srgbClr val="00599C"/>
            </a:solidFill>
            <a:prstDash val="solid"/>
            <a:round/>
            <a:headEnd len="med" w="med" type="none"/>
            <a:tailEnd len="med" w="med" type="triangle"/>
          </a:ln>
        </p:spPr>
      </p:cxnSp>
      <p:cxnSp>
        <p:nvCxnSpPr>
          <p:cNvPr id="571" name="Google Shape;571;p38"/>
          <p:cNvCxnSpPr/>
          <p:nvPr/>
        </p:nvCxnSpPr>
        <p:spPr>
          <a:xfrm>
            <a:off x="3181350" y="3429000"/>
            <a:ext cx="2724300" cy="95400"/>
          </a:xfrm>
          <a:prstGeom prst="straightConnector1">
            <a:avLst/>
          </a:prstGeom>
          <a:noFill/>
          <a:ln cap="flat" cmpd="sng" w="22850">
            <a:solidFill>
              <a:srgbClr val="00599C"/>
            </a:solidFill>
            <a:prstDash val="solid"/>
            <a:round/>
            <a:headEnd len="med" w="med" type="none"/>
            <a:tailEnd len="med" w="med" type="triangle"/>
          </a:ln>
        </p:spPr>
      </p:cxnSp>
      <p:cxnSp>
        <p:nvCxnSpPr>
          <p:cNvPr id="572" name="Google Shape;572;p38"/>
          <p:cNvCxnSpPr/>
          <p:nvPr/>
        </p:nvCxnSpPr>
        <p:spPr>
          <a:xfrm>
            <a:off x="3181350" y="3429000"/>
            <a:ext cx="2724300" cy="1619100"/>
          </a:xfrm>
          <a:prstGeom prst="straightConnector1">
            <a:avLst/>
          </a:prstGeom>
          <a:noFill/>
          <a:ln cap="flat" cmpd="sng" w="22850">
            <a:solidFill>
              <a:srgbClr val="00599C"/>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39"/>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Capacity, latency and bandwidth</a:t>
            </a:r>
            <a:endParaRPr b="1" sz="3300">
              <a:solidFill>
                <a:srgbClr val="002B49"/>
              </a:solidFill>
            </a:endParaRPr>
          </a:p>
        </p:txBody>
      </p:sp>
      <p:graphicFrame>
        <p:nvGraphicFramePr>
          <p:cNvPr id="579" name="Google Shape;579;p39"/>
          <p:cNvGraphicFramePr/>
          <p:nvPr/>
        </p:nvGraphicFramePr>
        <p:xfrm>
          <a:off x="609600" y="1809750"/>
          <a:ext cx="3000000" cy="3000000"/>
        </p:xfrm>
        <a:graphic>
          <a:graphicData uri="http://schemas.openxmlformats.org/drawingml/2006/table">
            <a:tbl>
              <a:tblPr>
                <a:noFill/>
                <a:tableStyleId>{739E50A3-21F2-4E9A-B190-4EFA897D3436}</a:tableStyleId>
              </a:tblPr>
              <a:tblGrid>
                <a:gridCol w="2476500"/>
                <a:gridCol w="4286250"/>
                <a:gridCol w="4210050"/>
              </a:tblGrid>
              <a:tr h="738175">
                <a:tc>
                  <a:txBody>
                    <a:bodyPr/>
                    <a:lstStyle/>
                    <a:p>
                      <a:pPr indent="0" lvl="0" marL="0" rtl="0" algn="l">
                        <a:spcBef>
                          <a:spcPts val="0"/>
                        </a:spcBef>
                        <a:spcAft>
                          <a:spcPts val="0"/>
                        </a:spcAft>
                        <a:buNone/>
                      </a:pPr>
                      <a:r>
                        <a:rPr b="1" lang="en-US" sz="2025">
                          <a:solidFill>
                            <a:srgbClr val="FFFFFF"/>
                          </a:solidFill>
                        </a:rPr>
                        <a:t>Quantity</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Question</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Illustration</a:t>
                      </a:r>
                      <a:endParaRPr b="1" sz="2025">
                        <a:solidFill>
                          <a:srgbClr val="FFFFFF"/>
                        </a:solidFill>
                      </a:endParaRPr>
                    </a:p>
                  </a:txBody>
                  <a:tcPr marT="91425" marB="91425" marR="91425" marL="91425" anchor="ctr">
                    <a:solidFill>
                      <a:srgbClr val="002B49"/>
                    </a:solidFill>
                  </a:tcPr>
                </a:tc>
              </a:tr>
              <a:tr h="738175">
                <a:tc>
                  <a:txBody>
                    <a:bodyPr/>
                    <a:lstStyle/>
                    <a:p>
                      <a:pPr indent="0" lvl="0" marL="0" rtl="0" algn="l">
                        <a:spcBef>
                          <a:spcPts val="0"/>
                        </a:spcBef>
                        <a:spcAft>
                          <a:spcPts val="0"/>
                        </a:spcAft>
                        <a:buNone/>
                      </a:pPr>
                      <a:r>
                        <a:rPr lang="en-US" sz="2025">
                          <a:solidFill>
                            <a:srgbClr val="17364B"/>
                          </a:solidFill>
                        </a:rPr>
                        <a:t>Capacity</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How much fits?</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Working set ≤ available memory</a:t>
                      </a:r>
                      <a:endParaRPr sz="2025">
                        <a:solidFill>
                          <a:srgbClr val="17364B"/>
                        </a:solidFill>
                      </a:endParaRPr>
                    </a:p>
                  </a:txBody>
                  <a:tcPr marT="91425" marB="91425" marR="91425" marL="91425" anchor="ctr">
                    <a:solidFill>
                      <a:srgbClr val="FFFFFF"/>
                    </a:solidFill>
                  </a:tcPr>
                </a:tc>
              </a:tr>
              <a:tr h="738175">
                <a:tc>
                  <a:txBody>
                    <a:bodyPr/>
                    <a:lstStyle/>
                    <a:p>
                      <a:pPr indent="0" lvl="0" marL="0" rtl="0" algn="l">
                        <a:spcBef>
                          <a:spcPts val="0"/>
                        </a:spcBef>
                        <a:spcAft>
                          <a:spcPts val="0"/>
                        </a:spcAft>
                        <a:buNone/>
                      </a:pPr>
                      <a:r>
                        <a:rPr lang="en-US" sz="2025">
                          <a:solidFill>
                            <a:srgbClr val="17364B"/>
                          </a:solidFill>
                        </a:rPr>
                        <a:t>Latency</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How long do we wait?</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One request takes 40 ms</a:t>
                      </a:r>
                      <a:endParaRPr sz="2025">
                        <a:solidFill>
                          <a:srgbClr val="17364B"/>
                        </a:solidFill>
                      </a:endParaRPr>
                    </a:p>
                  </a:txBody>
                  <a:tcPr marT="91425" marB="91425" marR="91425" marL="91425" anchor="ctr">
                    <a:solidFill>
                      <a:srgbClr val="F0F4F7"/>
                    </a:solidFill>
                  </a:tcPr>
                </a:tc>
              </a:tr>
              <a:tr h="738175">
                <a:tc>
                  <a:txBody>
                    <a:bodyPr/>
                    <a:lstStyle/>
                    <a:p>
                      <a:pPr indent="0" lvl="0" marL="0" rtl="0" algn="l">
                        <a:spcBef>
                          <a:spcPts val="0"/>
                        </a:spcBef>
                        <a:spcAft>
                          <a:spcPts val="0"/>
                        </a:spcAft>
                        <a:buNone/>
                      </a:pPr>
                      <a:r>
                        <a:rPr lang="en-US" sz="2025">
                          <a:solidFill>
                            <a:srgbClr val="17364B"/>
                          </a:solidFill>
                        </a:rPr>
                        <a:t>Bandwidth</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How fast can data move?</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1 GB ÷ 10 GB/s = 0.1 s</a:t>
                      </a:r>
                      <a:endParaRPr sz="2025">
                        <a:solidFill>
                          <a:srgbClr val="17364B"/>
                        </a:solidFill>
                      </a:endParaRPr>
                    </a:p>
                  </a:txBody>
                  <a:tcPr marT="91425" marB="91425" marR="91425" marL="91425" anchor="ctr">
                    <a:solidFill>
                      <a:srgbClr val="FFFFFF"/>
                    </a:solidFill>
                  </a:tcPr>
                </a:tc>
              </a:tr>
            </a:tbl>
          </a:graphicData>
        </a:graphic>
      </p:graphicFrame>
      <p:sp>
        <p:nvSpPr>
          <p:cNvPr id="580" name="Google Shape;580;p39"/>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Illustrative numbers. Fitting in memory is only one requirement.</a:t>
            </a:r>
            <a:endParaRPr b="1" sz="2025">
              <a:solidFill>
                <a:srgbClr val="002B49"/>
              </a:solidFill>
            </a:endParaRPr>
          </a:p>
        </p:txBody>
      </p:sp>
      <p:sp>
        <p:nvSpPr>
          <p:cNvPr id="581" name="Google Shape;581;p39"/>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32</a:t>
            </a:r>
            <a:endParaRPr sz="1350">
              <a:solidFill>
                <a:srgbClr val="61717D"/>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40"/>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The complete CPU/GPU comparison</a:t>
            </a:r>
            <a:endParaRPr b="1" sz="3300">
              <a:solidFill>
                <a:srgbClr val="002B49"/>
              </a:solidFill>
            </a:endParaRPr>
          </a:p>
        </p:txBody>
      </p:sp>
      <p:sp>
        <p:nvSpPr>
          <p:cNvPr id="588" name="Google Shape;588;p40"/>
          <p:cNvSpPr txBox="1"/>
          <p:nvPr/>
        </p:nvSpPr>
        <p:spPr>
          <a:xfrm>
            <a:off x="609600" y="1714500"/>
            <a:ext cx="21909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005A9C"/>
                </a:solidFill>
              </a:rPr>
              <a:t>CPU path</a:t>
            </a:r>
            <a:endParaRPr b="1" sz="2400">
              <a:solidFill>
                <a:srgbClr val="005A9C"/>
              </a:solidFill>
            </a:endParaRPr>
          </a:p>
        </p:txBody>
      </p:sp>
      <p:sp>
        <p:nvSpPr>
          <p:cNvPr id="589" name="Google Shape;589;p40"/>
          <p:cNvSpPr/>
          <p:nvPr/>
        </p:nvSpPr>
        <p:spPr>
          <a:xfrm>
            <a:off x="2857500" y="1714500"/>
            <a:ext cx="6667500" cy="857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compute 20 ms</a:t>
            </a:r>
            <a:endParaRPr sz="2400">
              <a:solidFill>
                <a:srgbClr val="17364B"/>
              </a:solidFill>
            </a:endParaRPr>
          </a:p>
        </p:txBody>
      </p:sp>
      <p:sp>
        <p:nvSpPr>
          <p:cNvPr id="590" name="Google Shape;590;p40"/>
          <p:cNvSpPr txBox="1"/>
          <p:nvPr/>
        </p:nvSpPr>
        <p:spPr>
          <a:xfrm>
            <a:off x="609600" y="3333750"/>
            <a:ext cx="21909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47D64"/>
                </a:solidFill>
              </a:rPr>
              <a:t>GPU path</a:t>
            </a:r>
            <a:endParaRPr b="1" sz="2400">
              <a:solidFill>
                <a:srgbClr val="147D64"/>
              </a:solidFill>
            </a:endParaRPr>
          </a:p>
        </p:txBody>
      </p:sp>
      <p:sp>
        <p:nvSpPr>
          <p:cNvPr id="591" name="Google Shape;591;p40"/>
          <p:cNvSpPr/>
          <p:nvPr/>
        </p:nvSpPr>
        <p:spPr>
          <a:xfrm>
            <a:off x="2857500" y="3333750"/>
            <a:ext cx="3048000" cy="1000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in</a:t>
            </a:r>
            <a:endParaRPr sz="2175">
              <a:solidFill>
                <a:srgbClr val="17364B"/>
              </a:solidFill>
            </a:endParaRPr>
          </a:p>
          <a:p>
            <a:pPr indent="0" lvl="0" marL="0" rtl="0" algn="ctr">
              <a:spcBef>
                <a:spcPts val="0"/>
              </a:spcBef>
              <a:spcAft>
                <a:spcPts val="0"/>
              </a:spcAft>
              <a:buNone/>
            </a:pPr>
            <a:r>
              <a:rPr lang="en-US" sz="2175">
                <a:solidFill>
                  <a:srgbClr val="17364B"/>
                </a:solidFill>
              </a:rPr>
              <a:t>12 ms</a:t>
            </a:r>
            <a:endParaRPr sz="2175">
              <a:solidFill>
                <a:srgbClr val="17364B"/>
              </a:solidFill>
            </a:endParaRPr>
          </a:p>
        </p:txBody>
      </p:sp>
      <p:sp>
        <p:nvSpPr>
          <p:cNvPr id="592" name="Google Shape;592;p40"/>
          <p:cNvSpPr/>
          <p:nvPr/>
        </p:nvSpPr>
        <p:spPr>
          <a:xfrm>
            <a:off x="5962650" y="3333750"/>
            <a:ext cx="1571700" cy="1000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compute</a:t>
            </a:r>
            <a:endParaRPr sz="1950">
              <a:solidFill>
                <a:srgbClr val="17364B"/>
              </a:solidFill>
            </a:endParaRPr>
          </a:p>
          <a:p>
            <a:pPr indent="0" lvl="0" marL="0" rtl="0" algn="ctr">
              <a:spcBef>
                <a:spcPts val="0"/>
              </a:spcBef>
              <a:spcAft>
                <a:spcPts val="0"/>
              </a:spcAft>
              <a:buNone/>
            </a:pPr>
            <a:r>
              <a:rPr lang="en-US" sz="1950">
                <a:solidFill>
                  <a:srgbClr val="17364B"/>
                </a:solidFill>
              </a:rPr>
              <a:t>2 ms</a:t>
            </a:r>
            <a:endParaRPr sz="1950">
              <a:solidFill>
                <a:srgbClr val="17364B"/>
              </a:solidFill>
            </a:endParaRPr>
          </a:p>
        </p:txBody>
      </p:sp>
      <p:sp>
        <p:nvSpPr>
          <p:cNvPr id="593" name="Google Shape;593;p40"/>
          <p:cNvSpPr/>
          <p:nvPr/>
        </p:nvSpPr>
        <p:spPr>
          <a:xfrm>
            <a:off x="7591425" y="3333750"/>
            <a:ext cx="3048000" cy="1000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out</a:t>
            </a:r>
            <a:endParaRPr sz="2175">
              <a:solidFill>
                <a:srgbClr val="17364B"/>
              </a:solidFill>
            </a:endParaRPr>
          </a:p>
          <a:p>
            <a:pPr indent="0" lvl="0" marL="0" rtl="0" algn="ctr">
              <a:spcBef>
                <a:spcPts val="0"/>
              </a:spcBef>
              <a:spcAft>
                <a:spcPts val="0"/>
              </a:spcAft>
              <a:buNone/>
            </a:pPr>
            <a:r>
              <a:rPr lang="en-US" sz="2175">
                <a:solidFill>
                  <a:srgbClr val="17364B"/>
                </a:solidFill>
              </a:rPr>
              <a:t>12 ms</a:t>
            </a:r>
            <a:endParaRPr sz="2175">
              <a:solidFill>
                <a:srgbClr val="17364B"/>
              </a:solidFill>
            </a:endParaRPr>
          </a:p>
        </p:txBody>
      </p:sp>
      <p:sp>
        <p:nvSpPr>
          <p:cNvPr id="594" name="Google Shape;594;p40"/>
          <p:cNvSpPr txBox="1"/>
          <p:nvPr/>
        </p:nvSpPr>
        <p:spPr>
          <a:xfrm>
            <a:off x="2857500" y="2686050"/>
            <a:ext cx="76200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005A9C"/>
                </a:solidFill>
              </a:rPr>
              <a:t>20 ms total</a:t>
            </a:r>
            <a:endParaRPr b="1" sz="2250">
              <a:solidFill>
                <a:srgbClr val="005A9C"/>
              </a:solidFill>
            </a:endParaRPr>
          </a:p>
        </p:txBody>
      </p:sp>
      <p:sp>
        <p:nvSpPr>
          <p:cNvPr id="595" name="Google Shape;595;p40"/>
          <p:cNvSpPr txBox="1"/>
          <p:nvPr/>
        </p:nvSpPr>
        <p:spPr>
          <a:xfrm>
            <a:off x="2857500" y="4572000"/>
            <a:ext cx="76200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26 ms total</a:t>
            </a:r>
            <a:endParaRPr b="1" sz="2250">
              <a:solidFill>
                <a:srgbClr val="147D64"/>
              </a:solidFill>
            </a:endParaRPr>
          </a:p>
        </p:txBody>
      </p:sp>
      <p:sp>
        <p:nvSpPr>
          <p:cNvPr id="596" name="Google Shape;596;p40"/>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Faster computation can still lose to transfer and launch costs.</a:t>
            </a:r>
            <a:endParaRPr b="1" sz="2025">
              <a:solidFill>
                <a:srgbClr val="002B49"/>
              </a:solidFill>
            </a:endParaRPr>
          </a:p>
        </p:txBody>
      </p:sp>
      <p:sp>
        <p:nvSpPr>
          <p:cNvPr id="597" name="Google Shape;597;p40"/>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33</a:t>
            </a:r>
            <a:endParaRPr sz="1350">
              <a:solidFill>
                <a:srgbClr val="61717D"/>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602" name="Shape 602"/>
        <p:cNvGrpSpPr/>
        <p:nvPr/>
      </p:nvGrpSpPr>
      <p:grpSpPr>
        <a:xfrm>
          <a:off x="0" y="0"/>
          <a:ext cx="0" cy="0"/>
          <a:chOff x="0" y="0"/>
          <a:chExt cx="0" cy="0"/>
        </a:xfrm>
      </p:grpSpPr>
      <p:sp>
        <p:nvSpPr>
          <p:cNvPr id="603" name="Google Shape;603;p41"/>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BREAK</a:t>
            </a:r>
            <a:endParaRPr b="1" sz="1875">
              <a:solidFill>
                <a:srgbClr val="FDB515"/>
              </a:solidFill>
            </a:endParaRPr>
          </a:p>
        </p:txBody>
      </p:sp>
      <p:sp>
        <p:nvSpPr>
          <p:cNvPr id="604" name="Google Shape;604;p41"/>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Break</a:t>
            </a:r>
            <a:endParaRPr b="1" sz="4500">
              <a:solidFill>
                <a:srgbClr val="FFFFFF"/>
              </a:solidFill>
            </a:endParaRPr>
          </a:p>
        </p:txBody>
      </p:sp>
      <p:sp>
        <p:nvSpPr>
          <p:cNvPr id="605" name="Google Shape;605;p41"/>
          <p:cNvSpPr txBox="1"/>
          <p:nvPr/>
        </p:nvSpPr>
        <p:spPr>
          <a:xfrm>
            <a:off x="685800" y="4333875"/>
            <a:ext cx="104775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700">
                <a:solidFill>
                  <a:srgbClr val="FFFFFF"/>
                </a:solidFill>
              </a:rPr>
              <a:t>Return at 10:30 a.m. PT / 1:30 p.m. ET</a:t>
            </a:r>
            <a:endParaRPr sz="2700">
              <a:solidFill>
                <a:srgbClr val="FFFFFF"/>
              </a:solidFill>
            </a:endParaRPr>
          </a:p>
        </p:txBody>
      </p:sp>
      <p:sp>
        <p:nvSpPr>
          <p:cNvPr id="606" name="Google Shape;606;p41"/>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34</a:t>
            </a:r>
            <a:endParaRPr sz="1350">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611" name="Shape 611"/>
        <p:cNvGrpSpPr/>
        <p:nvPr/>
      </p:nvGrpSpPr>
      <p:grpSpPr>
        <a:xfrm>
          <a:off x="0" y="0"/>
          <a:ext cx="0" cy="0"/>
          <a:chOff x="0" y="0"/>
          <a:chExt cx="0" cy="0"/>
        </a:xfrm>
      </p:grpSpPr>
      <p:sp>
        <p:nvSpPr>
          <p:cNvPr id="612" name="Google Shape;612;p42"/>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ASYNC</a:t>
            </a:r>
            <a:endParaRPr b="1" sz="1875">
              <a:solidFill>
                <a:srgbClr val="FDB515"/>
              </a:solidFill>
            </a:endParaRPr>
          </a:p>
        </p:txBody>
      </p:sp>
      <p:sp>
        <p:nvSpPr>
          <p:cNvPr id="613" name="Google Shape;613;p42"/>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Concurrency and async</a:t>
            </a:r>
            <a:endParaRPr b="1" sz="4500">
              <a:solidFill>
                <a:srgbClr val="FFFFFF"/>
              </a:solidFill>
            </a:endParaRPr>
          </a:p>
        </p:txBody>
      </p:sp>
      <p:sp>
        <p:nvSpPr>
          <p:cNvPr id="614" name="Google Shape;614;p42"/>
          <p:cNvSpPr txBox="1"/>
          <p:nvPr/>
        </p:nvSpPr>
        <p:spPr>
          <a:xfrm>
            <a:off x="685800" y="4333875"/>
            <a:ext cx="104775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While one task waits, another task may be able to make progress.</a:t>
            </a:r>
            <a:endParaRPr sz="2550">
              <a:solidFill>
                <a:srgbClr val="FFFFFF"/>
              </a:solidFill>
            </a:endParaRPr>
          </a:p>
        </p:txBody>
      </p:sp>
      <p:sp>
        <p:nvSpPr>
          <p:cNvPr id="615" name="Google Shape;615;p42"/>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35</a:t>
            </a:r>
            <a:endParaRPr sz="1350">
              <a:solidFill>
                <a:srgbClr val="FFFF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43"/>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Sequential, concurrent and parallel</a:t>
            </a:r>
            <a:endParaRPr b="1" sz="3300">
              <a:solidFill>
                <a:srgbClr val="002B49"/>
              </a:solidFill>
            </a:endParaRPr>
          </a:p>
        </p:txBody>
      </p:sp>
      <p:sp>
        <p:nvSpPr>
          <p:cNvPr id="622" name="Google Shape;622;p43"/>
          <p:cNvSpPr txBox="1"/>
          <p:nvPr/>
        </p:nvSpPr>
        <p:spPr>
          <a:xfrm>
            <a:off x="609600" y="1809750"/>
            <a:ext cx="23814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Sequential</a:t>
            </a:r>
            <a:endParaRPr b="1" sz="2325">
              <a:solidFill>
                <a:srgbClr val="005A9C"/>
              </a:solidFill>
            </a:endParaRPr>
          </a:p>
        </p:txBody>
      </p:sp>
      <p:sp>
        <p:nvSpPr>
          <p:cNvPr id="623" name="Google Shape;623;p43"/>
          <p:cNvSpPr txBox="1"/>
          <p:nvPr/>
        </p:nvSpPr>
        <p:spPr>
          <a:xfrm>
            <a:off x="609600" y="3238500"/>
            <a:ext cx="23814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Concurrent</a:t>
            </a:r>
            <a:endParaRPr b="1" sz="2325">
              <a:solidFill>
                <a:srgbClr val="005A9C"/>
              </a:solidFill>
            </a:endParaRPr>
          </a:p>
        </p:txBody>
      </p:sp>
      <p:sp>
        <p:nvSpPr>
          <p:cNvPr id="624" name="Google Shape;624;p43"/>
          <p:cNvSpPr txBox="1"/>
          <p:nvPr/>
        </p:nvSpPr>
        <p:spPr>
          <a:xfrm>
            <a:off x="609600" y="4667250"/>
            <a:ext cx="23814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Parallel</a:t>
            </a:r>
            <a:endParaRPr b="1" sz="2325">
              <a:solidFill>
                <a:srgbClr val="005A9C"/>
              </a:solidFill>
            </a:endParaRPr>
          </a:p>
        </p:txBody>
      </p:sp>
      <p:sp>
        <p:nvSpPr>
          <p:cNvPr id="625" name="Google Shape;625;p43"/>
          <p:cNvSpPr/>
          <p:nvPr/>
        </p:nvSpPr>
        <p:spPr>
          <a:xfrm>
            <a:off x="3286125" y="1809750"/>
            <a:ext cx="666900" cy="457200"/>
          </a:xfrm>
          <a:prstGeom prst="rect">
            <a:avLst/>
          </a:prstGeom>
          <a:solidFill>
            <a:srgbClr val="005A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A</a:t>
            </a:r>
            <a:endParaRPr sz="1800">
              <a:solidFill>
                <a:srgbClr val="FFFFFF"/>
              </a:solidFill>
            </a:endParaRPr>
          </a:p>
        </p:txBody>
      </p:sp>
      <p:sp>
        <p:nvSpPr>
          <p:cNvPr id="626" name="Google Shape;626;p43"/>
          <p:cNvSpPr/>
          <p:nvPr/>
        </p:nvSpPr>
        <p:spPr>
          <a:xfrm>
            <a:off x="3952875" y="1809750"/>
            <a:ext cx="1714500" cy="457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61717D"/>
                </a:solidFill>
              </a:rPr>
              <a:t>wait</a:t>
            </a:r>
            <a:endParaRPr sz="1800">
              <a:solidFill>
                <a:srgbClr val="61717D"/>
              </a:solidFill>
            </a:endParaRPr>
          </a:p>
        </p:txBody>
      </p:sp>
      <p:sp>
        <p:nvSpPr>
          <p:cNvPr id="627" name="Google Shape;627;p43"/>
          <p:cNvSpPr/>
          <p:nvPr/>
        </p:nvSpPr>
        <p:spPr>
          <a:xfrm>
            <a:off x="5667375" y="1809750"/>
            <a:ext cx="666900" cy="457200"/>
          </a:xfrm>
          <a:prstGeom prst="rect">
            <a:avLst/>
          </a:prstGeom>
          <a:solidFill>
            <a:srgbClr val="147D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B</a:t>
            </a:r>
            <a:endParaRPr sz="1800">
              <a:solidFill>
                <a:srgbClr val="FFFFFF"/>
              </a:solidFill>
            </a:endParaRPr>
          </a:p>
        </p:txBody>
      </p:sp>
      <p:sp>
        <p:nvSpPr>
          <p:cNvPr id="628" name="Google Shape;628;p43"/>
          <p:cNvSpPr/>
          <p:nvPr/>
        </p:nvSpPr>
        <p:spPr>
          <a:xfrm>
            <a:off x="6334125" y="1809750"/>
            <a:ext cx="1714500" cy="457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61717D"/>
                </a:solidFill>
              </a:rPr>
              <a:t>wait</a:t>
            </a:r>
            <a:endParaRPr sz="1800">
              <a:solidFill>
                <a:srgbClr val="61717D"/>
              </a:solidFill>
            </a:endParaRPr>
          </a:p>
        </p:txBody>
      </p:sp>
      <p:sp>
        <p:nvSpPr>
          <p:cNvPr id="629" name="Google Shape;629;p43"/>
          <p:cNvSpPr/>
          <p:nvPr/>
        </p:nvSpPr>
        <p:spPr>
          <a:xfrm>
            <a:off x="3286125" y="3238500"/>
            <a:ext cx="666900" cy="457200"/>
          </a:xfrm>
          <a:prstGeom prst="rect">
            <a:avLst/>
          </a:prstGeom>
          <a:solidFill>
            <a:srgbClr val="005A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A</a:t>
            </a:r>
            <a:endParaRPr sz="1800">
              <a:solidFill>
                <a:srgbClr val="FFFFFF"/>
              </a:solidFill>
            </a:endParaRPr>
          </a:p>
        </p:txBody>
      </p:sp>
      <p:sp>
        <p:nvSpPr>
          <p:cNvPr id="630" name="Google Shape;630;p43"/>
          <p:cNvSpPr/>
          <p:nvPr/>
        </p:nvSpPr>
        <p:spPr>
          <a:xfrm>
            <a:off x="3952875" y="3238500"/>
            <a:ext cx="666900" cy="457200"/>
          </a:xfrm>
          <a:prstGeom prst="rect">
            <a:avLst/>
          </a:prstGeom>
          <a:solidFill>
            <a:srgbClr val="147D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B</a:t>
            </a:r>
            <a:endParaRPr sz="1800">
              <a:solidFill>
                <a:srgbClr val="FFFFFF"/>
              </a:solidFill>
            </a:endParaRPr>
          </a:p>
        </p:txBody>
      </p:sp>
      <p:sp>
        <p:nvSpPr>
          <p:cNvPr id="631" name="Google Shape;631;p43"/>
          <p:cNvSpPr/>
          <p:nvPr/>
        </p:nvSpPr>
        <p:spPr>
          <a:xfrm>
            <a:off x="4619625" y="3238500"/>
            <a:ext cx="1714500" cy="457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61717D"/>
                </a:solidFill>
              </a:rPr>
              <a:t>waits</a:t>
            </a:r>
            <a:endParaRPr sz="1800">
              <a:solidFill>
                <a:srgbClr val="61717D"/>
              </a:solidFill>
            </a:endParaRPr>
          </a:p>
        </p:txBody>
      </p:sp>
      <p:sp>
        <p:nvSpPr>
          <p:cNvPr id="632" name="Google Shape;632;p43"/>
          <p:cNvSpPr/>
          <p:nvPr/>
        </p:nvSpPr>
        <p:spPr>
          <a:xfrm>
            <a:off x="3286125" y="4572000"/>
            <a:ext cx="1524000" cy="457200"/>
          </a:xfrm>
          <a:prstGeom prst="rect">
            <a:avLst/>
          </a:prstGeom>
          <a:solidFill>
            <a:srgbClr val="005A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A active</a:t>
            </a:r>
            <a:endParaRPr sz="1800">
              <a:solidFill>
                <a:srgbClr val="FFFFFF"/>
              </a:solidFill>
            </a:endParaRPr>
          </a:p>
        </p:txBody>
      </p:sp>
      <p:sp>
        <p:nvSpPr>
          <p:cNvPr id="633" name="Google Shape;633;p43"/>
          <p:cNvSpPr/>
          <p:nvPr/>
        </p:nvSpPr>
        <p:spPr>
          <a:xfrm>
            <a:off x="3286125" y="5143500"/>
            <a:ext cx="1524000" cy="457200"/>
          </a:xfrm>
          <a:prstGeom prst="rect">
            <a:avLst/>
          </a:prstGeom>
          <a:solidFill>
            <a:srgbClr val="147D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B active</a:t>
            </a:r>
            <a:endParaRPr sz="1800">
              <a:solidFill>
                <a:srgbClr val="FFFFFF"/>
              </a:solidFill>
            </a:endParaRPr>
          </a:p>
        </p:txBody>
      </p:sp>
      <p:sp>
        <p:nvSpPr>
          <p:cNvPr id="634" name="Google Shape;634;p43"/>
          <p:cNvSpPr txBox="1"/>
          <p:nvPr/>
        </p:nvSpPr>
        <p:spPr>
          <a:xfrm>
            <a:off x="8620125" y="3238500"/>
            <a:ext cx="28575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one execution thread</a:t>
            </a:r>
            <a:endParaRPr sz="1875">
              <a:solidFill>
                <a:srgbClr val="61717D"/>
              </a:solidFill>
            </a:endParaRPr>
          </a:p>
        </p:txBody>
      </p:sp>
      <p:sp>
        <p:nvSpPr>
          <p:cNvPr id="635" name="Google Shape;635;p43"/>
          <p:cNvSpPr txBox="1"/>
          <p:nvPr/>
        </p:nvSpPr>
        <p:spPr>
          <a:xfrm>
            <a:off x="8620125" y="4762500"/>
            <a:ext cx="2857500" cy="7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two execution resources</a:t>
            </a:r>
            <a:endParaRPr sz="1875">
              <a:solidFill>
                <a:srgbClr val="61717D"/>
              </a:solidFill>
            </a:endParaRPr>
          </a:p>
        </p:txBody>
      </p:sp>
      <p:sp>
        <p:nvSpPr>
          <p:cNvPr id="636" name="Google Shape;636;p43"/>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Overlapping waits and simultaneous computation are different mechanisms.</a:t>
            </a:r>
            <a:endParaRPr b="1" sz="2025">
              <a:solidFill>
                <a:srgbClr val="002B49"/>
              </a:solidFill>
            </a:endParaRPr>
          </a:p>
        </p:txBody>
      </p:sp>
      <p:sp>
        <p:nvSpPr>
          <p:cNvPr id="637" name="Google Shape;637;p43"/>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36</a:t>
            </a:r>
            <a:endParaRPr sz="1350">
              <a:solidFill>
                <a:srgbClr val="61717D"/>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2" name="Shape 642"/>
        <p:cNvGrpSpPr/>
        <p:nvPr/>
      </p:nvGrpSpPr>
      <p:grpSpPr>
        <a:xfrm>
          <a:off x="0" y="0"/>
          <a:ext cx="0" cy="0"/>
          <a:chOff x="0" y="0"/>
          <a:chExt cx="0" cy="0"/>
        </a:xfrm>
      </p:grpSpPr>
      <p:sp>
        <p:nvSpPr>
          <p:cNvPr id="643" name="Google Shape;643;p44"/>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What happens at await</a:t>
            </a:r>
            <a:endParaRPr b="1" sz="3300">
              <a:solidFill>
                <a:srgbClr val="002B49"/>
              </a:solidFill>
            </a:endParaRPr>
          </a:p>
        </p:txBody>
      </p:sp>
      <p:sp>
        <p:nvSpPr>
          <p:cNvPr id="644" name="Google Shape;644;p44"/>
          <p:cNvSpPr/>
          <p:nvPr/>
        </p:nvSpPr>
        <p:spPr>
          <a:xfrm>
            <a:off x="609600" y="1809750"/>
            <a:ext cx="3857700" cy="781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A: request starts</a:t>
            </a:r>
            <a:endParaRPr sz="2175">
              <a:solidFill>
                <a:srgbClr val="17364B"/>
              </a:solidFill>
            </a:endParaRPr>
          </a:p>
        </p:txBody>
      </p:sp>
      <p:sp>
        <p:nvSpPr>
          <p:cNvPr id="645" name="Google Shape;645;p44"/>
          <p:cNvSpPr/>
          <p:nvPr/>
        </p:nvSpPr>
        <p:spPr>
          <a:xfrm>
            <a:off x="7296150" y="1809750"/>
            <a:ext cx="4286400" cy="781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A: waiting</a:t>
            </a:r>
            <a:endParaRPr sz="2175">
              <a:solidFill>
                <a:srgbClr val="17364B"/>
              </a:solidFill>
            </a:endParaRPr>
          </a:p>
        </p:txBody>
      </p:sp>
      <p:cxnSp>
        <p:nvCxnSpPr>
          <p:cNvPr id="646" name="Google Shape;646;p44"/>
          <p:cNvCxnSpPr/>
          <p:nvPr/>
        </p:nvCxnSpPr>
        <p:spPr>
          <a:xfrm>
            <a:off x="4467225" y="2200275"/>
            <a:ext cx="2829000" cy="0"/>
          </a:xfrm>
          <a:prstGeom prst="straightConnector1">
            <a:avLst/>
          </a:prstGeom>
          <a:noFill/>
          <a:ln cap="flat" cmpd="sng" w="22850">
            <a:solidFill>
              <a:srgbClr val="147D64"/>
            </a:solidFill>
            <a:prstDash val="solid"/>
            <a:round/>
            <a:headEnd len="med" w="med" type="none"/>
            <a:tailEnd len="med" w="med" type="triangle"/>
          </a:ln>
        </p:spPr>
      </p:cxnSp>
      <p:sp>
        <p:nvSpPr>
          <p:cNvPr id="647" name="Google Shape;647;p44"/>
          <p:cNvSpPr/>
          <p:nvPr/>
        </p:nvSpPr>
        <p:spPr>
          <a:xfrm>
            <a:off x="609600" y="3238500"/>
            <a:ext cx="3857700" cy="781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B: request starts</a:t>
            </a:r>
            <a:endParaRPr sz="2175">
              <a:solidFill>
                <a:srgbClr val="17364B"/>
              </a:solidFill>
            </a:endParaRPr>
          </a:p>
        </p:txBody>
      </p:sp>
      <p:sp>
        <p:nvSpPr>
          <p:cNvPr id="648" name="Google Shape;648;p44"/>
          <p:cNvSpPr/>
          <p:nvPr/>
        </p:nvSpPr>
        <p:spPr>
          <a:xfrm>
            <a:off x="7296150" y="3238500"/>
            <a:ext cx="4286400" cy="781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B: waiting</a:t>
            </a:r>
            <a:endParaRPr sz="2175">
              <a:solidFill>
                <a:srgbClr val="17364B"/>
              </a:solidFill>
            </a:endParaRPr>
          </a:p>
        </p:txBody>
      </p:sp>
      <p:cxnSp>
        <p:nvCxnSpPr>
          <p:cNvPr id="649" name="Google Shape;649;p44"/>
          <p:cNvCxnSpPr/>
          <p:nvPr/>
        </p:nvCxnSpPr>
        <p:spPr>
          <a:xfrm>
            <a:off x="4467225" y="3629025"/>
            <a:ext cx="2829000" cy="0"/>
          </a:xfrm>
          <a:prstGeom prst="straightConnector1">
            <a:avLst/>
          </a:prstGeom>
          <a:noFill/>
          <a:ln cap="flat" cmpd="sng" w="22850">
            <a:solidFill>
              <a:srgbClr val="147D64"/>
            </a:solidFill>
            <a:prstDash val="solid"/>
            <a:round/>
            <a:headEnd len="med" w="med" type="none"/>
            <a:tailEnd len="med" w="med" type="triangle"/>
          </a:ln>
        </p:spPr>
      </p:cxnSp>
      <p:sp>
        <p:nvSpPr>
          <p:cNvPr id="650" name="Google Shape;650;p44"/>
          <p:cNvSpPr/>
          <p:nvPr/>
        </p:nvSpPr>
        <p:spPr>
          <a:xfrm>
            <a:off x="609600" y="4667250"/>
            <a:ext cx="3857700" cy="781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A: result ready</a:t>
            </a:r>
            <a:endParaRPr sz="2175">
              <a:solidFill>
                <a:srgbClr val="17364B"/>
              </a:solidFill>
            </a:endParaRPr>
          </a:p>
        </p:txBody>
      </p:sp>
      <p:sp>
        <p:nvSpPr>
          <p:cNvPr id="651" name="Google Shape;651;p44"/>
          <p:cNvSpPr/>
          <p:nvPr/>
        </p:nvSpPr>
        <p:spPr>
          <a:xfrm>
            <a:off x="7296150" y="4667250"/>
            <a:ext cx="4286400" cy="781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Task A: resumes</a:t>
            </a:r>
            <a:endParaRPr sz="2175">
              <a:solidFill>
                <a:srgbClr val="17364B"/>
              </a:solidFill>
            </a:endParaRPr>
          </a:p>
        </p:txBody>
      </p:sp>
      <p:cxnSp>
        <p:nvCxnSpPr>
          <p:cNvPr id="652" name="Google Shape;652;p44"/>
          <p:cNvCxnSpPr/>
          <p:nvPr/>
        </p:nvCxnSpPr>
        <p:spPr>
          <a:xfrm>
            <a:off x="4467225" y="5057775"/>
            <a:ext cx="2829000" cy="0"/>
          </a:xfrm>
          <a:prstGeom prst="straightConnector1">
            <a:avLst/>
          </a:prstGeom>
          <a:noFill/>
          <a:ln cap="flat" cmpd="sng" w="22850">
            <a:solidFill>
              <a:srgbClr val="147D64"/>
            </a:solidFill>
            <a:prstDash val="solid"/>
            <a:round/>
            <a:headEnd len="med" w="med" type="none"/>
            <a:tailEnd len="med" w="med" type="triangle"/>
          </a:ln>
        </p:spPr>
      </p:cxnSp>
      <p:sp>
        <p:nvSpPr>
          <p:cNvPr id="653" name="Google Shape;653;p44"/>
          <p:cNvSpPr txBox="1"/>
          <p:nvPr/>
        </p:nvSpPr>
        <p:spPr>
          <a:xfrm>
            <a:off x="4857750" y="2647950"/>
            <a:ext cx="2428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event loop runs ready work</a:t>
            </a:r>
            <a:endParaRPr sz="1875">
              <a:solidFill>
                <a:srgbClr val="61717D"/>
              </a:solidFill>
            </a:endParaRPr>
          </a:p>
        </p:txBody>
      </p:sp>
      <p:sp>
        <p:nvSpPr>
          <p:cNvPr id="654" name="Google Shape;654;p44"/>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37</a:t>
            </a:r>
            <a:endParaRPr sz="1350">
              <a:solidFill>
                <a:srgbClr val="61717D"/>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9" name="Shape 659"/>
        <p:cNvGrpSpPr/>
        <p:nvPr/>
      </p:nvGrpSpPr>
      <p:grpSpPr>
        <a:xfrm>
          <a:off x="0" y="0"/>
          <a:ext cx="0" cy="0"/>
          <a:chOff x="0" y="0"/>
          <a:chExt cx="0" cy="0"/>
        </a:xfrm>
      </p:grpSpPr>
      <p:sp>
        <p:nvSpPr>
          <p:cNvPr id="660" name="Google Shape;660;p45"/>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Scheduling independent waits</a:t>
            </a:r>
            <a:endParaRPr b="1" sz="3300">
              <a:solidFill>
                <a:srgbClr val="002B49"/>
              </a:solidFill>
            </a:endParaRPr>
          </a:p>
        </p:txBody>
      </p:sp>
      <p:sp>
        <p:nvSpPr>
          <p:cNvPr id="661" name="Google Shape;661;p45"/>
          <p:cNvSpPr/>
          <p:nvPr/>
        </p:nvSpPr>
        <p:spPr>
          <a:xfrm>
            <a:off x="609600" y="1571625"/>
            <a:ext cx="7239000" cy="4048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import asyncio</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async def fetch(i):</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    await asyncio.sleep(0.4)</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    return i, 100 + i</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results = await asyncio.gather(</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    *(fetch(i) for i in range(6))</a:t>
            </a:r>
            <a:endParaRPr sz="20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025">
                <a:solidFill>
                  <a:srgbClr val="17364B"/>
                </a:solidFill>
                <a:latin typeface="Roboto Mono"/>
                <a:ea typeface="Roboto Mono"/>
                <a:cs typeface="Roboto Mono"/>
                <a:sym typeface="Roboto Mono"/>
              </a:rPr>
              <a:t>)</a:t>
            </a:r>
            <a:endParaRPr sz="2025">
              <a:solidFill>
                <a:srgbClr val="17364B"/>
              </a:solidFill>
              <a:latin typeface="Roboto Mono"/>
              <a:ea typeface="Roboto Mono"/>
              <a:cs typeface="Roboto Mono"/>
              <a:sym typeface="Roboto Mono"/>
            </a:endParaRPr>
          </a:p>
        </p:txBody>
      </p:sp>
      <p:sp>
        <p:nvSpPr>
          <p:cNvPr id="662" name="Google Shape;662;p45"/>
          <p:cNvSpPr txBox="1"/>
          <p:nvPr/>
        </p:nvSpPr>
        <p:spPr>
          <a:xfrm>
            <a:off x="8382000" y="2190750"/>
            <a:ext cx="3143400" cy="28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75">
                <a:solidFill>
                  <a:srgbClr val="147D64"/>
                </a:solidFill>
              </a:rPr>
              <a:t>6 independent waits</a:t>
            </a:r>
            <a:endParaRPr b="1" sz="2175">
              <a:solidFill>
                <a:srgbClr val="147D64"/>
              </a:solidFill>
            </a:endParaRPr>
          </a:p>
          <a:p>
            <a:pPr indent="0" lvl="0" marL="0" rtl="0" algn="l">
              <a:spcBef>
                <a:spcPts val="0"/>
              </a:spcBef>
              <a:spcAft>
                <a:spcPts val="0"/>
              </a:spcAft>
              <a:buNone/>
            </a:pPr>
            <a:r>
              <a:t/>
            </a:r>
            <a:endParaRPr b="1" sz="2175">
              <a:solidFill>
                <a:srgbClr val="147D64"/>
              </a:solidFill>
            </a:endParaRPr>
          </a:p>
          <a:p>
            <a:pPr indent="0" lvl="0" marL="0" rtl="0" algn="l">
              <a:spcBef>
                <a:spcPts val="0"/>
              </a:spcBef>
              <a:spcAft>
                <a:spcPts val="0"/>
              </a:spcAft>
              <a:buNone/>
            </a:pPr>
            <a:r>
              <a:rPr b="1" lang="en-US" sz="2175">
                <a:solidFill>
                  <a:srgbClr val="147D64"/>
                </a:solidFill>
              </a:rPr>
              <a:t>Simulated I/O</a:t>
            </a:r>
            <a:endParaRPr b="1" sz="2175">
              <a:solidFill>
                <a:srgbClr val="147D64"/>
              </a:solidFill>
            </a:endParaRPr>
          </a:p>
          <a:p>
            <a:pPr indent="0" lvl="0" marL="0" rtl="0" algn="l">
              <a:spcBef>
                <a:spcPts val="0"/>
              </a:spcBef>
              <a:spcAft>
                <a:spcPts val="0"/>
              </a:spcAft>
              <a:buNone/>
            </a:pPr>
            <a:r>
              <a:t/>
            </a:r>
            <a:endParaRPr b="1" sz="2175">
              <a:solidFill>
                <a:srgbClr val="147D64"/>
              </a:solidFill>
            </a:endParaRPr>
          </a:p>
          <a:p>
            <a:pPr indent="0" lvl="0" marL="0" rtl="0" algn="l">
              <a:spcBef>
                <a:spcPts val="0"/>
              </a:spcBef>
              <a:spcAft>
                <a:spcPts val="0"/>
              </a:spcAft>
              <a:buNone/>
            </a:pPr>
            <a:r>
              <a:rPr b="1" lang="en-US" sz="2175">
                <a:solidFill>
                  <a:srgbClr val="147D64"/>
                </a:solidFill>
              </a:rPr>
              <a:t>Results stay in input order</a:t>
            </a:r>
            <a:endParaRPr b="1" sz="2175">
              <a:solidFill>
                <a:srgbClr val="147D64"/>
              </a:solidFill>
            </a:endParaRPr>
          </a:p>
        </p:txBody>
      </p:sp>
      <p:sp>
        <p:nvSpPr>
          <p:cNvPr id="663" name="Google Shape;663;p45"/>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async enables scheduling. The awaited operation provides the opportunity.</a:t>
            </a:r>
            <a:endParaRPr b="1" sz="2025">
              <a:solidFill>
                <a:srgbClr val="002B49"/>
              </a:solidFill>
            </a:endParaRPr>
          </a:p>
        </p:txBody>
      </p:sp>
      <p:sp>
        <p:nvSpPr>
          <p:cNvPr id="664" name="Google Shape;664;p45"/>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38</a:t>
            </a:r>
            <a:endParaRPr sz="1350">
              <a:solidFill>
                <a:srgbClr val="61717D"/>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9" name="Shape 669"/>
        <p:cNvGrpSpPr/>
        <p:nvPr/>
      </p:nvGrpSpPr>
      <p:grpSpPr>
        <a:xfrm>
          <a:off x="0" y="0"/>
          <a:ext cx="0" cy="0"/>
          <a:chOff x="0" y="0"/>
          <a:chExt cx="0" cy="0"/>
        </a:xfrm>
      </p:grpSpPr>
      <p:sp>
        <p:nvSpPr>
          <p:cNvPr id="670" name="Google Shape;670;p46"/>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Two slots bound the in-flight work</a:t>
            </a:r>
            <a:endParaRPr b="1" sz="3300">
              <a:solidFill>
                <a:srgbClr val="002B49"/>
              </a:solidFill>
            </a:endParaRPr>
          </a:p>
        </p:txBody>
      </p:sp>
      <p:sp>
        <p:nvSpPr>
          <p:cNvPr id="671" name="Google Shape;671;p46"/>
          <p:cNvSpPr txBox="1"/>
          <p:nvPr/>
        </p:nvSpPr>
        <p:spPr>
          <a:xfrm>
            <a:off x="609600" y="2190750"/>
            <a:ext cx="18096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Slot 1</a:t>
            </a:r>
            <a:endParaRPr b="1" sz="2325">
              <a:solidFill>
                <a:srgbClr val="005A9C"/>
              </a:solidFill>
            </a:endParaRPr>
          </a:p>
        </p:txBody>
      </p:sp>
      <p:sp>
        <p:nvSpPr>
          <p:cNvPr id="672" name="Google Shape;672;p46"/>
          <p:cNvSpPr/>
          <p:nvPr/>
        </p:nvSpPr>
        <p:spPr>
          <a:xfrm>
            <a:off x="2762250" y="2047875"/>
            <a:ext cx="2524200" cy="857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1</a:t>
            </a:r>
            <a:endParaRPr sz="2100">
              <a:solidFill>
                <a:srgbClr val="17364B"/>
              </a:solidFill>
            </a:endParaRPr>
          </a:p>
        </p:txBody>
      </p:sp>
      <p:sp>
        <p:nvSpPr>
          <p:cNvPr id="673" name="Google Shape;673;p46"/>
          <p:cNvSpPr/>
          <p:nvPr/>
        </p:nvSpPr>
        <p:spPr>
          <a:xfrm>
            <a:off x="5524500" y="2047875"/>
            <a:ext cx="2524200" cy="857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3</a:t>
            </a:r>
            <a:endParaRPr sz="2100">
              <a:solidFill>
                <a:srgbClr val="17364B"/>
              </a:solidFill>
            </a:endParaRPr>
          </a:p>
        </p:txBody>
      </p:sp>
      <p:sp>
        <p:nvSpPr>
          <p:cNvPr id="674" name="Google Shape;674;p46"/>
          <p:cNvSpPr/>
          <p:nvPr/>
        </p:nvSpPr>
        <p:spPr>
          <a:xfrm>
            <a:off x="8286750" y="2047875"/>
            <a:ext cx="2524200" cy="857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5</a:t>
            </a:r>
            <a:endParaRPr sz="2100">
              <a:solidFill>
                <a:srgbClr val="17364B"/>
              </a:solidFill>
            </a:endParaRPr>
          </a:p>
        </p:txBody>
      </p:sp>
      <p:sp>
        <p:nvSpPr>
          <p:cNvPr id="675" name="Google Shape;675;p46"/>
          <p:cNvSpPr txBox="1"/>
          <p:nvPr/>
        </p:nvSpPr>
        <p:spPr>
          <a:xfrm>
            <a:off x="609600" y="3429000"/>
            <a:ext cx="18096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25">
                <a:solidFill>
                  <a:srgbClr val="005A9C"/>
                </a:solidFill>
              </a:rPr>
              <a:t>Slot 2</a:t>
            </a:r>
            <a:endParaRPr b="1" sz="2325">
              <a:solidFill>
                <a:srgbClr val="005A9C"/>
              </a:solidFill>
            </a:endParaRPr>
          </a:p>
        </p:txBody>
      </p:sp>
      <p:sp>
        <p:nvSpPr>
          <p:cNvPr id="676" name="Google Shape;676;p46"/>
          <p:cNvSpPr/>
          <p:nvPr/>
        </p:nvSpPr>
        <p:spPr>
          <a:xfrm>
            <a:off x="2762250" y="3286125"/>
            <a:ext cx="2524200" cy="8574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2</a:t>
            </a:r>
            <a:endParaRPr sz="2100">
              <a:solidFill>
                <a:srgbClr val="17364B"/>
              </a:solidFill>
            </a:endParaRPr>
          </a:p>
        </p:txBody>
      </p:sp>
      <p:sp>
        <p:nvSpPr>
          <p:cNvPr id="677" name="Google Shape;677;p46"/>
          <p:cNvSpPr/>
          <p:nvPr/>
        </p:nvSpPr>
        <p:spPr>
          <a:xfrm>
            <a:off x="5524500" y="3286125"/>
            <a:ext cx="2524200" cy="8574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4</a:t>
            </a:r>
            <a:endParaRPr sz="2100">
              <a:solidFill>
                <a:srgbClr val="17364B"/>
              </a:solidFill>
            </a:endParaRPr>
          </a:p>
        </p:txBody>
      </p:sp>
      <p:sp>
        <p:nvSpPr>
          <p:cNvPr id="678" name="Google Shape;678;p46"/>
          <p:cNvSpPr/>
          <p:nvPr/>
        </p:nvSpPr>
        <p:spPr>
          <a:xfrm>
            <a:off x="8286750" y="3286125"/>
            <a:ext cx="2524200" cy="8574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Request 6</a:t>
            </a:r>
            <a:endParaRPr sz="2100">
              <a:solidFill>
                <a:srgbClr val="17364B"/>
              </a:solidFill>
            </a:endParaRPr>
          </a:p>
        </p:txBody>
      </p:sp>
      <p:sp>
        <p:nvSpPr>
          <p:cNvPr id="679" name="Google Shape;679;p46"/>
          <p:cNvSpPr txBox="1"/>
          <p:nvPr/>
        </p:nvSpPr>
        <p:spPr>
          <a:xfrm>
            <a:off x="2762250" y="4714875"/>
            <a:ext cx="1905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0.0</a:t>
            </a:r>
            <a:endParaRPr sz="1875">
              <a:solidFill>
                <a:srgbClr val="61717D"/>
              </a:solidFill>
            </a:endParaRPr>
          </a:p>
        </p:txBody>
      </p:sp>
      <p:sp>
        <p:nvSpPr>
          <p:cNvPr id="680" name="Google Shape;680;p46"/>
          <p:cNvSpPr txBox="1"/>
          <p:nvPr/>
        </p:nvSpPr>
        <p:spPr>
          <a:xfrm>
            <a:off x="5524500" y="4714875"/>
            <a:ext cx="1905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0.4</a:t>
            </a:r>
            <a:endParaRPr sz="1875">
              <a:solidFill>
                <a:srgbClr val="61717D"/>
              </a:solidFill>
            </a:endParaRPr>
          </a:p>
        </p:txBody>
      </p:sp>
      <p:sp>
        <p:nvSpPr>
          <p:cNvPr id="681" name="Google Shape;681;p46"/>
          <p:cNvSpPr txBox="1"/>
          <p:nvPr/>
        </p:nvSpPr>
        <p:spPr>
          <a:xfrm>
            <a:off x="8286750" y="4714875"/>
            <a:ext cx="1905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0.8</a:t>
            </a:r>
            <a:endParaRPr sz="1875">
              <a:solidFill>
                <a:srgbClr val="61717D"/>
              </a:solidFill>
            </a:endParaRPr>
          </a:p>
        </p:txBody>
      </p:sp>
      <p:sp>
        <p:nvSpPr>
          <p:cNvPr id="682" name="Google Shape;682;p46"/>
          <p:cNvSpPr txBox="1"/>
          <p:nvPr/>
        </p:nvSpPr>
        <p:spPr>
          <a:xfrm>
            <a:off x="10668000" y="4714875"/>
            <a:ext cx="1905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75">
                <a:solidFill>
                  <a:srgbClr val="61717D"/>
                </a:solidFill>
              </a:rPr>
              <a:t>1.2 seconds</a:t>
            </a:r>
            <a:endParaRPr sz="1875">
              <a:solidFill>
                <a:srgbClr val="61717D"/>
              </a:solidFill>
            </a:endParaRPr>
          </a:p>
        </p:txBody>
      </p:sp>
      <p:sp>
        <p:nvSpPr>
          <p:cNvPr id="683" name="Google Shape;683;p46"/>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concurrency limit bounds active requests. It is not a rate limit.</a:t>
            </a:r>
            <a:endParaRPr b="1" sz="2025">
              <a:solidFill>
                <a:srgbClr val="002B49"/>
              </a:solidFill>
            </a:endParaRPr>
          </a:p>
        </p:txBody>
      </p:sp>
      <p:sp>
        <p:nvSpPr>
          <p:cNvPr id="684" name="Google Shape;684;p46"/>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39</a:t>
            </a:r>
            <a:endParaRPr sz="1350">
              <a:solidFill>
                <a:srgbClr val="61717D"/>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9" name="Shape 689"/>
        <p:cNvGrpSpPr/>
        <p:nvPr/>
      </p:nvGrpSpPr>
      <p:grpSpPr>
        <a:xfrm>
          <a:off x="0" y="0"/>
          <a:ext cx="0" cy="0"/>
          <a:chOff x="0" y="0"/>
          <a:chExt cx="0" cy="0"/>
        </a:xfrm>
      </p:grpSpPr>
      <p:sp>
        <p:nvSpPr>
          <p:cNvPr id="690" name="Google Shape;690;p47"/>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Choosing an execution mechanism</a:t>
            </a:r>
            <a:endParaRPr b="1" sz="3300">
              <a:solidFill>
                <a:srgbClr val="002B49"/>
              </a:solidFill>
            </a:endParaRPr>
          </a:p>
        </p:txBody>
      </p:sp>
      <p:graphicFrame>
        <p:nvGraphicFramePr>
          <p:cNvPr id="691" name="Google Shape;691;p47"/>
          <p:cNvGraphicFramePr/>
          <p:nvPr/>
        </p:nvGraphicFramePr>
        <p:xfrm>
          <a:off x="609600" y="1762125"/>
          <a:ext cx="3000000" cy="3000000"/>
        </p:xfrm>
        <a:graphic>
          <a:graphicData uri="http://schemas.openxmlformats.org/drawingml/2006/table">
            <a:tbl>
              <a:tblPr>
                <a:noFill/>
                <a:tableStyleId>{739E50A3-21F2-4E9A-B190-4EFA897D3436}</a:tableStyleId>
              </a:tblPr>
              <a:tblGrid>
                <a:gridCol w="2381250"/>
                <a:gridCol w="4000500"/>
                <a:gridCol w="4591050"/>
              </a:tblGrid>
              <a:tr h="833425">
                <a:tc>
                  <a:txBody>
                    <a:bodyPr/>
                    <a:lstStyle/>
                    <a:p>
                      <a:pPr indent="0" lvl="0" marL="0" rtl="0" algn="l">
                        <a:spcBef>
                          <a:spcPts val="0"/>
                        </a:spcBef>
                        <a:spcAft>
                          <a:spcPts val="0"/>
                        </a:spcAft>
                        <a:buNone/>
                      </a:pPr>
                      <a:r>
                        <a:rPr b="1" lang="en-US" sz="1875">
                          <a:solidFill>
                            <a:srgbClr val="FFFFFF"/>
                          </a:solidFill>
                        </a:rPr>
                        <a:t>Mechanism</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Useful when</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Main cost / constraint</a:t>
                      </a:r>
                      <a:endParaRPr b="1" sz="1875">
                        <a:solidFill>
                          <a:srgbClr val="FFFFFF"/>
                        </a:solidFill>
                      </a:endParaRPr>
                    </a:p>
                  </a:txBody>
                  <a:tcPr marT="91425" marB="91425" marR="91425" marL="91425" anchor="ctr">
                    <a:solidFill>
                      <a:srgbClr val="002B49"/>
                    </a:solidFill>
                  </a:tcPr>
                </a:tc>
              </a:tr>
              <a:tr h="833425">
                <a:tc>
                  <a:txBody>
                    <a:bodyPr/>
                    <a:lstStyle/>
                    <a:p>
                      <a:pPr indent="0" lvl="0" marL="0" rtl="0" algn="l">
                        <a:spcBef>
                          <a:spcPts val="0"/>
                        </a:spcBef>
                        <a:spcAft>
                          <a:spcPts val="0"/>
                        </a:spcAft>
                        <a:buNone/>
                      </a:pPr>
                      <a:r>
                        <a:rPr lang="en-US" sz="1875">
                          <a:solidFill>
                            <a:srgbClr val="17364B"/>
                          </a:solidFill>
                        </a:rPr>
                        <a:t>Async tasks</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Many I/O waits; async libraries</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Blocking the event loop stalls tasks</a:t>
                      </a:r>
                      <a:endParaRPr sz="1875">
                        <a:solidFill>
                          <a:srgbClr val="17364B"/>
                        </a:solidFill>
                      </a:endParaRPr>
                    </a:p>
                  </a:txBody>
                  <a:tcPr marT="91425" marB="91425" marR="91425" marL="91425" anchor="ctr">
                    <a:solidFill>
                      <a:srgbClr val="FFFFFF"/>
                    </a:solidFill>
                  </a:tcPr>
                </a:tc>
              </a:tr>
              <a:tr h="833425">
                <a:tc>
                  <a:txBody>
                    <a:bodyPr/>
                    <a:lstStyle/>
                    <a:p>
                      <a:pPr indent="0" lvl="0" marL="0" rtl="0" algn="l">
                        <a:spcBef>
                          <a:spcPts val="0"/>
                        </a:spcBef>
                        <a:spcAft>
                          <a:spcPts val="0"/>
                        </a:spcAft>
                        <a:buNone/>
                      </a:pPr>
                      <a:r>
                        <a:rPr lang="en-US" sz="1875">
                          <a:solidFill>
                            <a:srgbClr val="17364B"/>
                          </a:solidFill>
                        </a:rPr>
                        <a:t>Threads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Blocking I/O; some native routines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Shared mutable state needs care</a:t>
                      </a:r>
                      <a:endParaRPr sz="1875">
                        <a:solidFill>
                          <a:srgbClr val="17364B"/>
                        </a:solidFill>
                      </a:endParaRPr>
                    </a:p>
                  </a:txBody>
                  <a:tcPr marT="91425" marB="91425" marR="91425" marL="91425" anchor="ctr">
                    <a:solidFill>
                      <a:srgbClr val="F0F4F7"/>
                    </a:solidFill>
                  </a:tcPr>
                </a:tc>
              </a:tr>
              <a:tr h="833425">
                <a:tc>
                  <a:txBody>
                    <a:bodyPr/>
                    <a:lstStyle/>
                    <a:p>
                      <a:pPr indent="0" lvl="0" marL="0" rtl="0" algn="l">
                        <a:spcBef>
                          <a:spcPts val="0"/>
                        </a:spcBef>
                        <a:spcAft>
                          <a:spcPts val="0"/>
                        </a:spcAft>
                        <a:buNone/>
                      </a:pPr>
                      <a:r>
                        <a:rPr lang="en-US" sz="1875">
                          <a:solidFill>
                            <a:srgbClr val="17364B"/>
                          </a:solidFill>
                        </a:rPr>
                        <a:t>Processes</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Independent Python CPU work</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Startup, serialization, separate memory</a:t>
                      </a:r>
                      <a:endParaRPr sz="1875">
                        <a:solidFill>
                          <a:srgbClr val="17364B"/>
                        </a:solidFill>
                      </a:endParaRPr>
                    </a:p>
                  </a:txBody>
                  <a:tcPr marT="91425" marB="91425" marR="91425" marL="91425" anchor="ctr">
                    <a:solidFill>
                      <a:srgbClr val="FFFFFF"/>
                    </a:solidFill>
                  </a:tcPr>
                </a:tc>
              </a:tr>
            </a:tbl>
          </a:graphicData>
        </a:graphic>
      </p:graphicFrame>
      <p:sp>
        <p:nvSpPr>
          <p:cNvPr id="692" name="Google Shape;692;p47"/>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Choose for the work being done, then measure the whole operation.</a:t>
            </a:r>
            <a:endParaRPr b="1" sz="2025">
              <a:solidFill>
                <a:srgbClr val="002B49"/>
              </a:solidFill>
            </a:endParaRPr>
          </a:p>
        </p:txBody>
      </p:sp>
      <p:sp>
        <p:nvSpPr>
          <p:cNvPr id="693" name="Google Shape;693;p47"/>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40</a:t>
            </a:r>
            <a:endParaRPr sz="1350">
              <a:solidFill>
                <a:srgbClr val="61717D"/>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8" name="Shape 698"/>
        <p:cNvGrpSpPr/>
        <p:nvPr/>
      </p:nvGrpSpPr>
      <p:grpSpPr>
        <a:xfrm>
          <a:off x="0" y="0"/>
          <a:ext cx="0" cy="0"/>
          <a:chOff x="0" y="0"/>
          <a:chExt cx="0" cy="0"/>
        </a:xfrm>
      </p:grpSpPr>
      <p:sp>
        <p:nvSpPr>
          <p:cNvPr id="699" name="Google Shape;699;p48"/>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Demo B: waiting, limits and failures</a:t>
            </a:r>
            <a:endParaRPr b="1" sz="3300">
              <a:solidFill>
                <a:srgbClr val="002B49"/>
              </a:solidFill>
            </a:endParaRPr>
          </a:p>
        </p:txBody>
      </p:sp>
      <p:sp>
        <p:nvSpPr>
          <p:cNvPr id="700" name="Google Shape;700;p48"/>
          <p:cNvSpPr txBox="1"/>
          <p:nvPr/>
        </p:nvSpPr>
        <p:spPr>
          <a:xfrm>
            <a:off x="609600" y="1666875"/>
            <a:ext cx="24765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75">
                <a:solidFill>
                  <a:srgbClr val="005A9C"/>
                </a:solidFill>
              </a:rPr>
              <a:t>Predict</a:t>
            </a:r>
            <a:endParaRPr b="1" sz="2475">
              <a:solidFill>
                <a:srgbClr val="005A9C"/>
              </a:solidFill>
            </a:endParaRPr>
          </a:p>
        </p:txBody>
      </p:sp>
      <p:sp>
        <p:nvSpPr>
          <p:cNvPr id="701" name="Google Shape;701;p48"/>
          <p:cNvSpPr txBox="1"/>
          <p:nvPr/>
        </p:nvSpPr>
        <p:spPr>
          <a:xfrm>
            <a:off x="3581400" y="1666875"/>
            <a:ext cx="80010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75">
                <a:solidFill>
                  <a:srgbClr val="17364B"/>
                </a:solidFill>
              </a:rPr>
              <a:t>6 × 0.4 s waits</a:t>
            </a:r>
            <a:endParaRPr sz="2475">
              <a:solidFill>
                <a:srgbClr val="17364B"/>
              </a:solidFill>
            </a:endParaRPr>
          </a:p>
          <a:p>
            <a:pPr indent="0" lvl="0" marL="0" rtl="0" algn="l">
              <a:spcBef>
                <a:spcPts val="0"/>
              </a:spcBef>
              <a:spcAft>
                <a:spcPts val="0"/>
              </a:spcAft>
              <a:buNone/>
            </a:pPr>
            <a:r>
              <a:rPr lang="en-US" sz="2475">
                <a:solidFill>
                  <a:srgbClr val="17364B"/>
                </a:solidFill>
              </a:rPr>
              <a:t>What changes with 1, 2 or 6 slots?</a:t>
            </a:r>
            <a:endParaRPr sz="2475">
              <a:solidFill>
                <a:srgbClr val="17364B"/>
              </a:solidFill>
            </a:endParaRPr>
          </a:p>
        </p:txBody>
      </p:sp>
      <p:sp>
        <p:nvSpPr>
          <p:cNvPr id="702" name="Google Shape;702;p48"/>
          <p:cNvSpPr txBox="1"/>
          <p:nvPr/>
        </p:nvSpPr>
        <p:spPr>
          <a:xfrm>
            <a:off x="609600" y="3190875"/>
            <a:ext cx="24765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75">
                <a:solidFill>
                  <a:srgbClr val="147D64"/>
                </a:solidFill>
              </a:rPr>
              <a:t>Check</a:t>
            </a:r>
            <a:endParaRPr b="1" sz="2475">
              <a:solidFill>
                <a:srgbClr val="147D64"/>
              </a:solidFill>
            </a:endParaRPr>
          </a:p>
        </p:txBody>
      </p:sp>
      <p:sp>
        <p:nvSpPr>
          <p:cNvPr id="703" name="Google Shape;703;p48"/>
          <p:cNvSpPr txBox="1"/>
          <p:nvPr/>
        </p:nvSpPr>
        <p:spPr>
          <a:xfrm>
            <a:off x="3581400" y="3190875"/>
            <a:ext cx="8001000" cy="15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rgbClr val="17364B"/>
                </a:solidFill>
              </a:rPr>
              <a:t>Same requested IDs and values</a:t>
            </a:r>
            <a:endParaRPr sz="2400">
              <a:solidFill>
                <a:srgbClr val="17364B"/>
              </a:solidFill>
            </a:endParaRPr>
          </a:p>
          <a:p>
            <a:pPr indent="0" lvl="0" marL="0" rtl="0" algn="l">
              <a:spcBef>
                <a:spcPts val="0"/>
              </a:spcBef>
              <a:spcAft>
                <a:spcPts val="0"/>
              </a:spcAft>
              <a:buNone/>
            </a:pPr>
            <a:r>
              <a:rPr lang="en-US" sz="2400">
                <a:solidFill>
                  <a:srgbClr val="17364B"/>
                </a:solidFill>
              </a:rPr>
              <a:t>Maximum active requests</a:t>
            </a:r>
            <a:endParaRPr sz="2400">
              <a:solidFill>
                <a:srgbClr val="17364B"/>
              </a:solidFill>
            </a:endParaRPr>
          </a:p>
          <a:p>
            <a:pPr indent="0" lvl="0" marL="0" rtl="0" algn="l">
              <a:spcBef>
                <a:spcPts val="0"/>
              </a:spcBef>
              <a:spcAft>
                <a:spcPts val="0"/>
              </a:spcAft>
              <a:buNone/>
            </a:pPr>
            <a:r>
              <a:rPr lang="en-US" sz="2400">
                <a:solidFill>
                  <a:srgbClr val="17364B"/>
                </a:solidFill>
              </a:rPr>
              <a:t>One explicit record for each failure</a:t>
            </a:r>
            <a:endParaRPr sz="2400">
              <a:solidFill>
                <a:srgbClr val="17364B"/>
              </a:solidFill>
            </a:endParaRPr>
          </a:p>
        </p:txBody>
      </p:sp>
      <p:sp>
        <p:nvSpPr>
          <p:cNvPr id="704" name="Google Shape;704;p48"/>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faster run is useful only if it still produces the required outcomes.</a:t>
            </a:r>
            <a:endParaRPr b="1" sz="2025">
              <a:solidFill>
                <a:srgbClr val="002B49"/>
              </a:solidFill>
            </a:endParaRPr>
          </a:p>
        </p:txBody>
      </p:sp>
      <p:sp>
        <p:nvSpPr>
          <p:cNvPr id="705" name="Google Shape;705;p48"/>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41</a:t>
            </a:r>
            <a:endParaRPr sz="1350">
              <a:solidFill>
                <a:srgbClr val="61717D"/>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710" name="Shape 710"/>
        <p:cNvGrpSpPr/>
        <p:nvPr/>
      </p:nvGrpSpPr>
      <p:grpSpPr>
        <a:xfrm>
          <a:off x="0" y="0"/>
          <a:ext cx="0" cy="0"/>
          <a:chOff x="0" y="0"/>
          <a:chExt cx="0" cy="0"/>
        </a:xfrm>
      </p:grpSpPr>
      <p:sp>
        <p:nvSpPr>
          <p:cNvPr id="711" name="Google Shape;711;p49"/>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LLM AND KV CACHE</a:t>
            </a:r>
            <a:endParaRPr b="1" sz="1875">
              <a:solidFill>
                <a:srgbClr val="FDB515"/>
              </a:solidFill>
            </a:endParaRPr>
          </a:p>
        </p:txBody>
      </p:sp>
      <p:sp>
        <p:nvSpPr>
          <p:cNvPr id="712" name="Google Shape;712;p49"/>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LLM execution and KV cache</a:t>
            </a:r>
            <a:endParaRPr b="1" sz="4500">
              <a:solidFill>
                <a:srgbClr val="FFFFFF"/>
              </a:solidFill>
            </a:endParaRPr>
          </a:p>
        </p:txBody>
      </p:sp>
      <p:sp>
        <p:nvSpPr>
          <p:cNvPr id="713" name="Google Shape;713;p49"/>
          <p:cNvSpPr txBox="1"/>
          <p:nvPr/>
        </p:nvSpPr>
        <p:spPr>
          <a:xfrm>
            <a:off x="685800" y="4333875"/>
            <a:ext cx="104775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Reuse earlier computation while keeping its intermediate results in memory.</a:t>
            </a:r>
            <a:endParaRPr sz="2550">
              <a:solidFill>
                <a:srgbClr val="FFFFFF"/>
              </a:solidFill>
            </a:endParaRPr>
          </a:p>
        </p:txBody>
      </p:sp>
      <p:sp>
        <p:nvSpPr>
          <p:cNvPr id="714" name="Google Shape;714;p49"/>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42</a:t>
            </a:r>
            <a:endParaRPr sz="1350">
              <a:solidFill>
                <a:srgbClr val="FFFF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p50"/>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One request through an LLM service</a:t>
            </a:r>
            <a:endParaRPr b="1" sz="3300">
              <a:solidFill>
                <a:srgbClr val="002B49"/>
              </a:solidFill>
            </a:endParaRPr>
          </a:p>
        </p:txBody>
      </p:sp>
      <p:sp>
        <p:nvSpPr>
          <p:cNvPr id="721" name="Google Shape;721;p50"/>
          <p:cNvSpPr/>
          <p:nvPr/>
        </p:nvSpPr>
        <p:spPr>
          <a:xfrm>
            <a:off x="609600" y="2286000"/>
            <a:ext cx="2190900" cy="1238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Your client</a:t>
            </a:r>
            <a:endParaRPr sz="2100">
              <a:solidFill>
                <a:srgbClr val="17364B"/>
              </a:solidFill>
            </a:endParaRPr>
          </a:p>
          <a:p>
            <a:pPr indent="0" lvl="0" marL="0" rtl="0" algn="ctr">
              <a:spcBef>
                <a:spcPts val="0"/>
              </a:spcBef>
              <a:spcAft>
                <a:spcPts val="0"/>
              </a:spcAft>
              <a:buNone/>
            </a:pPr>
            <a:r>
              <a:rPr lang="en-US" sz="2100">
                <a:solidFill>
                  <a:srgbClr val="17364B"/>
                </a:solidFill>
              </a:rPr>
              <a:t>prompt</a:t>
            </a:r>
            <a:endParaRPr sz="2100">
              <a:solidFill>
                <a:srgbClr val="17364B"/>
              </a:solidFill>
            </a:endParaRPr>
          </a:p>
        </p:txBody>
      </p:sp>
      <p:sp>
        <p:nvSpPr>
          <p:cNvPr id="722" name="Google Shape;722;p50"/>
          <p:cNvSpPr/>
          <p:nvPr/>
        </p:nvSpPr>
        <p:spPr>
          <a:xfrm>
            <a:off x="3714750" y="2286000"/>
            <a:ext cx="2857500" cy="12384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Server CPU</a:t>
            </a:r>
            <a:endParaRPr sz="2100">
              <a:solidFill>
                <a:srgbClr val="17364B"/>
              </a:solidFill>
            </a:endParaRPr>
          </a:p>
          <a:p>
            <a:pPr indent="0" lvl="0" marL="0" rtl="0" algn="ctr">
              <a:spcBef>
                <a:spcPts val="0"/>
              </a:spcBef>
              <a:spcAft>
                <a:spcPts val="0"/>
              </a:spcAft>
              <a:buNone/>
            </a:pPr>
            <a:r>
              <a:rPr lang="en-US" sz="2100">
                <a:solidFill>
                  <a:srgbClr val="17364B"/>
                </a:solidFill>
              </a:rPr>
              <a:t>tokenize + schedule</a:t>
            </a:r>
            <a:endParaRPr sz="2100">
              <a:solidFill>
                <a:srgbClr val="17364B"/>
              </a:solidFill>
            </a:endParaRPr>
          </a:p>
        </p:txBody>
      </p:sp>
      <p:sp>
        <p:nvSpPr>
          <p:cNvPr id="723" name="Google Shape;723;p50"/>
          <p:cNvSpPr/>
          <p:nvPr/>
        </p:nvSpPr>
        <p:spPr>
          <a:xfrm>
            <a:off x="7620000" y="2286000"/>
            <a:ext cx="3810000" cy="12384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Accelerator + memory</a:t>
            </a:r>
            <a:endParaRPr sz="2100">
              <a:solidFill>
                <a:srgbClr val="17364B"/>
              </a:solidFill>
            </a:endParaRPr>
          </a:p>
          <a:p>
            <a:pPr indent="0" lvl="0" marL="0" rtl="0" algn="ctr">
              <a:spcBef>
                <a:spcPts val="0"/>
              </a:spcBef>
              <a:spcAft>
                <a:spcPts val="0"/>
              </a:spcAft>
              <a:buNone/>
            </a:pPr>
            <a:r>
              <a:rPr lang="en-US" sz="2100">
                <a:solidFill>
                  <a:srgbClr val="17364B"/>
                </a:solidFill>
              </a:rPr>
              <a:t>model inference</a:t>
            </a:r>
            <a:endParaRPr sz="2100">
              <a:solidFill>
                <a:srgbClr val="17364B"/>
              </a:solidFill>
            </a:endParaRPr>
          </a:p>
        </p:txBody>
      </p:sp>
      <p:cxnSp>
        <p:nvCxnSpPr>
          <p:cNvPr id="724" name="Google Shape;724;p50"/>
          <p:cNvCxnSpPr/>
          <p:nvPr/>
        </p:nvCxnSpPr>
        <p:spPr>
          <a:xfrm>
            <a:off x="2800350" y="2905125"/>
            <a:ext cx="914400" cy="0"/>
          </a:xfrm>
          <a:prstGeom prst="straightConnector1">
            <a:avLst/>
          </a:prstGeom>
          <a:noFill/>
          <a:ln cap="flat" cmpd="sng" w="22850">
            <a:solidFill>
              <a:srgbClr val="005A9C"/>
            </a:solidFill>
            <a:prstDash val="solid"/>
            <a:round/>
            <a:headEnd len="med" w="med" type="none"/>
            <a:tailEnd len="med" w="med" type="triangle"/>
          </a:ln>
        </p:spPr>
      </p:cxnSp>
      <p:cxnSp>
        <p:nvCxnSpPr>
          <p:cNvPr id="725" name="Google Shape;725;p50"/>
          <p:cNvCxnSpPr/>
          <p:nvPr/>
        </p:nvCxnSpPr>
        <p:spPr>
          <a:xfrm>
            <a:off x="6572250" y="2905125"/>
            <a:ext cx="1047900" cy="0"/>
          </a:xfrm>
          <a:prstGeom prst="straightConnector1">
            <a:avLst/>
          </a:prstGeom>
          <a:noFill/>
          <a:ln cap="flat" cmpd="sng" w="22850">
            <a:solidFill>
              <a:srgbClr val="005A9C"/>
            </a:solidFill>
            <a:prstDash val="solid"/>
            <a:round/>
            <a:headEnd len="med" w="med" type="none"/>
            <a:tailEnd len="med" w="med" type="triangle"/>
          </a:ln>
        </p:spPr>
      </p:cxnSp>
      <p:cxnSp>
        <p:nvCxnSpPr>
          <p:cNvPr id="726" name="Google Shape;726;p50"/>
          <p:cNvCxnSpPr/>
          <p:nvPr/>
        </p:nvCxnSpPr>
        <p:spPr>
          <a:xfrm>
            <a:off x="9525000" y="3524250"/>
            <a:ext cx="0" cy="1238400"/>
          </a:xfrm>
          <a:prstGeom prst="straightConnector1">
            <a:avLst/>
          </a:prstGeom>
          <a:noFill/>
          <a:ln cap="flat" cmpd="sng" w="22850">
            <a:solidFill>
              <a:srgbClr val="147D64"/>
            </a:solidFill>
            <a:prstDash val="solid"/>
            <a:round/>
            <a:headEnd len="med" w="med" type="none"/>
            <a:tailEnd len="med" w="med" type="triangle"/>
          </a:ln>
        </p:spPr>
      </p:cxnSp>
      <p:cxnSp>
        <p:nvCxnSpPr>
          <p:cNvPr id="727" name="Google Shape;727;p50"/>
          <p:cNvCxnSpPr/>
          <p:nvPr/>
        </p:nvCxnSpPr>
        <p:spPr>
          <a:xfrm rot="10800000">
            <a:off x="1809600" y="4762500"/>
            <a:ext cx="7715400" cy="0"/>
          </a:xfrm>
          <a:prstGeom prst="straightConnector1">
            <a:avLst/>
          </a:prstGeom>
          <a:noFill/>
          <a:ln cap="flat" cmpd="sng" w="22850">
            <a:solidFill>
              <a:srgbClr val="147D64"/>
            </a:solidFill>
            <a:prstDash val="solid"/>
            <a:round/>
            <a:headEnd len="med" w="med" type="none"/>
            <a:tailEnd len="med" w="med" type="triangle"/>
          </a:ln>
        </p:spPr>
      </p:cxnSp>
      <p:cxnSp>
        <p:nvCxnSpPr>
          <p:cNvPr id="728" name="Google Shape;728;p50"/>
          <p:cNvCxnSpPr/>
          <p:nvPr/>
        </p:nvCxnSpPr>
        <p:spPr>
          <a:xfrm rot="10800000">
            <a:off x="1809750" y="3524400"/>
            <a:ext cx="0" cy="1238100"/>
          </a:xfrm>
          <a:prstGeom prst="straightConnector1">
            <a:avLst/>
          </a:prstGeom>
          <a:noFill/>
          <a:ln cap="flat" cmpd="sng" w="22850">
            <a:solidFill>
              <a:srgbClr val="147D64"/>
            </a:solidFill>
            <a:prstDash val="solid"/>
            <a:round/>
            <a:headEnd len="med" w="med" type="none"/>
            <a:tailEnd len="med" w="med" type="triangle"/>
          </a:ln>
        </p:spPr>
      </p:cxnSp>
      <p:sp>
        <p:nvSpPr>
          <p:cNvPr id="729" name="Google Shape;729;p50"/>
          <p:cNvSpPr txBox="1"/>
          <p:nvPr/>
        </p:nvSpPr>
        <p:spPr>
          <a:xfrm>
            <a:off x="3333750" y="4981575"/>
            <a:ext cx="79059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75">
                <a:solidFill>
                  <a:srgbClr val="147D64"/>
                </a:solidFill>
              </a:rPr>
              <a:t>generated tokens return as a streamed response</a:t>
            </a:r>
            <a:endParaRPr b="1" sz="2175">
              <a:solidFill>
                <a:srgbClr val="147D64"/>
              </a:solidFill>
            </a:endParaRPr>
          </a:p>
        </p:txBody>
      </p:sp>
      <p:sp>
        <p:nvSpPr>
          <p:cNvPr id="730" name="Google Shape;730;p50"/>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Network, scheduling, computation and memory can each add latency.</a:t>
            </a:r>
            <a:endParaRPr b="1" sz="2025">
              <a:solidFill>
                <a:srgbClr val="002B49"/>
              </a:solidFill>
            </a:endParaRPr>
          </a:p>
        </p:txBody>
      </p:sp>
      <p:sp>
        <p:nvSpPr>
          <p:cNvPr id="731" name="Google Shape;731;p50"/>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43</a:t>
            </a:r>
            <a:endParaRPr sz="1350">
              <a:solidFill>
                <a:srgbClr val="61717D"/>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sp>
        <p:nvSpPr>
          <p:cNvPr id="737" name="Google Shape;737;p51"/>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Tokens become numerical representations</a:t>
            </a:r>
            <a:endParaRPr b="1" sz="3300">
              <a:solidFill>
                <a:srgbClr val="002B49"/>
              </a:solidFill>
            </a:endParaRPr>
          </a:p>
        </p:txBody>
      </p:sp>
      <p:sp>
        <p:nvSpPr>
          <p:cNvPr id="738" name="Google Shape;738;p51"/>
          <p:cNvSpPr/>
          <p:nvPr/>
        </p:nvSpPr>
        <p:spPr>
          <a:xfrm>
            <a:off x="609600" y="1619250"/>
            <a:ext cx="4762500" cy="7431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25">
                <a:solidFill>
                  <a:srgbClr val="17364B"/>
                </a:solidFill>
              </a:rPr>
              <a:t>“Markets moved today”</a:t>
            </a:r>
            <a:endParaRPr sz="2325">
              <a:solidFill>
                <a:srgbClr val="17364B"/>
              </a:solidFill>
            </a:endParaRPr>
          </a:p>
        </p:txBody>
      </p:sp>
      <p:cxnSp>
        <p:nvCxnSpPr>
          <p:cNvPr id="739" name="Google Shape;739;p51"/>
          <p:cNvCxnSpPr/>
          <p:nvPr/>
        </p:nvCxnSpPr>
        <p:spPr>
          <a:xfrm>
            <a:off x="2990850" y="2362200"/>
            <a:ext cx="0" cy="495300"/>
          </a:xfrm>
          <a:prstGeom prst="straightConnector1">
            <a:avLst/>
          </a:prstGeom>
          <a:noFill/>
          <a:ln cap="flat" cmpd="sng" w="22850">
            <a:solidFill>
              <a:srgbClr val="005A9C"/>
            </a:solidFill>
            <a:prstDash val="solid"/>
            <a:round/>
            <a:headEnd len="med" w="med" type="none"/>
            <a:tailEnd len="med" w="med" type="triangle"/>
          </a:ln>
        </p:spPr>
      </p:cxnSp>
      <p:sp>
        <p:nvSpPr>
          <p:cNvPr id="740" name="Google Shape;740;p51"/>
          <p:cNvSpPr/>
          <p:nvPr/>
        </p:nvSpPr>
        <p:spPr>
          <a:xfrm>
            <a:off x="609600" y="3009900"/>
            <a:ext cx="1524000" cy="619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Markets</a:t>
            </a:r>
            <a:endParaRPr sz="1950">
              <a:solidFill>
                <a:srgbClr val="17364B"/>
              </a:solidFill>
            </a:endParaRPr>
          </a:p>
        </p:txBody>
      </p:sp>
      <p:sp>
        <p:nvSpPr>
          <p:cNvPr id="741" name="Google Shape;741;p51"/>
          <p:cNvSpPr/>
          <p:nvPr/>
        </p:nvSpPr>
        <p:spPr>
          <a:xfrm>
            <a:off x="2228850" y="3009900"/>
            <a:ext cx="1524000" cy="619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 moved</a:t>
            </a:r>
            <a:endParaRPr sz="1950">
              <a:solidFill>
                <a:srgbClr val="17364B"/>
              </a:solidFill>
            </a:endParaRPr>
          </a:p>
        </p:txBody>
      </p:sp>
      <p:sp>
        <p:nvSpPr>
          <p:cNvPr id="742" name="Google Shape;742;p51"/>
          <p:cNvSpPr/>
          <p:nvPr/>
        </p:nvSpPr>
        <p:spPr>
          <a:xfrm>
            <a:off x="3848100" y="3009900"/>
            <a:ext cx="1524000" cy="619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50">
                <a:solidFill>
                  <a:srgbClr val="17364B"/>
                </a:solidFill>
              </a:rPr>
              <a:t> today</a:t>
            </a:r>
            <a:endParaRPr sz="1950">
              <a:solidFill>
                <a:srgbClr val="17364B"/>
              </a:solidFill>
            </a:endParaRPr>
          </a:p>
        </p:txBody>
      </p:sp>
      <p:sp>
        <p:nvSpPr>
          <p:cNvPr id="743" name="Google Shape;743;p51"/>
          <p:cNvSpPr txBox="1"/>
          <p:nvPr/>
        </p:nvSpPr>
        <p:spPr>
          <a:xfrm>
            <a:off x="609600" y="3857625"/>
            <a:ext cx="4857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50">
                <a:solidFill>
                  <a:srgbClr val="61717D"/>
                </a:solidFill>
              </a:rPr>
              <a:t>Illustrative tokens</a:t>
            </a:r>
            <a:endParaRPr sz="1950">
              <a:solidFill>
                <a:srgbClr val="61717D"/>
              </a:solidFill>
            </a:endParaRPr>
          </a:p>
        </p:txBody>
      </p:sp>
      <p:cxnSp>
        <p:nvCxnSpPr>
          <p:cNvPr id="744" name="Google Shape;744;p51"/>
          <p:cNvCxnSpPr/>
          <p:nvPr/>
        </p:nvCxnSpPr>
        <p:spPr>
          <a:xfrm>
            <a:off x="5467350" y="3314700"/>
            <a:ext cx="1295400" cy="0"/>
          </a:xfrm>
          <a:prstGeom prst="straightConnector1">
            <a:avLst/>
          </a:prstGeom>
          <a:noFill/>
          <a:ln cap="flat" cmpd="sng" w="22850">
            <a:solidFill>
              <a:srgbClr val="005A9C"/>
            </a:solidFill>
            <a:prstDash val="solid"/>
            <a:round/>
            <a:headEnd len="med" w="med" type="none"/>
            <a:tailEnd len="med" w="med" type="triangle"/>
          </a:ln>
        </p:spPr>
      </p:cxnSp>
      <p:sp>
        <p:nvSpPr>
          <p:cNvPr id="745" name="Google Shape;745;p51"/>
          <p:cNvSpPr/>
          <p:nvPr/>
        </p:nvSpPr>
        <p:spPr>
          <a:xfrm>
            <a:off x="7048500" y="2714625"/>
            <a:ext cx="1381200" cy="12096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725">
                <a:solidFill>
                  <a:srgbClr val="17364B"/>
                </a:solidFill>
              </a:rPr>
              <a:t>vector 1</a:t>
            </a:r>
            <a:endParaRPr sz="1725">
              <a:solidFill>
                <a:srgbClr val="17364B"/>
              </a:solidFill>
            </a:endParaRPr>
          </a:p>
          <a:p>
            <a:pPr indent="0" lvl="0" marL="0" rtl="0" algn="ctr">
              <a:spcBef>
                <a:spcPts val="0"/>
              </a:spcBef>
              <a:spcAft>
                <a:spcPts val="0"/>
              </a:spcAft>
              <a:buNone/>
            </a:pPr>
            <a:r>
              <a:rPr lang="en-US" sz="1725">
                <a:solidFill>
                  <a:srgbClr val="17364B"/>
                </a:solidFill>
              </a:rPr>
              <a:t>[0.2, …, −0.1]</a:t>
            </a:r>
            <a:endParaRPr sz="1725">
              <a:solidFill>
                <a:srgbClr val="17364B"/>
              </a:solidFill>
            </a:endParaRPr>
          </a:p>
        </p:txBody>
      </p:sp>
      <p:sp>
        <p:nvSpPr>
          <p:cNvPr id="746" name="Google Shape;746;p51"/>
          <p:cNvSpPr/>
          <p:nvPr/>
        </p:nvSpPr>
        <p:spPr>
          <a:xfrm>
            <a:off x="8524875" y="2714625"/>
            <a:ext cx="1381200" cy="12096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725">
                <a:solidFill>
                  <a:srgbClr val="17364B"/>
                </a:solidFill>
              </a:rPr>
              <a:t>vector 2</a:t>
            </a:r>
            <a:endParaRPr sz="1725">
              <a:solidFill>
                <a:srgbClr val="17364B"/>
              </a:solidFill>
            </a:endParaRPr>
          </a:p>
          <a:p>
            <a:pPr indent="0" lvl="0" marL="0" rtl="0" algn="ctr">
              <a:spcBef>
                <a:spcPts val="0"/>
              </a:spcBef>
              <a:spcAft>
                <a:spcPts val="0"/>
              </a:spcAft>
              <a:buNone/>
            </a:pPr>
            <a:r>
              <a:rPr lang="en-US" sz="1725">
                <a:solidFill>
                  <a:srgbClr val="17364B"/>
                </a:solidFill>
              </a:rPr>
              <a:t>[−0.3, …, 0.7]</a:t>
            </a:r>
            <a:endParaRPr sz="1725">
              <a:solidFill>
                <a:srgbClr val="17364B"/>
              </a:solidFill>
            </a:endParaRPr>
          </a:p>
        </p:txBody>
      </p:sp>
      <p:sp>
        <p:nvSpPr>
          <p:cNvPr id="747" name="Google Shape;747;p51"/>
          <p:cNvSpPr/>
          <p:nvPr/>
        </p:nvSpPr>
        <p:spPr>
          <a:xfrm>
            <a:off x="10001250" y="2714625"/>
            <a:ext cx="1381200" cy="12096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725">
                <a:solidFill>
                  <a:srgbClr val="17364B"/>
                </a:solidFill>
              </a:rPr>
              <a:t>vector 3</a:t>
            </a:r>
            <a:endParaRPr sz="1725">
              <a:solidFill>
                <a:srgbClr val="17364B"/>
              </a:solidFill>
            </a:endParaRPr>
          </a:p>
          <a:p>
            <a:pPr indent="0" lvl="0" marL="0" rtl="0" algn="ctr">
              <a:spcBef>
                <a:spcPts val="0"/>
              </a:spcBef>
              <a:spcAft>
                <a:spcPts val="0"/>
              </a:spcAft>
              <a:buNone/>
            </a:pPr>
            <a:r>
              <a:rPr lang="en-US" sz="1725">
                <a:solidFill>
                  <a:srgbClr val="17364B"/>
                </a:solidFill>
              </a:rPr>
              <a:t>[0.6, …, 0.4]</a:t>
            </a:r>
            <a:endParaRPr sz="1725">
              <a:solidFill>
                <a:srgbClr val="17364B"/>
              </a:solidFill>
            </a:endParaRPr>
          </a:p>
        </p:txBody>
      </p:sp>
      <p:sp>
        <p:nvSpPr>
          <p:cNvPr id="748" name="Google Shape;748;p51"/>
          <p:cNvSpPr txBox="1"/>
          <p:nvPr/>
        </p:nvSpPr>
        <p:spPr>
          <a:xfrm>
            <a:off x="7048500" y="4333875"/>
            <a:ext cx="45339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Learned vectors enter the model</a:t>
            </a:r>
            <a:endParaRPr b="1" sz="2250">
              <a:solidFill>
                <a:srgbClr val="147D64"/>
              </a:solidFill>
            </a:endParaRPr>
          </a:p>
        </p:txBody>
      </p:sp>
      <p:sp>
        <p:nvSpPr>
          <p:cNvPr id="749" name="Google Shape;749;p51"/>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token is a discrete unit. Its vector is a numerical representation.</a:t>
            </a:r>
            <a:endParaRPr b="1" sz="2025">
              <a:solidFill>
                <a:srgbClr val="002B49"/>
              </a:solidFill>
            </a:endParaRPr>
          </a:p>
        </p:txBody>
      </p:sp>
      <p:sp>
        <p:nvSpPr>
          <p:cNvPr id="750" name="Google Shape;750;p51"/>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44</a:t>
            </a:r>
            <a:endParaRPr sz="1350">
              <a:solidFill>
                <a:srgbClr val="61717D"/>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5" name="Shape 755"/>
        <p:cNvGrpSpPr/>
        <p:nvPr/>
      </p:nvGrpSpPr>
      <p:grpSpPr>
        <a:xfrm>
          <a:off x="0" y="0"/>
          <a:ext cx="0" cy="0"/>
          <a:chOff x="0" y="0"/>
          <a:chExt cx="0" cy="0"/>
        </a:xfrm>
      </p:grpSpPr>
      <p:sp>
        <p:nvSpPr>
          <p:cNvPr id="756" name="Google Shape;756;p52"/>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Queries, keys and values in attention</a:t>
            </a:r>
            <a:endParaRPr b="1" sz="3300">
              <a:solidFill>
                <a:srgbClr val="002B49"/>
              </a:solidFill>
            </a:endParaRPr>
          </a:p>
        </p:txBody>
      </p:sp>
      <p:sp>
        <p:nvSpPr>
          <p:cNvPr id="757" name="Google Shape;757;p52"/>
          <p:cNvSpPr/>
          <p:nvPr/>
        </p:nvSpPr>
        <p:spPr>
          <a:xfrm>
            <a:off x="609600" y="2762250"/>
            <a:ext cx="2667000" cy="1000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17364B"/>
                </a:solidFill>
              </a:rPr>
              <a:t>Current query Q</a:t>
            </a:r>
            <a:endParaRPr sz="2400">
              <a:solidFill>
                <a:srgbClr val="17364B"/>
              </a:solidFill>
            </a:endParaRPr>
          </a:p>
        </p:txBody>
      </p:sp>
      <p:sp>
        <p:nvSpPr>
          <p:cNvPr id="758" name="Google Shape;758;p52"/>
          <p:cNvSpPr/>
          <p:nvPr/>
        </p:nvSpPr>
        <p:spPr>
          <a:xfrm>
            <a:off x="4667250" y="1619250"/>
            <a:ext cx="2000100" cy="6669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Key K1</a:t>
            </a:r>
            <a:endParaRPr sz="2100">
              <a:solidFill>
                <a:srgbClr val="17364B"/>
              </a:solidFill>
            </a:endParaRPr>
          </a:p>
        </p:txBody>
      </p:sp>
      <p:sp>
        <p:nvSpPr>
          <p:cNvPr id="759" name="Google Shape;759;p52"/>
          <p:cNvSpPr/>
          <p:nvPr/>
        </p:nvSpPr>
        <p:spPr>
          <a:xfrm>
            <a:off x="8191500" y="1619250"/>
            <a:ext cx="2238300" cy="6669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Value V1</a:t>
            </a:r>
            <a:endParaRPr sz="2100">
              <a:solidFill>
                <a:srgbClr val="17364B"/>
              </a:solidFill>
            </a:endParaRPr>
          </a:p>
        </p:txBody>
      </p:sp>
      <p:cxnSp>
        <p:nvCxnSpPr>
          <p:cNvPr id="760" name="Google Shape;760;p52"/>
          <p:cNvCxnSpPr/>
          <p:nvPr/>
        </p:nvCxnSpPr>
        <p:spPr>
          <a:xfrm flipH="1" rot="10800000">
            <a:off x="3276600" y="1952550"/>
            <a:ext cx="1390800" cy="1305000"/>
          </a:xfrm>
          <a:prstGeom prst="straightConnector1">
            <a:avLst/>
          </a:prstGeom>
          <a:noFill/>
          <a:ln cap="flat" cmpd="sng" w="22850">
            <a:solidFill>
              <a:srgbClr val="005A9C"/>
            </a:solidFill>
            <a:prstDash val="solid"/>
            <a:round/>
            <a:headEnd len="med" w="med" type="none"/>
            <a:tailEnd len="med" w="med" type="triangle"/>
          </a:ln>
        </p:spPr>
      </p:cxnSp>
      <p:cxnSp>
        <p:nvCxnSpPr>
          <p:cNvPr id="761" name="Google Shape;761;p52"/>
          <p:cNvCxnSpPr/>
          <p:nvPr/>
        </p:nvCxnSpPr>
        <p:spPr>
          <a:xfrm>
            <a:off x="6667500" y="1952625"/>
            <a:ext cx="1524000" cy="0"/>
          </a:xfrm>
          <a:prstGeom prst="straightConnector1">
            <a:avLst/>
          </a:prstGeom>
          <a:noFill/>
          <a:ln cap="flat" cmpd="sng" w="22850">
            <a:solidFill>
              <a:srgbClr val="147D64"/>
            </a:solidFill>
            <a:prstDash val="solid"/>
            <a:round/>
            <a:headEnd len="med" w="med" type="none"/>
            <a:tailEnd len="med" w="med" type="triangle"/>
          </a:ln>
        </p:spPr>
      </p:cxnSp>
      <p:sp>
        <p:nvSpPr>
          <p:cNvPr id="762" name="Google Shape;762;p52"/>
          <p:cNvSpPr/>
          <p:nvPr/>
        </p:nvSpPr>
        <p:spPr>
          <a:xfrm>
            <a:off x="4667250" y="2905125"/>
            <a:ext cx="2000100" cy="6669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Key K2</a:t>
            </a:r>
            <a:endParaRPr sz="2100">
              <a:solidFill>
                <a:srgbClr val="17364B"/>
              </a:solidFill>
            </a:endParaRPr>
          </a:p>
        </p:txBody>
      </p:sp>
      <p:sp>
        <p:nvSpPr>
          <p:cNvPr id="763" name="Google Shape;763;p52"/>
          <p:cNvSpPr/>
          <p:nvPr/>
        </p:nvSpPr>
        <p:spPr>
          <a:xfrm>
            <a:off x="8191500" y="2905125"/>
            <a:ext cx="2238300" cy="6669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Value V2</a:t>
            </a:r>
            <a:endParaRPr sz="2100">
              <a:solidFill>
                <a:srgbClr val="17364B"/>
              </a:solidFill>
            </a:endParaRPr>
          </a:p>
        </p:txBody>
      </p:sp>
      <p:cxnSp>
        <p:nvCxnSpPr>
          <p:cNvPr id="764" name="Google Shape;764;p52"/>
          <p:cNvCxnSpPr/>
          <p:nvPr/>
        </p:nvCxnSpPr>
        <p:spPr>
          <a:xfrm flipH="1" rot="10800000">
            <a:off x="3276600" y="3238650"/>
            <a:ext cx="1390800" cy="18900"/>
          </a:xfrm>
          <a:prstGeom prst="straightConnector1">
            <a:avLst/>
          </a:prstGeom>
          <a:noFill/>
          <a:ln cap="flat" cmpd="sng" w="22850">
            <a:solidFill>
              <a:srgbClr val="005A9C"/>
            </a:solidFill>
            <a:prstDash val="solid"/>
            <a:round/>
            <a:headEnd len="med" w="med" type="none"/>
            <a:tailEnd len="med" w="med" type="triangle"/>
          </a:ln>
        </p:spPr>
      </p:cxnSp>
      <p:cxnSp>
        <p:nvCxnSpPr>
          <p:cNvPr id="765" name="Google Shape;765;p52"/>
          <p:cNvCxnSpPr/>
          <p:nvPr/>
        </p:nvCxnSpPr>
        <p:spPr>
          <a:xfrm>
            <a:off x="6667500" y="3238500"/>
            <a:ext cx="1524000" cy="0"/>
          </a:xfrm>
          <a:prstGeom prst="straightConnector1">
            <a:avLst/>
          </a:prstGeom>
          <a:noFill/>
          <a:ln cap="flat" cmpd="sng" w="22850">
            <a:solidFill>
              <a:srgbClr val="147D64"/>
            </a:solidFill>
            <a:prstDash val="solid"/>
            <a:round/>
            <a:headEnd len="med" w="med" type="none"/>
            <a:tailEnd len="med" w="med" type="triangle"/>
          </a:ln>
        </p:spPr>
      </p:cxnSp>
      <p:sp>
        <p:nvSpPr>
          <p:cNvPr id="766" name="Google Shape;766;p52"/>
          <p:cNvSpPr/>
          <p:nvPr/>
        </p:nvSpPr>
        <p:spPr>
          <a:xfrm>
            <a:off x="4667250" y="4191000"/>
            <a:ext cx="2000100" cy="6669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Key K3</a:t>
            </a:r>
            <a:endParaRPr sz="2100">
              <a:solidFill>
                <a:srgbClr val="17364B"/>
              </a:solidFill>
            </a:endParaRPr>
          </a:p>
        </p:txBody>
      </p:sp>
      <p:sp>
        <p:nvSpPr>
          <p:cNvPr id="767" name="Google Shape;767;p52"/>
          <p:cNvSpPr/>
          <p:nvPr/>
        </p:nvSpPr>
        <p:spPr>
          <a:xfrm>
            <a:off x="8191500" y="4191000"/>
            <a:ext cx="2238300" cy="6669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00">
                <a:solidFill>
                  <a:srgbClr val="17364B"/>
                </a:solidFill>
              </a:rPr>
              <a:t>Value V3</a:t>
            </a:r>
            <a:endParaRPr sz="2100">
              <a:solidFill>
                <a:srgbClr val="17364B"/>
              </a:solidFill>
            </a:endParaRPr>
          </a:p>
        </p:txBody>
      </p:sp>
      <p:cxnSp>
        <p:nvCxnSpPr>
          <p:cNvPr id="768" name="Google Shape;768;p52"/>
          <p:cNvCxnSpPr/>
          <p:nvPr/>
        </p:nvCxnSpPr>
        <p:spPr>
          <a:xfrm>
            <a:off x="3276600" y="3257550"/>
            <a:ext cx="1390800" cy="1266900"/>
          </a:xfrm>
          <a:prstGeom prst="straightConnector1">
            <a:avLst/>
          </a:prstGeom>
          <a:noFill/>
          <a:ln cap="flat" cmpd="sng" w="22850">
            <a:solidFill>
              <a:srgbClr val="005A9C"/>
            </a:solidFill>
            <a:prstDash val="solid"/>
            <a:round/>
            <a:headEnd len="med" w="med" type="none"/>
            <a:tailEnd len="med" w="med" type="triangle"/>
          </a:ln>
        </p:spPr>
      </p:cxnSp>
      <p:cxnSp>
        <p:nvCxnSpPr>
          <p:cNvPr id="769" name="Google Shape;769;p52"/>
          <p:cNvCxnSpPr/>
          <p:nvPr/>
        </p:nvCxnSpPr>
        <p:spPr>
          <a:xfrm>
            <a:off x="6667500" y="4524375"/>
            <a:ext cx="1524000" cy="0"/>
          </a:xfrm>
          <a:prstGeom prst="straightConnector1">
            <a:avLst/>
          </a:prstGeom>
          <a:noFill/>
          <a:ln cap="flat" cmpd="sng" w="22850">
            <a:solidFill>
              <a:srgbClr val="147D64"/>
            </a:solidFill>
            <a:prstDash val="solid"/>
            <a:round/>
            <a:headEnd len="med" w="med" type="none"/>
            <a:tailEnd len="med" w="med" type="triangle"/>
          </a:ln>
        </p:spPr>
      </p:cxnSp>
      <p:sp>
        <p:nvSpPr>
          <p:cNvPr id="770" name="Google Shape;770;p52"/>
          <p:cNvSpPr txBox="1"/>
          <p:nvPr/>
        </p:nvSpPr>
        <p:spPr>
          <a:xfrm>
            <a:off x="3429000" y="5143500"/>
            <a:ext cx="40959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50">
                <a:solidFill>
                  <a:srgbClr val="005A9C"/>
                </a:solidFill>
              </a:rPr>
              <a:t>compare Q with keys</a:t>
            </a:r>
            <a:endParaRPr b="1" sz="1950">
              <a:solidFill>
                <a:srgbClr val="005A9C"/>
              </a:solidFill>
            </a:endParaRPr>
          </a:p>
        </p:txBody>
      </p:sp>
      <p:sp>
        <p:nvSpPr>
          <p:cNvPr id="771" name="Google Shape;771;p52"/>
          <p:cNvSpPr txBox="1"/>
          <p:nvPr/>
        </p:nvSpPr>
        <p:spPr>
          <a:xfrm>
            <a:off x="7905750" y="5143500"/>
            <a:ext cx="35244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50">
                <a:solidFill>
                  <a:srgbClr val="147D64"/>
                </a:solidFill>
              </a:rPr>
              <a:t>weight the values</a:t>
            </a:r>
            <a:endParaRPr b="1" sz="1950">
              <a:solidFill>
                <a:srgbClr val="147D64"/>
              </a:solidFill>
            </a:endParaRPr>
          </a:p>
        </p:txBody>
      </p:sp>
      <p:sp>
        <p:nvSpPr>
          <p:cNvPr id="772" name="Google Shape;772;p52"/>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output combines information from the eligible token positions.</a:t>
            </a:r>
            <a:endParaRPr b="1" sz="2025">
              <a:solidFill>
                <a:srgbClr val="002B49"/>
              </a:solidFill>
            </a:endParaRPr>
          </a:p>
        </p:txBody>
      </p:sp>
      <p:sp>
        <p:nvSpPr>
          <p:cNvPr id="773" name="Google Shape;773;p52"/>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45</a:t>
            </a:r>
            <a:endParaRPr sz="1350">
              <a:solidFill>
                <a:srgbClr val="61717D"/>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8" name="Shape 778"/>
        <p:cNvGrpSpPr/>
        <p:nvPr/>
      </p:nvGrpSpPr>
      <p:grpSpPr>
        <a:xfrm>
          <a:off x="0" y="0"/>
          <a:ext cx="0" cy="0"/>
          <a:chOff x="0" y="0"/>
          <a:chExt cx="0" cy="0"/>
        </a:xfrm>
      </p:grpSpPr>
      <p:sp>
        <p:nvSpPr>
          <p:cNvPr id="779" name="Google Shape;779;p53"/>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Prefill and decoding</a:t>
            </a:r>
            <a:endParaRPr b="1" sz="3300">
              <a:solidFill>
                <a:srgbClr val="002B49"/>
              </a:solidFill>
            </a:endParaRPr>
          </a:p>
        </p:txBody>
      </p:sp>
      <p:sp>
        <p:nvSpPr>
          <p:cNvPr id="780" name="Google Shape;780;p53"/>
          <p:cNvSpPr txBox="1"/>
          <p:nvPr/>
        </p:nvSpPr>
        <p:spPr>
          <a:xfrm>
            <a:off x="609600" y="1695450"/>
            <a:ext cx="2476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005A9C"/>
                </a:solidFill>
              </a:rPr>
              <a:t>Prefill</a:t>
            </a:r>
            <a:endParaRPr b="1" sz="2550">
              <a:solidFill>
                <a:srgbClr val="005A9C"/>
              </a:solidFill>
            </a:endParaRPr>
          </a:p>
        </p:txBody>
      </p:sp>
      <p:sp>
        <p:nvSpPr>
          <p:cNvPr id="781" name="Google Shape;781;p53"/>
          <p:cNvSpPr/>
          <p:nvPr/>
        </p:nvSpPr>
        <p:spPr>
          <a:xfrm>
            <a:off x="3143250" y="1619250"/>
            <a:ext cx="6858000" cy="838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25">
                <a:solidFill>
                  <a:srgbClr val="17364B"/>
                </a:solidFill>
              </a:rPr>
              <a:t>prompt tokens processed together</a:t>
            </a:r>
            <a:endParaRPr sz="2325">
              <a:solidFill>
                <a:srgbClr val="17364B"/>
              </a:solidFill>
            </a:endParaRPr>
          </a:p>
        </p:txBody>
      </p:sp>
      <p:sp>
        <p:nvSpPr>
          <p:cNvPr id="782" name="Google Shape;782;p53"/>
          <p:cNvSpPr txBox="1"/>
          <p:nvPr/>
        </p:nvSpPr>
        <p:spPr>
          <a:xfrm>
            <a:off x="609600" y="3219450"/>
            <a:ext cx="2476500" cy="4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147D64"/>
                </a:solidFill>
              </a:rPr>
              <a:t>Decode</a:t>
            </a:r>
            <a:endParaRPr b="1" sz="2550">
              <a:solidFill>
                <a:srgbClr val="147D64"/>
              </a:solidFill>
            </a:endParaRPr>
          </a:p>
        </p:txBody>
      </p:sp>
      <p:sp>
        <p:nvSpPr>
          <p:cNvPr id="783" name="Google Shape;783;p53"/>
          <p:cNvSpPr/>
          <p:nvPr/>
        </p:nvSpPr>
        <p:spPr>
          <a:xfrm>
            <a:off x="3143250" y="3143250"/>
            <a:ext cx="2286000" cy="838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25">
                <a:solidFill>
                  <a:srgbClr val="17364B"/>
                </a:solidFill>
              </a:rPr>
              <a:t>token A</a:t>
            </a:r>
            <a:endParaRPr sz="2325">
              <a:solidFill>
                <a:srgbClr val="17364B"/>
              </a:solidFill>
            </a:endParaRPr>
          </a:p>
        </p:txBody>
      </p:sp>
      <p:cxnSp>
        <p:nvCxnSpPr>
          <p:cNvPr id="784" name="Google Shape;784;p53"/>
          <p:cNvCxnSpPr/>
          <p:nvPr/>
        </p:nvCxnSpPr>
        <p:spPr>
          <a:xfrm>
            <a:off x="5429250" y="3562350"/>
            <a:ext cx="428700" cy="0"/>
          </a:xfrm>
          <a:prstGeom prst="straightConnector1">
            <a:avLst/>
          </a:prstGeom>
          <a:noFill/>
          <a:ln cap="flat" cmpd="sng" w="22850">
            <a:solidFill>
              <a:srgbClr val="147D64"/>
            </a:solidFill>
            <a:prstDash val="solid"/>
            <a:round/>
            <a:headEnd len="med" w="med" type="none"/>
            <a:tailEnd len="med" w="med" type="triangle"/>
          </a:ln>
        </p:spPr>
      </p:cxnSp>
      <p:sp>
        <p:nvSpPr>
          <p:cNvPr id="785" name="Google Shape;785;p53"/>
          <p:cNvSpPr/>
          <p:nvPr/>
        </p:nvSpPr>
        <p:spPr>
          <a:xfrm>
            <a:off x="5857875" y="3143250"/>
            <a:ext cx="2286000" cy="838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25">
                <a:solidFill>
                  <a:srgbClr val="17364B"/>
                </a:solidFill>
              </a:rPr>
              <a:t>token B</a:t>
            </a:r>
            <a:endParaRPr sz="2325">
              <a:solidFill>
                <a:srgbClr val="17364B"/>
              </a:solidFill>
            </a:endParaRPr>
          </a:p>
        </p:txBody>
      </p:sp>
      <p:cxnSp>
        <p:nvCxnSpPr>
          <p:cNvPr id="786" name="Google Shape;786;p53"/>
          <p:cNvCxnSpPr/>
          <p:nvPr/>
        </p:nvCxnSpPr>
        <p:spPr>
          <a:xfrm>
            <a:off x="8143875" y="3562350"/>
            <a:ext cx="428700" cy="0"/>
          </a:xfrm>
          <a:prstGeom prst="straightConnector1">
            <a:avLst/>
          </a:prstGeom>
          <a:noFill/>
          <a:ln cap="flat" cmpd="sng" w="22850">
            <a:solidFill>
              <a:srgbClr val="147D64"/>
            </a:solidFill>
            <a:prstDash val="solid"/>
            <a:round/>
            <a:headEnd len="med" w="med" type="none"/>
            <a:tailEnd len="med" w="med" type="triangle"/>
          </a:ln>
        </p:spPr>
      </p:cxnSp>
      <p:sp>
        <p:nvSpPr>
          <p:cNvPr id="787" name="Google Shape;787;p53"/>
          <p:cNvSpPr/>
          <p:nvPr/>
        </p:nvSpPr>
        <p:spPr>
          <a:xfrm>
            <a:off x="8572500" y="3143250"/>
            <a:ext cx="2286000" cy="838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325">
                <a:solidFill>
                  <a:srgbClr val="17364B"/>
                </a:solidFill>
              </a:rPr>
              <a:t>token C</a:t>
            </a:r>
            <a:endParaRPr sz="2325">
              <a:solidFill>
                <a:srgbClr val="17364B"/>
              </a:solidFill>
            </a:endParaRPr>
          </a:p>
        </p:txBody>
      </p:sp>
      <p:sp>
        <p:nvSpPr>
          <p:cNvPr id="788" name="Google Shape;788;p53"/>
          <p:cNvSpPr txBox="1"/>
          <p:nvPr/>
        </p:nvSpPr>
        <p:spPr>
          <a:xfrm>
            <a:off x="3143250" y="4429125"/>
            <a:ext cx="25719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005A9C"/>
                </a:solidFill>
              </a:rPr>
              <a:t>first token</a:t>
            </a:r>
            <a:endParaRPr b="1" sz="2100">
              <a:solidFill>
                <a:srgbClr val="005A9C"/>
              </a:solidFill>
            </a:endParaRPr>
          </a:p>
        </p:txBody>
      </p:sp>
      <p:sp>
        <p:nvSpPr>
          <p:cNvPr id="789" name="Google Shape;789;p53"/>
          <p:cNvSpPr txBox="1"/>
          <p:nvPr/>
        </p:nvSpPr>
        <p:spPr>
          <a:xfrm>
            <a:off x="6143625" y="4429125"/>
            <a:ext cx="52389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147D64"/>
                </a:solidFill>
              </a:rPr>
              <a:t>time between tokens</a:t>
            </a:r>
            <a:endParaRPr b="1" sz="2100">
              <a:solidFill>
                <a:srgbClr val="147D64"/>
              </a:solidFill>
            </a:endParaRPr>
          </a:p>
        </p:txBody>
      </p:sp>
      <p:sp>
        <p:nvSpPr>
          <p:cNvPr id="790" name="Google Shape;790;p53"/>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prompt predicts A. Feeding A back predicts B.</a:t>
            </a:r>
            <a:endParaRPr b="1" sz="2025">
              <a:solidFill>
                <a:srgbClr val="002B49"/>
              </a:solidFill>
            </a:endParaRPr>
          </a:p>
        </p:txBody>
      </p:sp>
      <p:sp>
        <p:nvSpPr>
          <p:cNvPr id="791" name="Google Shape;791;p53"/>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46</a:t>
            </a:r>
            <a:endParaRPr sz="1350">
              <a:solidFill>
                <a:srgbClr val="61717D"/>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6" name="Shape 796"/>
        <p:cNvGrpSpPr/>
        <p:nvPr/>
      </p:nvGrpSpPr>
      <p:grpSpPr>
        <a:xfrm>
          <a:off x="0" y="0"/>
          <a:ext cx="0" cy="0"/>
          <a:chOff x="0" y="0"/>
          <a:chExt cx="0" cy="0"/>
        </a:xfrm>
      </p:grpSpPr>
      <p:sp>
        <p:nvSpPr>
          <p:cNvPr id="797" name="Google Shape;797;p54"/>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Without a KV cache: repeat the prefix work</a:t>
            </a:r>
            <a:endParaRPr b="1" sz="3300">
              <a:solidFill>
                <a:srgbClr val="002B49"/>
              </a:solidFill>
            </a:endParaRPr>
          </a:p>
        </p:txBody>
      </p:sp>
      <p:sp>
        <p:nvSpPr>
          <p:cNvPr id="798" name="Google Shape;798;p54"/>
          <p:cNvSpPr txBox="1"/>
          <p:nvPr/>
        </p:nvSpPr>
        <p:spPr>
          <a:xfrm>
            <a:off x="609600" y="1809750"/>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B75914"/>
                </a:solidFill>
              </a:rPr>
              <a:t>Predict A</a:t>
            </a:r>
            <a:endParaRPr b="1" sz="2250">
              <a:solidFill>
                <a:srgbClr val="B75914"/>
              </a:solidFill>
            </a:endParaRPr>
          </a:p>
        </p:txBody>
      </p:sp>
      <p:sp>
        <p:nvSpPr>
          <p:cNvPr id="799" name="Google Shape;799;p54"/>
          <p:cNvSpPr/>
          <p:nvPr/>
        </p:nvSpPr>
        <p:spPr>
          <a:xfrm>
            <a:off x="2857500"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00" name="Google Shape;800;p54"/>
          <p:cNvSpPr/>
          <p:nvPr/>
        </p:nvSpPr>
        <p:spPr>
          <a:xfrm>
            <a:off x="4143375"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01" name="Google Shape;801;p54"/>
          <p:cNvSpPr/>
          <p:nvPr/>
        </p:nvSpPr>
        <p:spPr>
          <a:xfrm>
            <a:off x="5429250"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02" name="Google Shape;802;p54"/>
          <p:cNvSpPr/>
          <p:nvPr/>
        </p:nvSpPr>
        <p:spPr>
          <a:xfrm>
            <a:off x="6715125"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03" name="Google Shape;803;p54"/>
          <p:cNvSpPr txBox="1"/>
          <p:nvPr/>
        </p:nvSpPr>
        <p:spPr>
          <a:xfrm>
            <a:off x="609600" y="3095625"/>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B75914"/>
                </a:solidFill>
              </a:rPr>
              <a:t>Predict B</a:t>
            </a:r>
            <a:endParaRPr b="1" sz="2250">
              <a:solidFill>
                <a:srgbClr val="B75914"/>
              </a:solidFill>
            </a:endParaRPr>
          </a:p>
        </p:txBody>
      </p:sp>
      <p:sp>
        <p:nvSpPr>
          <p:cNvPr id="804" name="Google Shape;804;p54"/>
          <p:cNvSpPr/>
          <p:nvPr/>
        </p:nvSpPr>
        <p:spPr>
          <a:xfrm>
            <a:off x="2857500"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05" name="Google Shape;805;p54"/>
          <p:cNvSpPr/>
          <p:nvPr/>
        </p:nvSpPr>
        <p:spPr>
          <a:xfrm>
            <a:off x="4143375"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06" name="Google Shape;806;p54"/>
          <p:cNvSpPr/>
          <p:nvPr/>
        </p:nvSpPr>
        <p:spPr>
          <a:xfrm>
            <a:off x="5429250"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07" name="Google Shape;807;p54"/>
          <p:cNvSpPr/>
          <p:nvPr/>
        </p:nvSpPr>
        <p:spPr>
          <a:xfrm>
            <a:off x="6715125"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08" name="Google Shape;808;p54"/>
          <p:cNvSpPr/>
          <p:nvPr/>
        </p:nvSpPr>
        <p:spPr>
          <a:xfrm>
            <a:off x="8001000"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A</a:t>
            </a:r>
            <a:endParaRPr sz="1800">
              <a:solidFill>
                <a:srgbClr val="17364B"/>
              </a:solidFill>
            </a:endParaRPr>
          </a:p>
        </p:txBody>
      </p:sp>
      <p:sp>
        <p:nvSpPr>
          <p:cNvPr id="809" name="Google Shape;809;p54"/>
          <p:cNvSpPr txBox="1"/>
          <p:nvPr/>
        </p:nvSpPr>
        <p:spPr>
          <a:xfrm>
            <a:off x="609600" y="4381500"/>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B75914"/>
                </a:solidFill>
              </a:rPr>
              <a:t>Predict C</a:t>
            </a:r>
            <a:endParaRPr b="1" sz="2250">
              <a:solidFill>
                <a:srgbClr val="B75914"/>
              </a:solidFill>
            </a:endParaRPr>
          </a:p>
        </p:txBody>
      </p:sp>
      <p:sp>
        <p:nvSpPr>
          <p:cNvPr id="810" name="Google Shape;810;p54"/>
          <p:cNvSpPr/>
          <p:nvPr/>
        </p:nvSpPr>
        <p:spPr>
          <a:xfrm>
            <a:off x="2857500"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11" name="Google Shape;811;p54"/>
          <p:cNvSpPr/>
          <p:nvPr/>
        </p:nvSpPr>
        <p:spPr>
          <a:xfrm>
            <a:off x="4143375"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12" name="Google Shape;812;p54"/>
          <p:cNvSpPr/>
          <p:nvPr/>
        </p:nvSpPr>
        <p:spPr>
          <a:xfrm>
            <a:off x="5429250"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13" name="Google Shape;813;p54"/>
          <p:cNvSpPr/>
          <p:nvPr/>
        </p:nvSpPr>
        <p:spPr>
          <a:xfrm>
            <a:off x="6715125"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14" name="Google Shape;814;p54"/>
          <p:cNvSpPr/>
          <p:nvPr/>
        </p:nvSpPr>
        <p:spPr>
          <a:xfrm>
            <a:off x="8001000"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A</a:t>
            </a:r>
            <a:endParaRPr sz="1800">
              <a:solidFill>
                <a:srgbClr val="17364B"/>
              </a:solidFill>
            </a:endParaRPr>
          </a:p>
        </p:txBody>
      </p:sp>
      <p:sp>
        <p:nvSpPr>
          <p:cNvPr id="815" name="Google Shape;815;p54"/>
          <p:cNvSpPr/>
          <p:nvPr/>
        </p:nvSpPr>
        <p:spPr>
          <a:xfrm>
            <a:off x="9286875"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B</a:t>
            </a:r>
            <a:endParaRPr sz="1800">
              <a:solidFill>
                <a:srgbClr val="17364B"/>
              </a:solidFill>
            </a:endParaRPr>
          </a:p>
        </p:txBody>
      </p:sp>
      <p:sp>
        <p:nvSpPr>
          <p:cNvPr id="816" name="Google Shape;816;p54"/>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next step repeats computation for positions already processed.</a:t>
            </a:r>
            <a:endParaRPr b="1" sz="2025">
              <a:solidFill>
                <a:srgbClr val="002B49"/>
              </a:solidFill>
            </a:endParaRPr>
          </a:p>
        </p:txBody>
      </p:sp>
      <p:sp>
        <p:nvSpPr>
          <p:cNvPr id="817" name="Google Shape;817;p54"/>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47</a:t>
            </a:r>
            <a:endParaRPr sz="1350">
              <a:solidFill>
                <a:srgbClr val="61717D"/>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55"/>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With a KV cache: reuse the prefix state</a:t>
            </a:r>
            <a:endParaRPr b="1" sz="3300">
              <a:solidFill>
                <a:srgbClr val="002B49"/>
              </a:solidFill>
            </a:endParaRPr>
          </a:p>
        </p:txBody>
      </p:sp>
      <p:sp>
        <p:nvSpPr>
          <p:cNvPr id="824" name="Google Shape;824;p55"/>
          <p:cNvSpPr txBox="1"/>
          <p:nvPr/>
        </p:nvSpPr>
        <p:spPr>
          <a:xfrm>
            <a:off x="609600" y="1809750"/>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Predict A</a:t>
            </a:r>
            <a:endParaRPr b="1" sz="2250">
              <a:solidFill>
                <a:srgbClr val="147D64"/>
              </a:solidFill>
            </a:endParaRPr>
          </a:p>
        </p:txBody>
      </p:sp>
      <p:sp>
        <p:nvSpPr>
          <p:cNvPr id="825" name="Google Shape;825;p55"/>
          <p:cNvSpPr/>
          <p:nvPr/>
        </p:nvSpPr>
        <p:spPr>
          <a:xfrm>
            <a:off x="2857500"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26" name="Google Shape;826;p55"/>
          <p:cNvSpPr/>
          <p:nvPr/>
        </p:nvSpPr>
        <p:spPr>
          <a:xfrm>
            <a:off x="4143375"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27" name="Google Shape;827;p55"/>
          <p:cNvSpPr/>
          <p:nvPr/>
        </p:nvSpPr>
        <p:spPr>
          <a:xfrm>
            <a:off x="5429250"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28" name="Google Shape;828;p55"/>
          <p:cNvSpPr/>
          <p:nvPr/>
        </p:nvSpPr>
        <p:spPr>
          <a:xfrm>
            <a:off x="6715125" y="171450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29" name="Google Shape;829;p55"/>
          <p:cNvSpPr txBox="1"/>
          <p:nvPr/>
        </p:nvSpPr>
        <p:spPr>
          <a:xfrm>
            <a:off x="609600" y="3095625"/>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Predict B</a:t>
            </a:r>
            <a:endParaRPr b="1" sz="2250">
              <a:solidFill>
                <a:srgbClr val="147D64"/>
              </a:solidFill>
            </a:endParaRPr>
          </a:p>
        </p:txBody>
      </p:sp>
      <p:sp>
        <p:nvSpPr>
          <p:cNvPr id="830" name="Google Shape;830;p55"/>
          <p:cNvSpPr/>
          <p:nvPr/>
        </p:nvSpPr>
        <p:spPr>
          <a:xfrm>
            <a:off x="2857500" y="3000375"/>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31" name="Google Shape;831;p55"/>
          <p:cNvSpPr/>
          <p:nvPr/>
        </p:nvSpPr>
        <p:spPr>
          <a:xfrm>
            <a:off x="4143375" y="3000375"/>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32" name="Google Shape;832;p55"/>
          <p:cNvSpPr/>
          <p:nvPr/>
        </p:nvSpPr>
        <p:spPr>
          <a:xfrm>
            <a:off x="5429250" y="3000375"/>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33" name="Google Shape;833;p55"/>
          <p:cNvSpPr/>
          <p:nvPr/>
        </p:nvSpPr>
        <p:spPr>
          <a:xfrm>
            <a:off x="6715125" y="3000375"/>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34" name="Google Shape;834;p55"/>
          <p:cNvSpPr/>
          <p:nvPr/>
        </p:nvSpPr>
        <p:spPr>
          <a:xfrm>
            <a:off x="8001000" y="3000375"/>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A</a:t>
            </a:r>
            <a:endParaRPr sz="1800">
              <a:solidFill>
                <a:srgbClr val="17364B"/>
              </a:solidFill>
            </a:endParaRPr>
          </a:p>
        </p:txBody>
      </p:sp>
      <p:sp>
        <p:nvSpPr>
          <p:cNvPr id="835" name="Google Shape;835;p55"/>
          <p:cNvSpPr txBox="1"/>
          <p:nvPr/>
        </p:nvSpPr>
        <p:spPr>
          <a:xfrm>
            <a:off x="609600" y="4381500"/>
            <a:ext cx="2095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Predict C</a:t>
            </a:r>
            <a:endParaRPr b="1" sz="2250">
              <a:solidFill>
                <a:srgbClr val="147D64"/>
              </a:solidFill>
            </a:endParaRPr>
          </a:p>
        </p:txBody>
      </p:sp>
      <p:sp>
        <p:nvSpPr>
          <p:cNvPr id="836" name="Google Shape;836;p55"/>
          <p:cNvSpPr/>
          <p:nvPr/>
        </p:nvSpPr>
        <p:spPr>
          <a:xfrm>
            <a:off x="2857500" y="4286250"/>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P1</a:t>
            </a:r>
            <a:endParaRPr sz="1800">
              <a:solidFill>
                <a:srgbClr val="17364B"/>
              </a:solidFill>
            </a:endParaRPr>
          </a:p>
        </p:txBody>
      </p:sp>
      <p:sp>
        <p:nvSpPr>
          <p:cNvPr id="837" name="Google Shape;837;p55"/>
          <p:cNvSpPr/>
          <p:nvPr/>
        </p:nvSpPr>
        <p:spPr>
          <a:xfrm>
            <a:off x="4143375" y="4286250"/>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P2</a:t>
            </a:r>
            <a:endParaRPr sz="1800">
              <a:solidFill>
                <a:srgbClr val="17364B"/>
              </a:solidFill>
            </a:endParaRPr>
          </a:p>
        </p:txBody>
      </p:sp>
      <p:sp>
        <p:nvSpPr>
          <p:cNvPr id="838" name="Google Shape;838;p55"/>
          <p:cNvSpPr/>
          <p:nvPr/>
        </p:nvSpPr>
        <p:spPr>
          <a:xfrm>
            <a:off x="5429250" y="4286250"/>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P3</a:t>
            </a:r>
            <a:endParaRPr sz="1800">
              <a:solidFill>
                <a:srgbClr val="17364B"/>
              </a:solidFill>
            </a:endParaRPr>
          </a:p>
        </p:txBody>
      </p:sp>
      <p:sp>
        <p:nvSpPr>
          <p:cNvPr id="839" name="Google Shape;839;p55"/>
          <p:cNvSpPr/>
          <p:nvPr/>
        </p:nvSpPr>
        <p:spPr>
          <a:xfrm>
            <a:off x="6715125" y="4286250"/>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P4</a:t>
            </a:r>
            <a:endParaRPr sz="1800">
              <a:solidFill>
                <a:srgbClr val="17364B"/>
              </a:solidFill>
            </a:endParaRPr>
          </a:p>
        </p:txBody>
      </p:sp>
      <p:sp>
        <p:nvSpPr>
          <p:cNvPr id="840" name="Google Shape;840;p55"/>
          <p:cNvSpPr/>
          <p:nvPr/>
        </p:nvSpPr>
        <p:spPr>
          <a:xfrm>
            <a:off x="8001000" y="4286250"/>
            <a:ext cx="1171500" cy="7143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A</a:t>
            </a:r>
            <a:endParaRPr sz="1800">
              <a:solidFill>
                <a:srgbClr val="17364B"/>
              </a:solidFill>
            </a:endParaRPr>
          </a:p>
        </p:txBody>
      </p:sp>
      <p:sp>
        <p:nvSpPr>
          <p:cNvPr id="841" name="Google Shape;841;p55"/>
          <p:cNvSpPr/>
          <p:nvPr/>
        </p:nvSpPr>
        <p:spPr>
          <a:xfrm>
            <a:off x="9286875" y="4286250"/>
            <a:ext cx="1171500" cy="7143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17364B"/>
                </a:solidFill>
              </a:rPr>
              <a:t>B</a:t>
            </a:r>
            <a:endParaRPr sz="1800">
              <a:solidFill>
                <a:srgbClr val="17364B"/>
              </a:solidFill>
            </a:endParaRPr>
          </a:p>
        </p:txBody>
      </p:sp>
      <p:sp>
        <p:nvSpPr>
          <p:cNvPr id="842" name="Google Shape;842;p55"/>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Reuse old K/V. Compute new K/V. Attention still reads the context.</a:t>
            </a:r>
            <a:endParaRPr b="1" sz="2025">
              <a:solidFill>
                <a:srgbClr val="002B49"/>
              </a:solidFill>
            </a:endParaRPr>
          </a:p>
        </p:txBody>
      </p:sp>
      <p:sp>
        <p:nvSpPr>
          <p:cNvPr id="843" name="Google Shape;843;p55"/>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48</a:t>
            </a:r>
            <a:endParaRPr sz="1350">
              <a:solidFill>
                <a:srgbClr val="61717D"/>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8" name="Shape 848"/>
        <p:cNvGrpSpPr/>
        <p:nvPr/>
      </p:nvGrpSpPr>
      <p:grpSpPr>
        <a:xfrm>
          <a:off x="0" y="0"/>
          <a:ext cx="0" cy="0"/>
          <a:chOff x="0" y="0"/>
          <a:chExt cx="0" cy="0"/>
        </a:xfrm>
      </p:grpSpPr>
      <p:sp>
        <p:nvSpPr>
          <p:cNvPr id="849" name="Google Shape;849;p56"/>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The inference memory budget</a:t>
            </a:r>
            <a:endParaRPr b="1" sz="3300">
              <a:solidFill>
                <a:srgbClr val="002B49"/>
              </a:solidFill>
            </a:endParaRPr>
          </a:p>
        </p:txBody>
      </p:sp>
      <p:sp>
        <p:nvSpPr>
          <p:cNvPr id="850" name="Google Shape;850;p56"/>
          <p:cNvSpPr/>
          <p:nvPr/>
        </p:nvSpPr>
        <p:spPr>
          <a:xfrm>
            <a:off x="609600" y="2333625"/>
            <a:ext cx="4286400" cy="13812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Model weights</a:t>
            </a:r>
            <a:endParaRPr sz="2175">
              <a:solidFill>
                <a:srgbClr val="17364B"/>
              </a:solidFill>
            </a:endParaRPr>
          </a:p>
        </p:txBody>
      </p:sp>
      <p:sp>
        <p:nvSpPr>
          <p:cNvPr id="851" name="Google Shape;851;p56"/>
          <p:cNvSpPr/>
          <p:nvPr/>
        </p:nvSpPr>
        <p:spPr>
          <a:xfrm>
            <a:off x="4895850" y="2333625"/>
            <a:ext cx="2857500" cy="13812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KV cache</a:t>
            </a:r>
            <a:endParaRPr sz="2175">
              <a:solidFill>
                <a:srgbClr val="17364B"/>
              </a:solidFill>
            </a:endParaRPr>
          </a:p>
        </p:txBody>
      </p:sp>
      <p:sp>
        <p:nvSpPr>
          <p:cNvPr id="852" name="Google Shape;852;p56"/>
          <p:cNvSpPr/>
          <p:nvPr/>
        </p:nvSpPr>
        <p:spPr>
          <a:xfrm>
            <a:off x="7753350" y="2333625"/>
            <a:ext cx="2286000" cy="1381200"/>
          </a:xfrm>
          <a:prstGeom prst="rect">
            <a:avLst/>
          </a:prstGeom>
          <a:solidFill>
            <a:srgbClr val="FFF1E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Working</a:t>
            </a:r>
            <a:endParaRPr sz="2175">
              <a:solidFill>
                <a:srgbClr val="17364B"/>
              </a:solidFill>
            </a:endParaRPr>
          </a:p>
          <a:p>
            <a:pPr indent="0" lvl="0" marL="0" rtl="0" algn="ctr">
              <a:spcBef>
                <a:spcPts val="0"/>
              </a:spcBef>
              <a:spcAft>
                <a:spcPts val="0"/>
              </a:spcAft>
              <a:buNone/>
            </a:pPr>
            <a:r>
              <a:rPr lang="en-US" sz="2175">
                <a:solidFill>
                  <a:srgbClr val="17364B"/>
                </a:solidFill>
              </a:rPr>
              <a:t>memory</a:t>
            </a:r>
            <a:endParaRPr sz="2175">
              <a:solidFill>
                <a:srgbClr val="17364B"/>
              </a:solidFill>
            </a:endParaRPr>
          </a:p>
        </p:txBody>
      </p:sp>
      <p:sp>
        <p:nvSpPr>
          <p:cNvPr id="853" name="Google Shape;853;p56"/>
          <p:cNvSpPr/>
          <p:nvPr/>
        </p:nvSpPr>
        <p:spPr>
          <a:xfrm>
            <a:off x="10039350" y="2333625"/>
            <a:ext cx="1543200" cy="13812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725">
                <a:solidFill>
                  <a:srgbClr val="17364B"/>
                </a:solidFill>
              </a:rPr>
              <a:t>Headroom</a:t>
            </a:r>
            <a:endParaRPr sz="1725">
              <a:solidFill>
                <a:srgbClr val="17364B"/>
              </a:solidFill>
            </a:endParaRPr>
          </a:p>
        </p:txBody>
      </p:sp>
      <p:sp>
        <p:nvSpPr>
          <p:cNvPr id="854" name="Google Shape;854;p56"/>
          <p:cNvSpPr txBox="1"/>
          <p:nvPr/>
        </p:nvSpPr>
        <p:spPr>
          <a:xfrm>
            <a:off x="3905250" y="4191000"/>
            <a:ext cx="66675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147D64"/>
                </a:solidFill>
              </a:rPr>
              <a:t>KV storage grows with</a:t>
            </a:r>
            <a:endParaRPr b="1" sz="2250">
              <a:solidFill>
                <a:srgbClr val="147D64"/>
              </a:solidFill>
            </a:endParaRPr>
          </a:p>
          <a:p>
            <a:pPr indent="0" lvl="0" marL="0" rtl="0" algn="l">
              <a:spcBef>
                <a:spcPts val="0"/>
              </a:spcBef>
              <a:spcAft>
                <a:spcPts val="0"/>
              </a:spcAft>
              <a:buNone/>
            </a:pPr>
            <a:r>
              <a:rPr b="1" lang="en-US" sz="2250">
                <a:solidFill>
                  <a:srgbClr val="147D64"/>
                </a:solidFill>
              </a:rPr>
              <a:t>cached tokens × active sequences</a:t>
            </a:r>
            <a:endParaRPr b="1" sz="2250">
              <a:solidFill>
                <a:srgbClr val="147D64"/>
              </a:solidFill>
            </a:endParaRPr>
          </a:p>
        </p:txBody>
      </p:sp>
      <p:sp>
        <p:nvSpPr>
          <p:cNvPr id="855" name="Google Shape;855;p56"/>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Weights fitting in memory does not guarantee that inference will fit.</a:t>
            </a:r>
            <a:endParaRPr b="1" sz="2025">
              <a:solidFill>
                <a:srgbClr val="002B49"/>
              </a:solidFill>
            </a:endParaRPr>
          </a:p>
        </p:txBody>
      </p:sp>
      <p:sp>
        <p:nvSpPr>
          <p:cNvPr id="856" name="Google Shape;856;p56"/>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49</a:t>
            </a:r>
            <a:endParaRPr sz="1350">
              <a:solidFill>
                <a:srgbClr val="61717D"/>
              </a:solidFill>
            </a:endParaRPr>
          </a:p>
        </p:txBody>
      </p:sp>
      <p:cxnSp>
        <p:nvCxnSpPr>
          <p:cNvPr id="857" name="Google Shape;857;p56"/>
          <p:cNvCxnSpPr/>
          <p:nvPr/>
        </p:nvCxnSpPr>
        <p:spPr>
          <a:xfrm rot="10800000">
            <a:off x="6191250" y="3619575"/>
            <a:ext cx="0" cy="523800"/>
          </a:xfrm>
          <a:prstGeom prst="straightConnector1">
            <a:avLst/>
          </a:prstGeom>
          <a:noFill/>
          <a:ln cap="flat" cmpd="sng" w="22850">
            <a:solidFill>
              <a:srgbClr val="147D63"/>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2" name="Shape 862"/>
        <p:cNvGrpSpPr/>
        <p:nvPr/>
      </p:nvGrpSpPr>
      <p:grpSpPr>
        <a:xfrm>
          <a:off x="0" y="0"/>
          <a:ext cx="0" cy="0"/>
          <a:chOff x="0" y="0"/>
          <a:chExt cx="0" cy="0"/>
        </a:xfrm>
      </p:grpSpPr>
      <p:sp>
        <p:nvSpPr>
          <p:cNvPr id="863" name="Google Shape;863;p57"/>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How KV-cache storage grows</a:t>
            </a:r>
            <a:endParaRPr b="1" sz="3300">
              <a:solidFill>
                <a:srgbClr val="002B49"/>
              </a:solidFill>
            </a:endParaRPr>
          </a:p>
        </p:txBody>
      </p:sp>
      <p:sp>
        <p:nvSpPr>
          <p:cNvPr id="864" name="Google Shape;864;p57"/>
          <p:cNvSpPr txBox="1"/>
          <p:nvPr/>
        </p:nvSpPr>
        <p:spPr>
          <a:xfrm>
            <a:off x="609600" y="1619250"/>
            <a:ext cx="109728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50">
                <a:solidFill>
                  <a:srgbClr val="005A9C"/>
                </a:solidFill>
              </a:rPr>
              <a:t>KV bytes ≈ 2 × layers × sequences × tokens</a:t>
            </a:r>
            <a:endParaRPr b="1" sz="2250">
              <a:solidFill>
                <a:srgbClr val="005A9C"/>
              </a:solidFill>
            </a:endParaRPr>
          </a:p>
          <a:p>
            <a:pPr indent="0" lvl="0" marL="0" rtl="0" algn="l">
              <a:spcBef>
                <a:spcPts val="0"/>
              </a:spcBef>
              <a:spcAft>
                <a:spcPts val="0"/>
              </a:spcAft>
              <a:buNone/>
            </a:pPr>
            <a:r>
              <a:rPr b="1" lang="en-US" sz="2250">
                <a:solidFill>
                  <a:srgbClr val="005A9C"/>
                </a:solidFill>
              </a:rPr>
              <a:t>                  × KV heads × head dimension × bytes per value</a:t>
            </a:r>
            <a:endParaRPr b="1" sz="2250">
              <a:solidFill>
                <a:srgbClr val="005A9C"/>
              </a:solidFill>
            </a:endParaRPr>
          </a:p>
        </p:txBody>
      </p:sp>
      <p:graphicFrame>
        <p:nvGraphicFramePr>
          <p:cNvPr id="865" name="Google Shape;865;p57"/>
          <p:cNvGraphicFramePr/>
          <p:nvPr/>
        </p:nvGraphicFramePr>
        <p:xfrm>
          <a:off x="609600" y="3143250"/>
          <a:ext cx="3000000" cy="3000000"/>
        </p:xfrm>
        <a:graphic>
          <a:graphicData uri="http://schemas.openxmlformats.org/drawingml/2006/table">
            <a:tbl>
              <a:tblPr>
                <a:noFill/>
                <a:tableStyleId>{739E50A3-21F2-4E9A-B190-4EFA897D3436}</a:tableStyleId>
              </a:tblPr>
              <a:tblGrid>
                <a:gridCol w="4000500"/>
                <a:gridCol w="2857500"/>
                <a:gridCol w="4114800"/>
              </a:tblGrid>
              <a:tr h="528625">
                <a:tc>
                  <a:txBody>
                    <a:bodyPr/>
                    <a:lstStyle/>
                    <a:p>
                      <a:pPr indent="0" lvl="0" marL="0" rtl="0" algn="l">
                        <a:spcBef>
                          <a:spcPts val="0"/>
                        </a:spcBef>
                        <a:spcAft>
                          <a:spcPts val="0"/>
                        </a:spcAft>
                        <a:buNone/>
                      </a:pPr>
                      <a:r>
                        <a:rPr b="1" lang="en-US" sz="2025">
                          <a:solidFill>
                            <a:srgbClr val="FFFFFF"/>
                          </a:solidFill>
                        </a:rPr>
                        <a:t>Cached tokens</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Sequences</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KV storage</a:t>
                      </a:r>
                      <a:endParaRPr b="1" sz="2025">
                        <a:solidFill>
                          <a:srgbClr val="FFFFFF"/>
                        </a:solidFill>
                      </a:endParaRPr>
                    </a:p>
                  </a:txBody>
                  <a:tcPr marT="91425" marB="91425" marR="91425" marL="91425" anchor="ctr">
                    <a:solidFill>
                      <a:srgbClr val="002B49"/>
                    </a:solidFill>
                  </a:tcPr>
                </a:tc>
              </a:tr>
              <a:tr h="528625">
                <a:tc>
                  <a:txBody>
                    <a:bodyPr/>
                    <a:lstStyle/>
                    <a:p>
                      <a:pPr indent="0" lvl="0" marL="0" rtl="0" algn="l">
                        <a:spcBef>
                          <a:spcPts val="0"/>
                        </a:spcBef>
                        <a:spcAft>
                          <a:spcPts val="0"/>
                        </a:spcAft>
                        <a:buNone/>
                      </a:pPr>
                      <a:r>
                        <a:rPr lang="en-US" sz="2025">
                          <a:solidFill>
                            <a:srgbClr val="17364B"/>
                          </a:solidFill>
                        </a:rPr>
                        <a:t>4,096</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1</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512 MiB</a:t>
                      </a:r>
                      <a:endParaRPr sz="2025">
                        <a:solidFill>
                          <a:srgbClr val="17364B"/>
                        </a:solidFill>
                      </a:endParaRPr>
                    </a:p>
                  </a:txBody>
                  <a:tcPr marT="91425" marB="91425" marR="91425" marL="91425" anchor="ctr">
                    <a:solidFill>
                      <a:srgbClr val="FFFFFF"/>
                    </a:solidFill>
                  </a:tcPr>
                </a:tc>
              </a:tr>
              <a:tr h="528625">
                <a:tc>
                  <a:txBody>
                    <a:bodyPr/>
                    <a:lstStyle/>
                    <a:p>
                      <a:pPr indent="0" lvl="0" marL="0" rtl="0" algn="l">
                        <a:spcBef>
                          <a:spcPts val="0"/>
                        </a:spcBef>
                        <a:spcAft>
                          <a:spcPts val="0"/>
                        </a:spcAft>
                        <a:buNone/>
                      </a:pPr>
                      <a:r>
                        <a:rPr lang="en-US" sz="2025">
                          <a:solidFill>
                            <a:srgbClr val="17364B"/>
                          </a:solidFill>
                        </a:rPr>
                        <a:t>8,192</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1</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1 GiB</a:t>
                      </a:r>
                      <a:endParaRPr sz="2025">
                        <a:solidFill>
                          <a:srgbClr val="17364B"/>
                        </a:solidFill>
                      </a:endParaRPr>
                    </a:p>
                  </a:txBody>
                  <a:tcPr marT="91425" marB="91425" marR="91425" marL="91425" anchor="ctr">
                    <a:solidFill>
                      <a:srgbClr val="F0F4F7"/>
                    </a:solidFill>
                  </a:tcPr>
                </a:tc>
              </a:tr>
              <a:tr h="528625">
                <a:tc>
                  <a:txBody>
                    <a:bodyPr/>
                    <a:lstStyle/>
                    <a:p>
                      <a:pPr indent="0" lvl="0" marL="0" rtl="0" algn="l">
                        <a:spcBef>
                          <a:spcPts val="0"/>
                        </a:spcBef>
                        <a:spcAft>
                          <a:spcPts val="0"/>
                        </a:spcAft>
                        <a:buNone/>
                      </a:pPr>
                      <a:r>
                        <a:rPr lang="en-US" sz="2025">
                          <a:solidFill>
                            <a:srgbClr val="17364B"/>
                          </a:solidFill>
                        </a:rPr>
                        <a:t>8,192</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4</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4 GiB</a:t>
                      </a:r>
                      <a:endParaRPr sz="2025">
                        <a:solidFill>
                          <a:srgbClr val="17364B"/>
                        </a:solidFill>
                      </a:endParaRPr>
                    </a:p>
                  </a:txBody>
                  <a:tcPr marT="91425" marB="91425" marR="91425" marL="91425" anchor="ctr">
                    <a:solidFill>
                      <a:srgbClr val="FFFFFF"/>
                    </a:solidFill>
                  </a:tcPr>
                </a:tc>
              </a:tr>
            </a:tbl>
          </a:graphicData>
        </a:graphic>
      </p:graphicFrame>
      <p:sp>
        <p:nvSpPr>
          <p:cNvPr id="866" name="Google Shape;866;p57"/>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Example: 32 layers, 8 KV heads, head dimension 128, 2-byte values.</a:t>
            </a:r>
            <a:endParaRPr b="1" sz="2025">
              <a:solidFill>
                <a:srgbClr val="002B49"/>
              </a:solidFill>
            </a:endParaRPr>
          </a:p>
        </p:txBody>
      </p:sp>
      <p:sp>
        <p:nvSpPr>
          <p:cNvPr id="867" name="Google Shape;867;p57"/>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50</a:t>
            </a:r>
            <a:endParaRPr sz="1350">
              <a:solidFill>
                <a:srgbClr val="61717D"/>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2" name="Shape 872"/>
        <p:cNvGrpSpPr/>
        <p:nvPr/>
      </p:nvGrpSpPr>
      <p:grpSpPr>
        <a:xfrm>
          <a:off x="0" y="0"/>
          <a:ext cx="0" cy="0"/>
          <a:chOff x="0" y="0"/>
          <a:chExt cx="0" cy="0"/>
        </a:xfrm>
      </p:grpSpPr>
      <p:sp>
        <p:nvSpPr>
          <p:cNvPr id="873" name="Google Shape;873;p58"/>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Walkthrough: reuse and memory growth</a:t>
            </a:r>
            <a:endParaRPr b="1" sz="3300">
              <a:solidFill>
                <a:srgbClr val="002B49"/>
              </a:solidFill>
            </a:endParaRPr>
          </a:p>
        </p:txBody>
      </p:sp>
      <p:sp>
        <p:nvSpPr>
          <p:cNvPr id="874" name="Google Shape;874;p58"/>
          <p:cNvSpPr txBox="1"/>
          <p:nvPr/>
        </p:nvSpPr>
        <p:spPr>
          <a:xfrm>
            <a:off x="609600" y="1714500"/>
            <a:ext cx="495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005A9C"/>
                </a:solidFill>
              </a:rPr>
              <a:t>Step through generation</a:t>
            </a:r>
            <a:endParaRPr b="1" sz="2550">
              <a:solidFill>
                <a:srgbClr val="005A9C"/>
              </a:solidFill>
            </a:endParaRPr>
          </a:p>
        </p:txBody>
      </p:sp>
      <p:sp>
        <p:nvSpPr>
          <p:cNvPr id="875" name="Google Shape;875;p58"/>
          <p:cNvSpPr txBox="1"/>
          <p:nvPr/>
        </p:nvSpPr>
        <p:spPr>
          <a:xfrm>
            <a:off x="609600" y="2524125"/>
            <a:ext cx="5238900" cy="20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25">
                <a:solidFill>
                  <a:srgbClr val="17364B"/>
                </a:solidFill>
              </a:rPr>
              <a:t>Which K/V blocks are new?</a:t>
            </a:r>
            <a:endParaRPr sz="2325">
              <a:solidFill>
                <a:srgbClr val="17364B"/>
              </a:solidFill>
            </a:endParaRPr>
          </a:p>
          <a:p>
            <a:pPr indent="0" lvl="0" marL="0" rtl="0" algn="l">
              <a:spcBef>
                <a:spcPts val="0"/>
              </a:spcBef>
              <a:spcAft>
                <a:spcPts val="0"/>
              </a:spcAft>
              <a:buNone/>
            </a:pPr>
            <a:r>
              <a:rPr lang="en-US" sz="2325">
                <a:solidFill>
                  <a:srgbClr val="17364B"/>
                </a:solidFill>
              </a:rPr>
              <a:t>Which blocks are reused?</a:t>
            </a:r>
            <a:endParaRPr sz="2325">
              <a:solidFill>
                <a:srgbClr val="17364B"/>
              </a:solidFill>
            </a:endParaRPr>
          </a:p>
          <a:p>
            <a:pPr indent="0" lvl="0" marL="0" rtl="0" algn="l">
              <a:spcBef>
                <a:spcPts val="0"/>
              </a:spcBef>
              <a:spcAft>
                <a:spcPts val="0"/>
              </a:spcAft>
              <a:buNone/>
            </a:pPr>
            <a:r>
              <a:rPr lang="en-US" sz="2325">
                <a:solidFill>
                  <a:srgbClr val="17364B"/>
                </a:solidFill>
              </a:rPr>
              <a:t>What does the query still read?</a:t>
            </a:r>
            <a:endParaRPr sz="2325">
              <a:solidFill>
                <a:srgbClr val="17364B"/>
              </a:solidFill>
            </a:endParaRPr>
          </a:p>
        </p:txBody>
      </p:sp>
      <p:sp>
        <p:nvSpPr>
          <p:cNvPr id="876" name="Google Shape;876;p58"/>
          <p:cNvSpPr txBox="1"/>
          <p:nvPr/>
        </p:nvSpPr>
        <p:spPr>
          <a:xfrm>
            <a:off x="6667500" y="1714500"/>
            <a:ext cx="4914900" cy="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50">
                <a:solidFill>
                  <a:srgbClr val="147D64"/>
                </a:solidFill>
              </a:rPr>
              <a:t>Change the memory budget</a:t>
            </a:r>
            <a:endParaRPr b="1" sz="2550">
              <a:solidFill>
                <a:srgbClr val="147D64"/>
              </a:solidFill>
            </a:endParaRPr>
          </a:p>
        </p:txBody>
      </p:sp>
      <p:sp>
        <p:nvSpPr>
          <p:cNvPr id="877" name="Google Shape;877;p58"/>
          <p:cNvSpPr txBox="1"/>
          <p:nvPr/>
        </p:nvSpPr>
        <p:spPr>
          <a:xfrm>
            <a:off x="6667500" y="2857500"/>
            <a:ext cx="4914900" cy="20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25">
                <a:solidFill>
                  <a:srgbClr val="17364B"/>
                </a:solidFill>
              </a:rPr>
              <a:t>Double context length.</a:t>
            </a:r>
            <a:endParaRPr sz="2325">
              <a:solidFill>
                <a:srgbClr val="17364B"/>
              </a:solidFill>
            </a:endParaRPr>
          </a:p>
          <a:p>
            <a:pPr indent="0" lvl="0" marL="0" rtl="0" algn="l">
              <a:spcBef>
                <a:spcPts val="0"/>
              </a:spcBef>
              <a:spcAft>
                <a:spcPts val="0"/>
              </a:spcAft>
              <a:buNone/>
            </a:pPr>
            <a:r>
              <a:rPr lang="en-US" sz="2325">
                <a:solidFill>
                  <a:srgbClr val="17364B"/>
                </a:solidFill>
              </a:rPr>
              <a:t>Double concurrent sequences.</a:t>
            </a:r>
            <a:endParaRPr sz="2325">
              <a:solidFill>
                <a:srgbClr val="17364B"/>
              </a:solidFill>
            </a:endParaRPr>
          </a:p>
          <a:p>
            <a:pPr indent="0" lvl="0" marL="0" rtl="0" algn="l">
              <a:spcBef>
                <a:spcPts val="0"/>
              </a:spcBef>
              <a:spcAft>
                <a:spcPts val="0"/>
              </a:spcAft>
              <a:buNone/>
            </a:pPr>
            <a:r>
              <a:rPr lang="en-US" sz="2325">
                <a:solidFill>
                  <a:srgbClr val="17364B"/>
                </a:solidFill>
              </a:rPr>
              <a:t>Keep the model weights fixed.</a:t>
            </a:r>
            <a:endParaRPr sz="2325">
              <a:solidFill>
                <a:srgbClr val="17364B"/>
              </a:solidFill>
            </a:endParaRPr>
          </a:p>
        </p:txBody>
      </p:sp>
      <p:sp>
        <p:nvSpPr>
          <p:cNvPr id="878" name="Google Shape;878;p58"/>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cache saves computation by retaining more data.</a:t>
            </a:r>
            <a:endParaRPr b="1" sz="2025">
              <a:solidFill>
                <a:srgbClr val="002B49"/>
              </a:solidFill>
            </a:endParaRPr>
          </a:p>
        </p:txBody>
      </p:sp>
      <p:sp>
        <p:nvSpPr>
          <p:cNvPr id="879" name="Google Shape;879;p58"/>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51</a:t>
            </a:r>
            <a:endParaRPr sz="1350">
              <a:solidFill>
                <a:srgbClr val="61717D"/>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4" name="Shape 884"/>
        <p:cNvGrpSpPr/>
        <p:nvPr/>
      </p:nvGrpSpPr>
      <p:grpSpPr>
        <a:xfrm>
          <a:off x="0" y="0"/>
          <a:ext cx="0" cy="0"/>
          <a:chOff x="0" y="0"/>
          <a:chExt cx="0" cy="0"/>
        </a:xfrm>
      </p:grpSpPr>
      <p:sp>
        <p:nvSpPr>
          <p:cNvPr id="885" name="Google Shape;885;p59"/>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Different caches retain different things</a:t>
            </a:r>
            <a:endParaRPr b="1" sz="3300">
              <a:solidFill>
                <a:srgbClr val="002B49"/>
              </a:solidFill>
            </a:endParaRPr>
          </a:p>
        </p:txBody>
      </p:sp>
      <p:graphicFrame>
        <p:nvGraphicFramePr>
          <p:cNvPr id="886" name="Google Shape;886;p59"/>
          <p:cNvGraphicFramePr/>
          <p:nvPr/>
        </p:nvGraphicFramePr>
        <p:xfrm>
          <a:off x="609600" y="1714500"/>
          <a:ext cx="3000000" cy="3000000"/>
        </p:xfrm>
        <a:graphic>
          <a:graphicData uri="http://schemas.openxmlformats.org/drawingml/2006/table">
            <a:tbl>
              <a:tblPr>
                <a:noFill/>
                <a:tableStyleId>{739E50A3-21F2-4E9A-B190-4EFA897D3436}</a:tableStyleId>
              </a:tblPr>
              <a:tblGrid>
                <a:gridCol w="2857500"/>
                <a:gridCol w="5048250"/>
                <a:gridCol w="3067050"/>
              </a:tblGrid>
              <a:tr h="723900">
                <a:tc>
                  <a:txBody>
                    <a:bodyPr/>
                    <a:lstStyle/>
                    <a:p>
                      <a:pPr indent="0" lvl="0" marL="0" rtl="0" algn="l">
                        <a:spcBef>
                          <a:spcPts val="0"/>
                        </a:spcBef>
                        <a:spcAft>
                          <a:spcPts val="0"/>
                        </a:spcAft>
                        <a:buNone/>
                      </a:pPr>
                      <a:r>
                        <a:rPr b="1" lang="en-US" sz="1875">
                          <a:solidFill>
                            <a:srgbClr val="FFFFFF"/>
                          </a:solidFill>
                        </a:rPr>
                        <a:t>Kind</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Retained information</a:t>
                      </a:r>
                      <a:endParaRPr b="1" sz="187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1875">
                          <a:solidFill>
                            <a:srgbClr val="FFFFFF"/>
                          </a:solidFill>
                        </a:rPr>
                        <a:t>Typical lifetime</a:t>
                      </a:r>
                      <a:endParaRPr b="1" sz="1875">
                        <a:solidFill>
                          <a:srgbClr val="FFFFFF"/>
                        </a:solidFill>
                      </a:endParaRPr>
                    </a:p>
                  </a:txBody>
                  <a:tcPr marT="91425" marB="91425" marR="91425" marL="91425" anchor="ctr">
                    <a:solidFill>
                      <a:srgbClr val="002B49"/>
                    </a:solidFill>
                  </a:tcPr>
                </a:tc>
              </a:tr>
              <a:tr h="723900">
                <a:tc>
                  <a:txBody>
                    <a:bodyPr/>
                    <a:lstStyle/>
                    <a:p>
                      <a:pPr indent="0" lvl="0" marL="0" rtl="0" algn="l">
                        <a:spcBef>
                          <a:spcPts val="0"/>
                        </a:spcBef>
                        <a:spcAft>
                          <a:spcPts val="0"/>
                        </a:spcAft>
                        <a:buNone/>
                      </a:pPr>
                      <a:r>
                        <a:rPr lang="en-US" sz="1875">
                          <a:solidFill>
                            <a:srgbClr val="17364B"/>
                          </a:solidFill>
                        </a:rPr>
                        <a:t>CPU cache</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Copies of memory data near execution</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Hardware-managed</a:t>
                      </a:r>
                      <a:endParaRPr sz="1875">
                        <a:solidFill>
                          <a:srgbClr val="17364B"/>
                        </a:solidFill>
                      </a:endParaRPr>
                    </a:p>
                  </a:txBody>
                  <a:tcPr marT="91425" marB="91425" marR="91425" marL="91425" anchor="ctr">
                    <a:solidFill>
                      <a:srgbClr val="FFFFFF"/>
                    </a:solidFill>
                  </a:tcPr>
                </a:tc>
              </a:tr>
              <a:tr h="723900">
                <a:tc>
                  <a:txBody>
                    <a:bodyPr/>
                    <a:lstStyle/>
                    <a:p>
                      <a:pPr indent="0" lvl="0" marL="0" rtl="0" algn="l">
                        <a:spcBef>
                          <a:spcPts val="0"/>
                        </a:spcBef>
                        <a:spcAft>
                          <a:spcPts val="0"/>
                        </a:spcAft>
                        <a:buNone/>
                      </a:pPr>
                      <a:r>
                        <a:rPr lang="en-US" sz="1875">
                          <a:solidFill>
                            <a:srgbClr val="17364B"/>
                          </a:solidFill>
                        </a:rPr>
                        <a:t>Python result cache</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Function outputs associated with keys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Until eviction / invalidation</a:t>
                      </a:r>
                      <a:endParaRPr sz="1875">
                        <a:solidFill>
                          <a:srgbClr val="17364B"/>
                        </a:solidFill>
                      </a:endParaRPr>
                    </a:p>
                  </a:txBody>
                  <a:tcPr marT="91425" marB="91425" marR="91425" marL="91425" anchor="ctr">
                    <a:solidFill>
                      <a:srgbClr val="F0F4F7"/>
                    </a:solidFill>
                  </a:tcPr>
                </a:tc>
              </a:tr>
              <a:tr h="723900">
                <a:tc>
                  <a:txBody>
                    <a:bodyPr/>
                    <a:lstStyle/>
                    <a:p>
                      <a:pPr indent="0" lvl="0" marL="0" rtl="0" algn="l">
                        <a:spcBef>
                          <a:spcPts val="0"/>
                        </a:spcBef>
                        <a:spcAft>
                          <a:spcPts val="0"/>
                        </a:spcAft>
                        <a:buNone/>
                      </a:pPr>
                      <a:r>
                        <a:rPr lang="en-US" sz="1875">
                          <a:solidFill>
                            <a:srgbClr val="17364B"/>
                          </a:solidFill>
                        </a:rPr>
                        <a:t>Attention KV cache</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Per-layer token keys and values</a:t>
                      </a:r>
                      <a:endParaRPr sz="187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1875">
                          <a:solidFill>
                            <a:srgbClr val="17364B"/>
                          </a:solidFill>
                        </a:rPr>
                        <a:t>Active sequence / serving policy</a:t>
                      </a:r>
                      <a:endParaRPr sz="1875">
                        <a:solidFill>
                          <a:srgbClr val="17364B"/>
                        </a:solidFill>
                      </a:endParaRPr>
                    </a:p>
                  </a:txBody>
                  <a:tcPr marT="91425" marB="91425" marR="91425" marL="91425" anchor="ctr">
                    <a:solidFill>
                      <a:srgbClr val="FFFFFF"/>
                    </a:solidFill>
                  </a:tcPr>
                </a:tc>
              </a:tr>
              <a:tr h="723900">
                <a:tc>
                  <a:txBody>
                    <a:bodyPr/>
                    <a:lstStyle/>
                    <a:p>
                      <a:pPr indent="0" lvl="0" marL="0" rtl="0" algn="l">
                        <a:spcBef>
                          <a:spcPts val="0"/>
                        </a:spcBef>
                        <a:spcAft>
                          <a:spcPts val="0"/>
                        </a:spcAft>
                        <a:buNone/>
                      </a:pPr>
                      <a:r>
                        <a:rPr lang="en-US" sz="1875">
                          <a:solidFill>
                            <a:srgbClr val="17364B"/>
                          </a:solidFill>
                        </a:rPr>
                        <a:t>Persistent agent memory</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Application records, files, retrieved facts</a:t>
                      </a:r>
                      <a:endParaRPr sz="187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1875">
                          <a:solidFill>
                            <a:srgbClr val="17364B"/>
                          </a:solidFill>
                        </a:rPr>
                        <a:t>Across requests if stored</a:t>
                      </a:r>
                      <a:endParaRPr sz="1875">
                        <a:solidFill>
                          <a:srgbClr val="17364B"/>
                        </a:solidFill>
                      </a:endParaRPr>
                    </a:p>
                  </a:txBody>
                  <a:tcPr marT="91425" marB="91425" marR="91425" marL="91425" anchor="ctr">
                    <a:solidFill>
                      <a:srgbClr val="F0F4F7"/>
                    </a:solidFill>
                  </a:tcPr>
                </a:tc>
              </a:tr>
            </a:tbl>
          </a:graphicData>
        </a:graphic>
      </p:graphicFrame>
      <p:sp>
        <p:nvSpPr>
          <p:cNvPr id="887" name="Google Shape;887;p59"/>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Shared word “cache” does not mean shared contents or behavior.</a:t>
            </a:r>
            <a:endParaRPr b="1" sz="2025">
              <a:solidFill>
                <a:srgbClr val="002B49"/>
              </a:solidFill>
            </a:endParaRPr>
          </a:p>
        </p:txBody>
      </p:sp>
      <p:sp>
        <p:nvSpPr>
          <p:cNvPr id="888" name="Google Shape;888;p59"/>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52</a:t>
            </a:r>
            <a:endParaRPr sz="1350">
              <a:solidFill>
                <a:srgbClr val="61717D"/>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893" name="Shape 893"/>
        <p:cNvGrpSpPr/>
        <p:nvPr/>
      </p:nvGrpSpPr>
      <p:grpSpPr>
        <a:xfrm>
          <a:off x="0" y="0"/>
          <a:ext cx="0" cy="0"/>
          <a:chOff x="0" y="0"/>
          <a:chExt cx="0" cy="0"/>
        </a:xfrm>
      </p:grpSpPr>
      <p:sp>
        <p:nvSpPr>
          <p:cNvPr id="894" name="Google Shape;894;p60"/>
          <p:cNvSpPr txBox="1"/>
          <p:nvPr/>
        </p:nvSpPr>
        <p:spPr>
          <a:xfrm>
            <a:off x="685800" y="1285875"/>
            <a:ext cx="104775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75">
                <a:solidFill>
                  <a:srgbClr val="FDB515"/>
                </a:solidFill>
              </a:rPr>
              <a:t>TOOL CHECKS</a:t>
            </a:r>
            <a:endParaRPr b="1" sz="1875">
              <a:solidFill>
                <a:srgbClr val="FDB515"/>
              </a:solidFill>
            </a:endParaRPr>
          </a:p>
        </p:txBody>
      </p:sp>
      <p:sp>
        <p:nvSpPr>
          <p:cNvPr id="895" name="Google Shape;895;p60"/>
          <p:cNvSpPr txBox="1"/>
          <p:nvPr/>
        </p:nvSpPr>
        <p:spPr>
          <a:xfrm>
            <a:off x="685800" y="2238375"/>
            <a:ext cx="10572900" cy="16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500">
                <a:solidFill>
                  <a:srgbClr val="FFFFFF"/>
                </a:solidFill>
              </a:rPr>
              <a:t>Tool execution and independent checks</a:t>
            </a:r>
            <a:endParaRPr b="1" sz="4500">
              <a:solidFill>
                <a:srgbClr val="FFFFFF"/>
              </a:solidFill>
            </a:endParaRPr>
          </a:p>
        </p:txBody>
      </p:sp>
      <p:sp>
        <p:nvSpPr>
          <p:cNvPr id="896" name="Google Shape;896;p60"/>
          <p:cNvSpPr txBox="1"/>
          <p:nvPr/>
        </p:nvSpPr>
        <p:spPr>
          <a:xfrm>
            <a:off x="685800" y="4333875"/>
            <a:ext cx="10477500" cy="11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FFFFFF"/>
                </a:solidFill>
              </a:rPr>
              <a:t>A proposed action, an executed function and a correct result are separate things.</a:t>
            </a:r>
            <a:endParaRPr sz="2550">
              <a:solidFill>
                <a:srgbClr val="FFFFFF"/>
              </a:solidFill>
            </a:endParaRPr>
          </a:p>
        </p:txBody>
      </p:sp>
      <p:sp>
        <p:nvSpPr>
          <p:cNvPr id="897" name="Google Shape;897;p60"/>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FFFFFF"/>
                </a:solidFill>
              </a:rPr>
              <a:t>53</a:t>
            </a:r>
            <a:endParaRPr sz="135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2" name="Shape 902"/>
        <p:cNvGrpSpPr/>
        <p:nvPr/>
      </p:nvGrpSpPr>
      <p:grpSpPr>
        <a:xfrm>
          <a:off x="0" y="0"/>
          <a:ext cx="0" cy="0"/>
          <a:chOff x="0" y="0"/>
          <a:chExt cx="0" cy="0"/>
        </a:xfrm>
      </p:grpSpPr>
      <p:sp>
        <p:nvSpPr>
          <p:cNvPr id="903" name="Google Shape;903;p61"/>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A request becomes an executed function</a:t>
            </a:r>
            <a:endParaRPr b="1" sz="3300">
              <a:solidFill>
                <a:srgbClr val="002B49"/>
              </a:solidFill>
            </a:endParaRPr>
          </a:p>
        </p:txBody>
      </p:sp>
      <p:sp>
        <p:nvSpPr>
          <p:cNvPr id="904" name="Google Shape;904;p61"/>
          <p:cNvSpPr/>
          <p:nvPr/>
        </p:nvSpPr>
        <p:spPr>
          <a:xfrm>
            <a:off x="609600" y="2095500"/>
            <a:ext cx="2952900" cy="1190700"/>
          </a:xfrm>
          <a:prstGeom prst="rect">
            <a:avLst/>
          </a:prstGeom>
          <a:solidFill>
            <a:srgbClr val="E6F1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250">
                <a:solidFill>
                  <a:srgbClr val="17364B"/>
                </a:solidFill>
              </a:rPr>
              <a:t>Prepared request</a:t>
            </a:r>
            <a:endParaRPr sz="2250">
              <a:solidFill>
                <a:srgbClr val="17364B"/>
              </a:solidFill>
            </a:endParaRPr>
          </a:p>
          <a:p>
            <a:pPr indent="0" lvl="0" marL="0" rtl="0" algn="ctr">
              <a:spcBef>
                <a:spcPts val="0"/>
              </a:spcBef>
              <a:spcAft>
                <a:spcPts val="0"/>
              </a:spcAft>
              <a:buNone/>
            </a:pPr>
            <a:r>
              <a:rPr lang="en-US" sz="2250">
                <a:solidFill>
                  <a:srgbClr val="17364B"/>
                </a:solidFill>
              </a:rPr>
              <a:t>2 shares at 100</a:t>
            </a:r>
            <a:endParaRPr sz="2250">
              <a:solidFill>
                <a:srgbClr val="17364B"/>
              </a:solidFill>
            </a:endParaRPr>
          </a:p>
        </p:txBody>
      </p:sp>
      <p:sp>
        <p:nvSpPr>
          <p:cNvPr id="905" name="Google Shape;905;p61"/>
          <p:cNvSpPr/>
          <p:nvPr/>
        </p:nvSpPr>
        <p:spPr>
          <a:xfrm>
            <a:off x="4476750" y="2095500"/>
            <a:ext cx="2952900" cy="1190700"/>
          </a:xfrm>
          <a:prstGeom prst="rect">
            <a:avLst/>
          </a:prstGeom>
          <a:solidFill>
            <a:srgbClr val="F0F4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Harness</a:t>
            </a:r>
            <a:endParaRPr sz="2175">
              <a:solidFill>
                <a:srgbClr val="17364B"/>
              </a:solidFill>
            </a:endParaRPr>
          </a:p>
          <a:p>
            <a:pPr indent="0" lvl="0" marL="0" rtl="0" algn="ctr">
              <a:spcBef>
                <a:spcPts val="0"/>
              </a:spcBef>
              <a:spcAft>
                <a:spcPts val="0"/>
              </a:spcAft>
              <a:buNone/>
            </a:pPr>
            <a:r>
              <a:rPr lang="en-US" sz="2175">
                <a:solidFill>
                  <a:srgbClr val="17364B"/>
                </a:solidFill>
              </a:rPr>
              <a:t>validate + dispatch</a:t>
            </a:r>
            <a:endParaRPr sz="2175">
              <a:solidFill>
                <a:srgbClr val="17364B"/>
              </a:solidFill>
            </a:endParaRPr>
          </a:p>
        </p:txBody>
      </p:sp>
      <p:sp>
        <p:nvSpPr>
          <p:cNvPr id="906" name="Google Shape;906;p61"/>
          <p:cNvSpPr/>
          <p:nvPr/>
        </p:nvSpPr>
        <p:spPr>
          <a:xfrm>
            <a:off x="8343900" y="2095500"/>
            <a:ext cx="3238500" cy="1190700"/>
          </a:xfrm>
          <a:prstGeom prst="rect">
            <a:avLst/>
          </a:prstGeom>
          <a:solidFill>
            <a:srgbClr val="E6F3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175">
                <a:solidFill>
                  <a:srgbClr val="17364B"/>
                </a:solidFill>
              </a:rPr>
              <a:t>Python function</a:t>
            </a:r>
            <a:endParaRPr sz="2175">
              <a:solidFill>
                <a:srgbClr val="17364B"/>
              </a:solidFill>
            </a:endParaRPr>
          </a:p>
          <a:p>
            <a:pPr indent="0" lvl="0" marL="0" rtl="0" algn="ctr">
              <a:spcBef>
                <a:spcPts val="0"/>
              </a:spcBef>
              <a:spcAft>
                <a:spcPts val="0"/>
              </a:spcAft>
              <a:buNone/>
            </a:pPr>
            <a:r>
              <a:rPr lang="en-US" sz="2175">
                <a:solidFill>
                  <a:srgbClr val="17364B"/>
                </a:solidFill>
              </a:rPr>
              <a:t>2 × 100 = 200</a:t>
            </a:r>
            <a:endParaRPr sz="2175">
              <a:solidFill>
                <a:srgbClr val="17364B"/>
              </a:solidFill>
            </a:endParaRPr>
          </a:p>
        </p:txBody>
      </p:sp>
      <p:cxnSp>
        <p:nvCxnSpPr>
          <p:cNvPr id="907" name="Google Shape;907;p61"/>
          <p:cNvCxnSpPr/>
          <p:nvPr/>
        </p:nvCxnSpPr>
        <p:spPr>
          <a:xfrm>
            <a:off x="3562350" y="2686050"/>
            <a:ext cx="914400" cy="0"/>
          </a:xfrm>
          <a:prstGeom prst="straightConnector1">
            <a:avLst/>
          </a:prstGeom>
          <a:noFill/>
          <a:ln cap="flat" cmpd="sng" w="22850">
            <a:solidFill>
              <a:srgbClr val="005A9C"/>
            </a:solidFill>
            <a:prstDash val="solid"/>
            <a:round/>
            <a:headEnd len="med" w="med" type="none"/>
            <a:tailEnd len="med" w="med" type="triangle"/>
          </a:ln>
        </p:spPr>
      </p:cxnSp>
      <p:cxnSp>
        <p:nvCxnSpPr>
          <p:cNvPr id="908" name="Google Shape;908;p61"/>
          <p:cNvCxnSpPr/>
          <p:nvPr/>
        </p:nvCxnSpPr>
        <p:spPr>
          <a:xfrm>
            <a:off x="7429500" y="2686050"/>
            <a:ext cx="914400" cy="0"/>
          </a:xfrm>
          <a:prstGeom prst="straightConnector1">
            <a:avLst/>
          </a:prstGeom>
          <a:noFill/>
          <a:ln cap="flat" cmpd="sng" w="22850">
            <a:solidFill>
              <a:srgbClr val="147D64"/>
            </a:solidFill>
            <a:prstDash val="solid"/>
            <a:round/>
            <a:headEnd len="med" w="med" type="none"/>
            <a:tailEnd len="med" w="med" type="triangle"/>
          </a:ln>
        </p:spPr>
      </p:cxnSp>
      <p:sp>
        <p:nvSpPr>
          <p:cNvPr id="909" name="Google Shape;909;p61"/>
          <p:cNvSpPr/>
          <p:nvPr/>
        </p:nvSpPr>
        <p:spPr>
          <a:xfrm>
            <a:off x="609600" y="4286250"/>
            <a:ext cx="10972800" cy="10479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325">
                <a:solidFill>
                  <a:srgbClr val="17364B"/>
                </a:solidFill>
                <a:latin typeface="Roboto Mono"/>
                <a:ea typeface="Roboto Mono"/>
                <a:cs typeface="Roboto Mono"/>
                <a:sym typeface="Roboto Mono"/>
              </a:rPr>
              <a:t>def position_value(shares, price):</a:t>
            </a:r>
            <a:endParaRPr sz="2325">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325">
                <a:solidFill>
                  <a:srgbClr val="17364B"/>
                </a:solidFill>
                <a:latin typeface="Roboto Mono"/>
                <a:ea typeface="Roboto Mono"/>
                <a:cs typeface="Roboto Mono"/>
                <a:sym typeface="Roboto Mono"/>
              </a:rPr>
              <a:t>    return shares * price</a:t>
            </a:r>
            <a:endParaRPr sz="2325">
              <a:solidFill>
                <a:srgbClr val="17364B"/>
              </a:solidFill>
              <a:latin typeface="Roboto Mono"/>
              <a:ea typeface="Roboto Mono"/>
              <a:cs typeface="Roboto Mono"/>
              <a:sym typeface="Roboto Mono"/>
            </a:endParaRPr>
          </a:p>
        </p:txBody>
      </p:sp>
      <p:sp>
        <p:nvSpPr>
          <p:cNvPr id="910" name="Google Shape;910;p61"/>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The function executes the calculation. The request alone does not.</a:t>
            </a:r>
            <a:endParaRPr b="1" sz="2025">
              <a:solidFill>
                <a:srgbClr val="002B49"/>
              </a:solidFill>
            </a:endParaRPr>
          </a:p>
        </p:txBody>
      </p:sp>
      <p:sp>
        <p:nvSpPr>
          <p:cNvPr id="911" name="Google Shape;911;p61"/>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54</a:t>
            </a:r>
            <a:endParaRPr sz="1350">
              <a:solidFill>
                <a:srgbClr val="61717D"/>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6" name="Shape 916"/>
        <p:cNvGrpSpPr/>
        <p:nvPr/>
      </p:nvGrpSpPr>
      <p:grpSpPr>
        <a:xfrm>
          <a:off x="0" y="0"/>
          <a:ext cx="0" cy="0"/>
          <a:chOff x="0" y="0"/>
          <a:chExt cx="0" cy="0"/>
        </a:xfrm>
      </p:grpSpPr>
      <p:sp>
        <p:nvSpPr>
          <p:cNvPr id="917" name="Google Shape;917;p62"/>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Independent checks expose a plausible error</a:t>
            </a:r>
            <a:endParaRPr b="1" sz="3300">
              <a:solidFill>
                <a:srgbClr val="002B49"/>
              </a:solidFill>
            </a:endParaRPr>
          </a:p>
        </p:txBody>
      </p:sp>
      <p:sp>
        <p:nvSpPr>
          <p:cNvPr id="918" name="Google Shape;918;p62"/>
          <p:cNvSpPr/>
          <p:nvPr/>
        </p:nvSpPr>
        <p:spPr>
          <a:xfrm>
            <a:off x="609600" y="1647825"/>
            <a:ext cx="10972800" cy="952500"/>
          </a:xfrm>
          <a:prstGeom prst="rect">
            <a:avLst/>
          </a:prstGeom>
          <a:solidFill>
            <a:srgbClr val="F0F4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 Incorrect but plausible-looking</a:t>
            </a:r>
            <a:endParaRPr sz="2250">
              <a:solidFill>
                <a:srgbClr val="17364B"/>
              </a:solidFill>
              <a:latin typeface="Roboto Mono"/>
              <a:ea typeface="Roboto Mono"/>
              <a:cs typeface="Roboto Mono"/>
              <a:sym typeface="Roboto Mono"/>
            </a:endParaRPr>
          </a:p>
          <a:p>
            <a:pPr indent="0" lvl="0" marL="0" rtl="0" algn="l">
              <a:spcBef>
                <a:spcPts val="0"/>
              </a:spcBef>
              <a:spcAft>
                <a:spcPts val="0"/>
              </a:spcAft>
              <a:buNone/>
            </a:pPr>
            <a:r>
              <a:rPr lang="en-US" sz="2250">
                <a:solidFill>
                  <a:srgbClr val="17364B"/>
                </a:solidFill>
                <a:latin typeface="Roboto Mono"/>
                <a:ea typeface="Roboto Mono"/>
                <a:cs typeface="Roboto Mono"/>
                <a:sym typeface="Roboto Mono"/>
              </a:rPr>
              <a:t>return shares + price</a:t>
            </a:r>
            <a:endParaRPr sz="2250">
              <a:solidFill>
                <a:srgbClr val="17364B"/>
              </a:solidFill>
              <a:latin typeface="Roboto Mono"/>
              <a:ea typeface="Roboto Mono"/>
              <a:cs typeface="Roboto Mono"/>
              <a:sym typeface="Roboto Mono"/>
            </a:endParaRPr>
          </a:p>
        </p:txBody>
      </p:sp>
      <p:graphicFrame>
        <p:nvGraphicFramePr>
          <p:cNvPr id="919" name="Google Shape;919;p62"/>
          <p:cNvGraphicFramePr/>
          <p:nvPr/>
        </p:nvGraphicFramePr>
        <p:xfrm>
          <a:off x="609600" y="3143250"/>
          <a:ext cx="3000000" cy="3000000"/>
        </p:xfrm>
        <a:graphic>
          <a:graphicData uri="http://schemas.openxmlformats.org/drawingml/2006/table">
            <a:tbl>
              <a:tblPr>
                <a:noFill/>
                <a:tableStyleId>{739E50A3-21F2-4E9A-B190-4EFA897D3436}</a:tableStyleId>
              </a:tblPr>
              <a:tblGrid>
                <a:gridCol w="4095750"/>
                <a:gridCol w="2667000"/>
                <a:gridCol w="4210050"/>
              </a:tblGrid>
              <a:tr h="528625">
                <a:tc>
                  <a:txBody>
                    <a:bodyPr/>
                    <a:lstStyle/>
                    <a:p>
                      <a:pPr indent="0" lvl="0" marL="0" rtl="0" algn="l">
                        <a:spcBef>
                          <a:spcPts val="0"/>
                        </a:spcBef>
                        <a:spcAft>
                          <a:spcPts val="0"/>
                        </a:spcAft>
                        <a:buNone/>
                      </a:pPr>
                      <a:r>
                        <a:rPr b="1" lang="en-US" sz="2025">
                          <a:solidFill>
                            <a:srgbClr val="FFFFFF"/>
                          </a:solidFill>
                        </a:rPr>
                        <a:t>Shares × price</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Expected</a:t>
                      </a:r>
                      <a:endParaRPr b="1" sz="2025">
                        <a:solidFill>
                          <a:srgbClr val="FFFFFF"/>
                        </a:solidFill>
                      </a:endParaRPr>
                    </a:p>
                  </a:txBody>
                  <a:tcPr marT="91425" marB="91425" marR="91425" marL="91425" anchor="ctr">
                    <a:solidFill>
                      <a:srgbClr val="002B49"/>
                    </a:solidFill>
                  </a:tcPr>
                </a:tc>
                <a:tc>
                  <a:txBody>
                    <a:bodyPr/>
                    <a:lstStyle/>
                    <a:p>
                      <a:pPr indent="0" lvl="0" marL="0" rtl="0" algn="l">
                        <a:spcBef>
                          <a:spcPts val="0"/>
                        </a:spcBef>
                        <a:spcAft>
                          <a:spcPts val="0"/>
                        </a:spcAft>
                        <a:buNone/>
                      </a:pPr>
                      <a:r>
                        <a:rPr b="1" lang="en-US" sz="2025">
                          <a:solidFill>
                            <a:srgbClr val="FFFFFF"/>
                          </a:solidFill>
                        </a:rPr>
                        <a:t>Addition returns</a:t>
                      </a:r>
                      <a:endParaRPr b="1" sz="2025">
                        <a:solidFill>
                          <a:srgbClr val="FFFFFF"/>
                        </a:solidFill>
                      </a:endParaRPr>
                    </a:p>
                  </a:txBody>
                  <a:tcPr marT="91425" marB="91425" marR="91425" marL="91425" anchor="ctr">
                    <a:solidFill>
                      <a:srgbClr val="002B49"/>
                    </a:solidFill>
                  </a:tcPr>
                </a:tc>
              </a:tr>
              <a:tr h="528625">
                <a:tc>
                  <a:txBody>
                    <a:bodyPr/>
                    <a:lstStyle/>
                    <a:p>
                      <a:pPr indent="0" lvl="0" marL="0" rtl="0" algn="l">
                        <a:spcBef>
                          <a:spcPts val="0"/>
                        </a:spcBef>
                        <a:spcAft>
                          <a:spcPts val="0"/>
                        </a:spcAft>
                        <a:buNone/>
                      </a:pPr>
                      <a:r>
                        <a:rPr lang="en-US" sz="2025">
                          <a:solidFill>
                            <a:srgbClr val="17364B"/>
                          </a:solidFill>
                        </a:rPr>
                        <a:t>2 × 100</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200</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102</a:t>
                      </a:r>
                      <a:endParaRPr sz="2025">
                        <a:solidFill>
                          <a:srgbClr val="17364B"/>
                        </a:solidFill>
                      </a:endParaRPr>
                    </a:p>
                  </a:txBody>
                  <a:tcPr marT="91425" marB="91425" marR="91425" marL="91425" anchor="ctr">
                    <a:solidFill>
                      <a:srgbClr val="FFFFFF"/>
                    </a:solidFill>
                  </a:tcPr>
                </a:tc>
              </a:tr>
              <a:tr h="528625">
                <a:tc>
                  <a:txBody>
                    <a:bodyPr/>
                    <a:lstStyle/>
                    <a:p>
                      <a:pPr indent="0" lvl="0" marL="0" rtl="0" algn="l">
                        <a:spcBef>
                          <a:spcPts val="0"/>
                        </a:spcBef>
                        <a:spcAft>
                          <a:spcPts val="0"/>
                        </a:spcAft>
                        <a:buNone/>
                      </a:pPr>
                      <a:r>
                        <a:rPr lang="en-US" sz="2025">
                          <a:solidFill>
                            <a:srgbClr val="17364B"/>
                          </a:solidFill>
                        </a:rPr>
                        <a:t>0 × 100</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0</a:t>
                      </a:r>
                      <a:endParaRPr sz="2025">
                        <a:solidFill>
                          <a:srgbClr val="17364B"/>
                        </a:solidFill>
                      </a:endParaRPr>
                    </a:p>
                  </a:txBody>
                  <a:tcPr marT="91425" marB="91425" marR="91425" marL="91425" anchor="ctr">
                    <a:solidFill>
                      <a:srgbClr val="F0F4F7"/>
                    </a:solidFill>
                  </a:tcPr>
                </a:tc>
                <a:tc>
                  <a:txBody>
                    <a:bodyPr/>
                    <a:lstStyle/>
                    <a:p>
                      <a:pPr indent="0" lvl="0" marL="0" rtl="0" algn="l">
                        <a:spcBef>
                          <a:spcPts val="0"/>
                        </a:spcBef>
                        <a:spcAft>
                          <a:spcPts val="0"/>
                        </a:spcAft>
                        <a:buNone/>
                      </a:pPr>
                      <a:r>
                        <a:rPr lang="en-US" sz="2025">
                          <a:solidFill>
                            <a:srgbClr val="17364B"/>
                          </a:solidFill>
                        </a:rPr>
                        <a:t>100</a:t>
                      </a:r>
                      <a:endParaRPr sz="2025">
                        <a:solidFill>
                          <a:srgbClr val="17364B"/>
                        </a:solidFill>
                      </a:endParaRPr>
                    </a:p>
                  </a:txBody>
                  <a:tcPr marT="91425" marB="91425" marR="91425" marL="91425" anchor="ctr">
                    <a:solidFill>
                      <a:srgbClr val="F0F4F7"/>
                    </a:solidFill>
                  </a:tcPr>
                </a:tc>
              </a:tr>
              <a:tr h="528625">
                <a:tc>
                  <a:txBody>
                    <a:bodyPr/>
                    <a:lstStyle/>
                    <a:p>
                      <a:pPr indent="0" lvl="0" marL="0" rtl="0" algn="l">
                        <a:spcBef>
                          <a:spcPts val="0"/>
                        </a:spcBef>
                        <a:spcAft>
                          <a:spcPts val="0"/>
                        </a:spcAft>
                        <a:buNone/>
                      </a:pPr>
                      <a:r>
                        <a:rPr lang="en-US" sz="2025">
                          <a:solidFill>
                            <a:srgbClr val="17364B"/>
                          </a:solidFill>
                        </a:rPr>
                        <a:t>0.5 × 80</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40</a:t>
                      </a:r>
                      <a:endParaRPr sz="2025">
                        <a:solidFill>
                          <a:srgbClr val="1736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US" sz="2025">
                          <a:solidFill>
                            <a:srgbClr val="17364B"/>
                          </a:solidFill>
                        </a:rPr>
                        <a:t>80.5</a:t>
                      </a:r>
                      <a:endParaRPr sz="2025">
                        <a:solidFill>
                          <a:srgbClr val="17364B"/>
                        </a:solidFill>
                      </a:endParaRPr>
                    </a:p>
                  </a:txBody>
                  <a:tcPr marT="91425" marB="91425" marR="91425" marL="91425" anchor="ctr">
                    <a:solidFill>
                      <a:srgbClr val="FFFFFF"/>
                    </a:solidFill>
                  </a:tcPr>
                </a:tc>
              </a:tr>
            </a:tbl>
          </a:graphicData>
        </a:graphic>
      </p:graphicFrame>
      <p:sp>
        <p:nvSpPr>
          <p:cNvPr id="920" name="Google Shape;920;p62"/>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A returned number is not evidence of a correct calculation.</a:t>
            </a:r>
            <a:endParaRPr b="1" sz="2025">
              <a:solidFill>
                <a:srgbClr val="002B49"/>
              </a:solidFill>
            </a:endParaRPr>
          </a:p>
        </p:txBody>
      </p:sp>
      <p:sp>
        <p:nvSpPr>
          <p:cNvPr id="921" name="Google Shape;921;p62"/>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55</a:t>
            </a:r>
            <a:endParaRPr sz="1350">
              <a:solidFill>
                <a:srgbClr val="61717D"/>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6" name="Shape 926"/>
        <p:cNvGrpSpPr/>
        <p:nvPr/>
      </p:nvGrpSpPr>
      <p:grpSpPr>
        <a:xfrm>
          <a:off x="0" y="0"/>
          <a:ext cx="0" cy="0"/>
          <a:chOff x="0" y="0"/>
          <a:chExt cx="0" cy="0"/>
        </a:xfrm>
      </p:grpSpPr>
      <p:sp>
        <p:nvSpPr>
          <p:cNvPr id="927" name="Google Shape;927;p63"/>
          <p:cNvSpPr txBox="1"/>
          <p:nvPr/>
        </p:nvSpPr>
        <p:spPr>
          <a:xfrm>
            <a:off x="609600" y="457200"/>
            <a:ext cx="10972800" cy="8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300">
                <a:solidFill>
                  <a:srgbClr val="002B49"/>
                </a:solidFill>
              </a:rPr>
              <a:t>Explain the next experiment</a:t>
            </a:r>
            <a:endParaRPr b="1" sz="3300">
              <a:solidFill>
                <a:srgbClr val="002B49"/>
              </a:solidFill>
            </a:endParaRPr>
          </a:p>
        </p:txBody>
      </p:sp>
      <p:sp>
        <p:nvSpPr>
          <p:cNvPr id="928" name="Google Shape;928;p63"/>
          <p:cNvSpPr txBox="1"/>
          <p:nvPr/>
        </p:nvSpPr>
        <p:spPr>
          <a:xfrm>
            <a:off x="609600" y="1714500"/>
            <a:ext cx="666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25">
                <a:solidFill>
                  <a:srgbClr val="005A9C"/>
                </a:solidFill>
              </a:rPr>
              <a:t>1</a:t>
            </a:r>
            <a:endParaRPr b="1" sz="3225">
              <a:solidFill>
                <a:srgbClr val="005A9C"/>
              </a:solidFill>
            </a:endParaRPr>
          </a:p>
        </p:txBody>
      </p:sp>
      <p:sp>
        <p:nvSpPr>
          <p:cNvPr id="929" name="Google Shape;929;p63"/>
          <p:cNvSpPr txBox="1"/>
          <p:nvPr/>
        </p:nvSpPr>
        <p:spPr>
          <a:xfrm>
            <a:off x="1571625" y="1724025"/>
            <a:ext cx="98583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17364B"/>
                </a:solidFill>
              </a:rPr>
              <a:t>Thousands of queries over one watchlist</a:t>
            </a:r>
            <a:endParaRPr sz="2550">
              <a:solidFill>
                <a:srgbClr val="17364B"/>
              </a:solidFill>
            </a:endParaRPr>
          </a:p>
        </p:txBody>
      </p:sp>
      <p:sp>
        <p:nvSpPr>
          <p:cNvPr id="930" name="Google Shape;930;p63"/>
          <p:cNvSpPr txBox="1"/>
          <p:nvPr/>
        </p:nvSpPr>
        <p:spPr>
          <a:xfrm>
            <a:off x="609600" y="3000375"/>
            <a:ext cx="666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25">
                <a:solidFill>
                  <a:srgbClr val="005A9C"/>
                </a:solidFill>
              </a:rPr>
              <a:t>2</a:t>
            </a:r>
            <a:endParaRPr b="1" sz="3225">
              <a:solidFill>
                <a:srgbClr val="005A9C"/>
              </a:solidFill>
            </a:endParaRPr>
          </a:p>
        </p:txBody>
      </p:sp>
      <p:sp>
        <p:nvSpPr>
          <p:cNvPr id="931" name="Google Shape;931;p63"/>
          <p:cNvSpPr txBox="1"/>
          <p:nvPr/>
        </p:nvSpPr>
        <p:spPr>
          <a:xfrm>
            <a:off x="1571625" y="3009900"/>
            <a:ext cx="98583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17364B"/>
                </a:solidFill>
              </a:rPr>
              <a:t>Six independent requests spend most time waiting</a:t>
            </a:r>
            <a:endParaRPr sz="2550">
              <a:solidFill>
                <a:srgbClr val="17364B"/>
              </a:solidFill>
            </a:endParaRPr>
          </a:p>
        </p:txBody>
      </p:sp>
      <p:sp>
        <p:nvSpPr>
          <p:cNvPr id="932" name="Google Shape;932;p63"/>
          <p:cNvSpPr txBox="1"/>
          <p:nvPr/>
        </p:nvSpPr>
        <p:spPr>
          <a:xfrm>
            <a:off x="609600" y="4286250"/>
            <a:ext cx="666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25">
                <a:solidFill>
                  <a:srgbClr val="005A9C"/>
                </a:solidFill>
              </a:rPr>
              <a:t>3</a:t>
            </a:r>
            <a:endParaRPr b="1" sz="3225">
              <a:solidFill>
                <a:srgbClr val="005A9C"/>
              </a:solidFill>
            </a:endParaRPr>
          </a:p>
        </p:txBody>
      </p:sp>
      <p:sp>
        <p:nvSpPr>
          <p:cNvPr id="933" name="Google Shape;933;p63"/>
          <p:cNvSpPr txBox="1"/>
          <p:nvPr/>
        </p:nvSpPr>
        <p:spPr>
          <a:xfrm>
            <a:off x="1571625" y="4295775"/>
            <a:ext cx="98583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50">
                <a:solidFill>
                  <a:srgbClr val="17364B"/>
                </a:solidFill>
              </a:rPr>
              <a:t>LLM inference runs out of memory with longer context</a:t>
            </a:r>
            <a:endParaRPr sz="2550">
              <a:solidFill>
                <a:srgbClr val="17364B"/>
              </a:solidFill>
            </a:endParaRPr>
          </a:p>
        </p:txBody>
      </p:sp>
      <p:sp>
        <p:nvSpPr>
          <p:cNvPr id="934" name="Google Shape;934;p63"/>
          <p:cNvSpPr txBox="1"/>
          <p:nvPr/>
        </p:nvSpPr>
        <p:spPr>
          <a:xfrm>
            <a:off x="609600" y="5791200"/>
            <a:ext cx="109728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25">
                <a:solidFill>
                  <a:srgbClr val="002B49"/>
                </a:solidFill>
              </a:rPr>
              <a:t>Name the constraint, the change, the trade-off and the evidence.</a:t>
            </a:r>
            <a:endParaRPr b="1" sz="2025">
              <a:solidFill>
                <a:srgbClr val="002B49"/>
              </a:solidFill>
            </a:endParaRPr>
          </a:p>
        </p:txBody>
      </p:sp>
      <p:sp>
        <p:nvSpPr>
          <p:cNvPr id="935" name="Google Shape;935;p63"/>
          <p:cNvSpPr txBox="1"/>
          <p:nvPr/>
        </p:nvSpPr>
        <p:spPr>
          <a:xfrm>
            <a:off x="11001375" y="6477000"/>
            <a:ext cx="581100" cy="26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50">
                <a:solidFill>
                  <a:srgbClr val="61717D"/>
                </a:solidFill>
              </a:rPr>
              <a:t>56</a:t>
            </a:r>
            <a:endParaRPr sz="1350">
              <a:solidFill>
                <a:srgbClr val="61717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