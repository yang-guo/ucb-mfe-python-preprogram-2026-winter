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efaf5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1efaf5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1efaf56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1efaf56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1efaf564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1efaf564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efaf56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efaf56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1efaf56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1efaf56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1efaf5641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1efaf5641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1efaf56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1efaf56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1efaf564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1efaf564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1efaf564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1efaf564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1efaf564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1efaf564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1efaf564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1efaf564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1efaf564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1efaf564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1efaf564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1efaf564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1efaf564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1efaf564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1efaf564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1efaf564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1efaf564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1efaf564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1efaf564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1efaf564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1efaf564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1efaf564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1efaf564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1efaf564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1efaf5641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1efaf564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1efaf564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1efaf564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1efaf564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1efaf564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1efaf564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1efaf564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1efaf564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1efaf564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1efaf564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1efaf564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1efaf5641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1efaf564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1efaf564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1efaf564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1efaf564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1efaf56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1efaf564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21efaf564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1efaf564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21efaf564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1efaf564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21efaf564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1efaf564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1efaf564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1efaf564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1efaf564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1efaf564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21efaf564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1efaf564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1efaf564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1efaf5641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1efaf564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1efaf5641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21efaf5641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g2o22C3CRfU" TargetMode="External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RfXt_qHDEPw" TargetMode="External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youtube.com/watch?v=mtvbVLK5xDQ" TargetMode="External"/><Relationship Id="rId4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MFE Python Course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Python Programming, Part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Back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I, review: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MCPs, Skills, Code as a tool for agents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Functional programming (pure vs. impure)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Decorators (functions as first-class objects)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 oriented programming (Ontology)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Iterators and generators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Today’s focus</a:t>
            </a:r>
            <a:r>
              <a:rPr lang="en"/>
              <a:t>: Performance, optimization, and production practices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Recursion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optimization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structures deep dive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Concurrency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 best practices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you’ll be able to do after this session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 Fundamentals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What is Recursion?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A function that solves a problem by calling itself with smaller subproblems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Think of it as "divide and conquer" - breaking big problems into smaller, similar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Base Case vs Recursive 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Base Case: The simplest scenario where we return directly without recursion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Recursive Case: Where we break down the problem and make recursive calls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When to Use Recursion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Tree/graph traversal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Divide &amp; conquer algorithms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Problems with recursive mathematical definitions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When code clarity is more important than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Recursion Example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63" y="1433025"/>
            <a:ext cx="4180975" cy="28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8" y="1152475"/>
            <a:ext cx="411774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 vs Iteration: Making the Right Choice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When Recursion Shines: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Tree/Graph traversals (DFS, backtracking)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Problems with recursive mathematical 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Fibonacci, factorial, fractal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Divide-and-conquer algorithms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Merge sort, quicksort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Problems that naturally break into subproblems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Tower of Hanoi, combination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Performance Tradeoffs: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Space Complexity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Each recursive call adds to call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Risk of stack overflow for deep recursion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Time Complexity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Often identical to iterative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Overhead from function call stack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Interview Strategy: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Key Patterns: Trees, Backtracking, Divide &amp; Conquer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Consider recursion when subproblems are identical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Always mention space complexity trade-offs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Be ready to convert recursive to iterative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675" y="1277275"/>
            <a:ext cx="5430199" cy="31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&amp; Optimization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O Notation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What is Big 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Measures how runtime/space grows with input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Describes worst-case performance 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Ignores constants and smaller terms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It Matters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Predict performance at scale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Choose right data structures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Critical for financial applications with large datasets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Optimize resource-intensive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Interview Perspective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Standard question in tech interviews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Focus on recognizing common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Must justify algorithmic choices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Trade-offs between time and space complexity</a:t>
            </a:r>
            <a:endParaRPr/>
          </a:p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000" y="716137"/>
            <a:ext cx="4502799" cy="42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 Classes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O(1) - Constant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O(log n) - Logarithmic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O(n) - Linear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O(n log n) - Log-linear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O(n^2) - Quadratic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125" y="1152475"/>
            <a:ext cx="544279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arn Big-O Notation in 100 Seconds (of Computer Science). ⚡🔬&#10;&#10;#compsci #100SecondsOfCode&#10;&#10;Install the quiz app 🤓&#10;&#10;iOS https://itunes.apple.com/us/app/fireship/id1462592372?mt=8&#10;Android https://play.google.com/store/apps/details?id=io.fireship.quizapp&#10;&#10;Upgrade to Fireship PRO at https://fireship.io/pro&#10;Use code lORhwXd2 for 25% off your first payment. &#10;&#10;My VS Code Theme&#10;&#10;- Atom One Dark &#10;- vscode-icons&#10;- Fira Code Font" id="117" name="Google Shape;117;p23" title="Big-O Notation in 100 Second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851" y="709225"/>
            <a:ext cx="6622294" cy="37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lement 7 sorting algorithms with javascript and analyze their performance visually. &#10;&#10;Learn how JetBrains MPS empowers developers and non-developers to benefit from domain-specific languages (DSLs): https://jb.gg/jetbrains_mps &#10;&#10;Check out the sound of sorting project https://panthema.net/2013/sound-of-sorting/&#10;&#10;Source code https://github.com/fireship-io/sorting-algorithms" id="122" name="Google Shape;122;p24" title="Sorting Algorithms Explained Visuall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238" y="709437"/>
            <a:ext cx="6621525" cy="37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Guide for Evaluating Big O Complexity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First, identify all loops in the code and their nesting level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Single loop = O(n)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Nested loop = O(n^k) where k is the number of nested levels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Example: Two nested loops is O(n²), three nested loops is O(n³)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Look for keywords that indicate operations on the entire input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.sort() is typically O(n log 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Creating a new array/list of the same size is O(n)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Single operations like accessing an array index or dictionary key are O(1)</a:t>
            </a:r>
            <a:endParaRPr/>
          </a:p>
        </p:txBody>
      </p:sp>
      <p:sp>
        <p:nvSpPr>
          <p:cNvPr id="129" name="Google Shape;129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3. </a:t>
            </a:r>
            <a:r>
              <a:rPr lang="en"/>
              <a:t>Check how the input size affects the iterations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If you only look at the first/last k elements regardless of input size = O(1)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If you look at half the elements = still O(n)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If you divide input size in each step (like binary search) = O(log 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For recursive functions: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Count how many times the function calls itself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Check if the input size is reduced in each call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Example: Binary search is O(log n) because it halves input each time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Example: Merge sort is O(n log n) because it divides input and then merges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Guide for Evaluating Big O Complexity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5. </a:t>
            </a:r>
            <a:r>
              <a:rPr lang="en" sz="1300"/>
              <a:t>Always consider the worst case scenario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Quick sort average case: O(n log n)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Quick sort worst case: O(n²)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HashMap lookup average: O(1)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HashMap lookup worst case: O(n)</a:t>
            </a:r>
            <a:endParaRPr sz="1300"/>
          </a:p>
        </p:txBody>
      </p:sp>
      <p:sp>
        <p:nvSpPr>
          <p:cNvPr id="136" name="Google Shape;136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6. </a:t>
            </a:r>
            <a:r>
              <a:rPr lang="en" sz="1300"/>
              <a:t>The largest term dominates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O(n² + n + 1) simplifies to just O(n²)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O(n log n + n) simplifies to O(n log n)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O(2^n + n²) simplifies to O(2^n)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9299"/>
            <a:ext cx="9144003" cy="3504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Overview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Common Data Structures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Lists, Arrays, Tuples: Ordered sequences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Dictionaries (Hash Tables): Key-value pairs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Sets: Unique unordered elements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Trees: Hierarchical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Heaps: Priority queues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Graphs: Network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Time/Space Trade-offs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Lists vs Sets for lookups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Arrays vs Linked Lists for insertion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Hash Tables vs Trees for ordering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Consider both memory and speed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Considerations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Data access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Insertion/deletion frequency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Memory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Ordering requirements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Visualized</a:t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22" y="1143824"/>
            <a:ext cx="8138366" cy="35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- Time and Space Complexity</a:t>
            </a:r>
            <a:endParaRPr/>
          </a:p>
        </p:txBody>
      </p:sp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4475"/>
            <a:ext cx="91440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It's Important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Efficient searching and sorting (O(log n))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Natural for maintaining ordered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Perfect for range queries in financial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Most common tree structure in interviews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Key Properties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Left subtree &lt; node &lt; right subtree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Balanced trees guarantee O(log n)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Self-balancing variants (AVL, Red-Black) maintain 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Inorder traversal gives sorted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Applications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Order books and price 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Time series data indexing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Range queries (price bands)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Portfolio hierarchy management</a:t>
            </a:r>
            <a:endParaRPr/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873" y="1244075"/>
            <a:ext cx="4901426" cy="32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nary Search Trees (BST) explained in animated demo with insert, delete and find operations, traversal, and tree terminology.&#10;&#10;RELATED VIDEOS in PYTHON:&#10;► BST Intro https://youtu.be/YlgPi75hIBc&#10;► BST Remove https://youtu.be/LSju119w8BE&#10;► BST getSize https://youtu.be/vVhp2FYGNKU&#10;► BST getHeight https://youtu.be/aGaMgkJX5-o&#10;► MaxHeap: https://youtu.be/GnKHVXv_rlQ&#10;► Stack: https://youtu.be/jwcnSv9tGdY&#10;► Queue: https://youtu.be/XLXWidXVRJk&#10;► Hashmap using Lists: https://youtu.be/9HFbhPscPU0&#10;► 2-3 Trees: https://youtu.be/vSbBB4MRzp4&#10;&#10;Twitter: https://twitter.com/joejamesusa&#10;Subscribe: https://bit.ly/like-this-channel" id="172" name="Google Shape;172;p32" title="Binary Search Trees (BST) Explained in Animated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263" y="815212"/>
            <a:ext cx="6245475" cy="35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Red-Black Trees: Self-Balancing Search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Key Properties: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Every node is either red or black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Root and leaves (NIL) are black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Red nodes can't have red children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Every path from root to leaves has same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number of black nodes (black-height)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Better Than BST: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Guaranteed O(log n)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No degeneration into linear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Automatic rebalancing via color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Perfect for continuous inserts/deletes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Example Use Cases: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Order book price 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Java TreeMap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Linux kernel process scheduling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5900" y="1502500"/>
            <a:ext cx="5241249" cy="27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Implementation: Data Structures Deep Dive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Core Requirements: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Fast price-level matching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Quick order insertion/cancellation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Efficient best bid/ask lookups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Memory-efficient storage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Thread-safe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Key Data Structures: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Price Levels: Red-Black 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O(log n) insertion/deletion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min/max (best bid/ask)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Built-in order maintenance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Individual Orders: Hash Map + Doubly Linked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order lookup by 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order cancellation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Memory efficient for order storage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Price Aggregation: Hash 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volume lookup at price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- Quick price-level statistics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400" y="1567788"/>
            <a:ext cx="5443326" cy="25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Management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Python's Memory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Objects stored in private heap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Reference counting for memory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Memory manager handles allocation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Object lifecycle: creation → reference → cleanup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Garbage Collection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Automatic memory cleanup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Reference counting + generational GC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Cyclic references handled automatically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Manual cleanup rarely needed</a:t>
            </a:r>
            <a:endParaRPr/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9" y="146743"/>
            <a:ext cx="3999900" cy="485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Management</a:t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Memory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Memory leaks from circular 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Large objects not being released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Global variables accumulating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Cache growing unbounded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memory_profiler for line-by-line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tracemalloc for object allocation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gc module for manual garbage collection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psutil for system-wide memory monitoring</a:t>
            </a:r>
            <a:endParaRPr/>
          </a:p>
        </p:txBody>
      </p:sp>
      <p:pic>
        <p:nvPicPr>
          <p:cNvPr id="200" name="Google Shape;2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9" y="146743"/>
            <a:ext cx="3999900" cy="485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Concurrent Programming Fundamentals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Processes: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Independent units of execution with separate memory 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Example: Running multiple Python scripts simultaneously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Heavy but isolated - great for CPU-intensive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Threads: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Lightweight units that share memory within a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All threads in a process share memory and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Great for I/O-bound tasks (e.g., reading files, API calls)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Memory Management: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Global Interpreter Lock (GIL) - Only one thread executes Python code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Shared memory between threads can lead to race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Processes have memory isolation but higher overhead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Critical Sections &amp; Locks: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Critical sections: Parts of code where shared resources are accessed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Locks prevent multiple threads from simultaneously accessing shared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Example: Multiple threads updating the same bank account balance</a:t>
            </a:r>
            <a:endParaRPr/>
          </a:p>
        </p:txBody>
      </p:sp>
      <p:pic>
        <p:nvPicPr>
          <p:cNvPr id="212" name="Google Shape;21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0" y="1912792"/>
            <a:ext cx="4832400" cy="131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Atomicity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What is Atomicity?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Operations that must execute completely or not at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No partial execution or intermediate states allowed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All-or-nothing guarantee for data consistency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Atomicity Matters: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Financial transactions (bank transfers, trades)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Database operations (updates across multiple tables)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Critical state changes (order status updates)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Atomicity Isn't Required: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Read-only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Independent calculations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Stateless transformations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Idempotent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Pitfalls: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Race conditions in balance updates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Partially completed trades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Inconsistent transaction logs</a:t>
            </a:r>
            <a:endParaRPr/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425" y="203025"/>
            <a:ext cx="2415925" cy="473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Managers</a:t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1152475"/>
            <a:ext cx="39999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Purpose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Automate the setup and cleanup of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Ensure resources are properly managed, even if errors occur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Make code cleaner and more reliable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Resource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Automatically handle opening/closing of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Release database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Clean up temporary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Manage locks and threading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Use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File handling (with open() as 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Database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Network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Temporary directory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Performance timing and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900" y="1017713"/>
            <a:ext cx="443861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Managers</a:t>
            </a:r>
            <a:endParaRPr/>
          </a:p>
        </p:txBody>
      </p:sp>
      <p:pic>
        <p:nvPicPr>
          <p:cNvPr id="232" name="Google Shape;2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1375"/>
            <a:ext cx="4960874" cy="28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026" y="1139017"/>
            <a:ext cx="3999899" cy="344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 Deep Dive</a:t>
            </a:r>
            <a:endParaRPr/>
          </a:p>
        </p:txBody>
      </p:sp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Threading vs Multiprocessing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Threading: Multiple threads share memory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Multiprocessing: Separate memory for each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GIL: Only one thread executes Python code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to Use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Threading: I/O-bound tasks (API calls, file operations)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Multiprocessing: CPU-bound tasks (data processing)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Threading for concurrency, Multiprocessing for parallelism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 pools for managing multiple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Process pools for parallel computations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Producer-consumer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Lock mechanisms for shared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403150"/>
            <a:ext cx="4674751" cy="25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 Deep Dive</a:t>
            </a:r>
            <a:endParaRPr/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Threading vs Multiprocessing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Threading: Multiple threads share memory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Multiprocessing: Separate memory for each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GIL: Only one thread executes Python code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Threading: I/O-bound tasks (API calls, file operations)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Multiprocessing: CPU-bound tasks (data processing)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Threading for concurrency, Multiprocessing for parallelism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 pools for managing multiple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Process pools for parallel computations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Producer-consumer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Lock mechanisms for shared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966" y="0"/>
            <a:ext cx="405076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 Programming Basics</a:t>
            </a:r>
            <a:endParaRPr/>
          </a:p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311700" y="1152475"/>
            <a:ext cx="3999900" cy="3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Concurrency vs Parallelism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Concurrency: Managing multiple tasks by switching between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Parallelism: Executing multiple tasks simultaneously on multiple cores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Async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async/await syntax for clean asynchronous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Gather multiple coroutines to run concurrently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Task scheduling and cancellation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Event loops for managing async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to Use Async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I/O-bound operations (API calls, database queries, file operations)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Multiple independent network requests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Long-running tasks that can be interleaved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Real-time data processing (market data feeds, streaming)</a:t>
            </a:r>
            <a:endParaRPr/>
          </a:p>
        </p:txBody>
      </p:sp>
      <p:pic>
        <p:nvPicPr>
          <p:cNvPr id="254" name="Google Shape;2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488900"/>
            <a:ext cx="4732224" cy="26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 Programming Basics</a:t>
            </a:r>
            <a:endParaRPr/>
          </a:p>
        </p:txBody>
      </p:sp>
      <p:sp>
        <p:nvSpPr>
          <p:cNvPr id="260" name="Google Shape;260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37" y="1152475"/>
            <a:ext cx="3075420" cy="386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77138"/>
            <a:ext cx="4249076" cy="458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Asyncio + Semaphore</a:t>
            </a:r>
            <a:endParaRPr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Asyncio + Semaphore is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Connection &amp;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Single session reuses TCP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Semaphore prevents API overload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More efficient memory and CPU usage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No thread overhead - pure async I/O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Handles 1000s of concurrent requests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Ideal for real-time market data feeds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Simple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Clean error handling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Easy rate limiting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Built-in connection pooling</a:t>
            </a:r>
            <a:endParaRPr/>
          </a:p>
        </p:txBody>
      </p:sp>
      <p:sp>
        <p:nvSpPr>
          <p:cNvPr id="269" name="Google Shape;269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520" y="0"/>
            <a:ext cx="48501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Best Practices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</a:t>
            </a:r>
            <a:endParaRPr/>
          </a:p>
        </p:txBody>
      </p:sp>
      <p:sp>
        <p:nvSpPr>
          <p:cNvPr id="281" name="Google Shape;281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Exception Hierarchy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BaseException → Exception → Your Custom Errors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Built-in errors: ValueError, TypeError, KeyError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Catch specific exceptions, not catch-all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Order from specific to general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Catch specific exceptions, not bare except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Keep try blocks small and focused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Always clean up resources in finally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Log exceptions with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EAFP: "Easier to Ask Forgiveness than Permission"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 Commonly uses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/>
              <a:t>/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"/>
              <a:t> blocks to handle potential errors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- Encourages optimistic coding, assuming success until an exception proves otherwise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LBYL: "Look Before You Leap"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 Relies on conditional checks to verify assumptions before performing an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- May lead to more verbose code, but reduces reliance on exception handling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Python prefers EAFP (try/except)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More readable and handles race conditions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Best Practices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Logging 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DEBUG: Detailed troubleshooting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INFO: General operational events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WARNING: Unexpected but handled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ERROR: Failed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CRITICAL: System-level failures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Structured Logging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JSON format for machine readability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Consistent fields across logs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Contextual data (timestamps, IDs)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Easy to parse and analyze</a:t>
            </a:r>
            <a:endParaRPr/>
          </a:p>
        </p:txBody>
      </p:sp>
      <p:sp>
        <p:nvSpPr>
          <p:cNvPr id="289" name="Google Shape;289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 Handlers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File handlers for persistence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Stream handlers for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Rotating handlers for size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Different handlers per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Never log sensitive data (passwords, keys)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Include request/transaction IDs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Log exceptions with tracebacks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Keep messages clear and actionable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18" y="0"/>
            <a:ext cx="81781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