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i6+uwIpwSuKbtcrWUtEoUBifEi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Mon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MFE Python Course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Advanced Python Programming, Part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Why Python in the Age of AI?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Agent Skills: Python Powers AI</a:t>
            </a:r>
            <a:endParaRPr/>
          </a:p>
        </p:txBody>
      </p:sp>
      <p:sp>
        <p:nvSpPr>
          <p:cNvPr id="66" name="Google Shape;66;p3"/>
          <p:cNvSpPr txBox="1"/>
          <p:nvPr>
            <p:ph idx="4294967295" type="body"/>
          </p:nvPr>
        </p:nvSpPr>
        <p:spPr>
          <a:xfrm>
            <a:off x="311700" y="1152475"/>
            <a:ext cx="400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Agent Skills?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Folders of instructions, scripts, and resources that equip AI agents with domain expertise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 general-purpose AI into specialized agents for specific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 creating an onboarding guide for a new hire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Python Matters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Skills include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scripts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AI agents execute autonomously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provides deterministic reliability that LLMs cannot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Python = building tools AI will use to work for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>
            <p:ph idx="4294967295" type="body"/>
          </p:nvPr>
        </p:nvSpPr>
        <p:spPr>
          <a:xfrm>
            <a:off x="4500000" y="1152475"/>
            <a:ext cx="4332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PDF Skill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SKILL.md with 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script to extract form fields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runs the script without loading it into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New Why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Before: Python for interviews and manual scripting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Now: Python to create tools for human-AI collaboration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expertise + Python = AI superpowers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Python Fundamentals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Understanding Scope</a:t>
            </a:r>
            <a:endParaRPr/>
          </a:p>
        </p:txBody>
      </p:sp>
      <p:sp>
        <p:nvSpPr>
          <p:cNvPr id="78" name="Google Shape;7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Scope is the visibility of variables in your code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LEGB Rule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Local</a:t>
            </a:r>
            <a:r>
              <a:rPr lang="en"/>
              <a:t>: Variables defined within the current function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Enclosing</a:t>
            </a:r>
            <a:r>
              <a:rPr lang="en"/>
              <a:t>: Variables in the outer (enclosing) function when working with nested functions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Global</a:t>
            </a:r>
            <a:r>
              <a:rPr lang="en"/>
              <a:t>: Variables defined at the module/file level, outside of any function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Built-in</a:t>
            </a:r>
            <a:r>
              <a:rPr lang="en"/>
              <a:t>: Python's pre-defined names like len(), str(), print() that are always available</a:t>
            </a:r>
            <a:endParaRPr/>
          </a:p>
        </p:txBody>
      </p:sp>
      <p:sp>
        <p:nvSpPr>
          <p:cNvPr id="79" name="Google Shape;7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80" name="Google Shape;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398" y="847262"/>
            <a:ext cx="3935174" cy="402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Memory Model Fundamentals</a:t>
            </a:r>
            <a:endParaRPr/>
          </a:p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Everything is an object in Python</a:t>
            </a:r>
            <a:endParaRPr b="1"/>
          </a:p>
          <a:p>
            <a:pPr indent="-3108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Numbers, strings, functions, classes, lists - all objects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Each object has an identity, type, and value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Variables are references to objects</a:t>
            </a:r>
            <a:endParaRPr b="1"/>
          </a:p>
          <a:p>
            <a:pPr indent="-3108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Variables act like nametags pointing to objects in memory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Multiple variables can reference the same object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Assignment creates a new reference, not a new object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/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1600" y="1309774"/>
            <a:ext cx="4544149" cy="31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138" y="766763"/>
            <a:ext cx="694372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Reference Counting</a:t>
            </a:r>
            <a:endParaRPr/>
          </a:p>
        </p:txBody>
      </p:sp>
      <p:sp>
        <p:nvSpPr>
          <p:cNvPr id="98" name="Google Shape;98;p8"/>
          <p:cNvSpPr txBox="1"/>
          <p:nvPr>
            <p:ph idx="1" type="body"/>
          </p:nvPr>
        </p:nvSpPr>
        <p:spPr>
          <a:xfrm>
            <a:off x="311700" y="1152475"/>
            <a:ext cx="3999900" cy="3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How Python tracks object references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object maintains a count of references pointing to it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Count increases when: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Variable assignment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Passing to functions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Adding to containers (lists, etc.)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Count decreases when: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Variables go out of scope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References are reassigned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Objects are removed from containers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/>
              <a:t>Cleanup (Garbage Collection):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Objects are deleted when reference count reaches 0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Memory is immediately freed - Can be viewed using sys.getrefcount()</a:t>
            </a:r>
            <a:endParaRPr/>
          </a:p>
        </p:txBody>
      </p:sp>
      <p:pic>
        <p:nvPicPr>
          <p:cNvPr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2400" y="820600"/>
            <a:ext cx="3925376" cy="400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Module System Overview</a:t>
            </a:r>
            <a:endParaRPr/>
          </a:p>
        </p:txBody>
      </p:sp>
      <p:sp>
        <p:nvSpPr>
          <p:cNvPr id="105" name="Google Shape;105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Import Statement Types: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module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module import name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module import name as alias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module as alias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Module Search Path: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Current directory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PYTHONPATH environment variable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Standard library directories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Site-packages (installed packages)</a:t>
            </a:r>
            <a:endParaRPr/>
          </a:p>
        </p:txBody>
      </p:sp>
      <p:sp>
        <p:nvSpPr>
          <p:cNvPr id="106" name="Google Shape;106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Concepts: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Modules are cached in sys.modules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Imports are executed only once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Circular imports should be avoided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Module System Overview</a:t>
            </a:r>
            <a:endParaRPr/>
          </a:p>
        </p:txBody>
      </p:sp>
      <p:pic>
        <p:nvPicPr>
          <p:cNvPr id="112" name="Google Shape;1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52300"/>
            <a:ext cx="9143999" cy="27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Import Best Practices</a:t>
            </a:r>
            <a:endParaRPr/>
          </a:p>
        </p:txBody>
      </p:sp>
      <p:sp>
        <p:nvSpPr>
          <p:cNvPr id="118" name="Google Shape;118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What to Import and How: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 specific: import only what you need </a:t>
            </a:r>
            <a:endParaRPr/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✓ from math import sqrt, pi </a:t>
            </a:r>
            <a:endParaRPr/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✗ from math import *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consistent import style within a project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Group imports logically: </a:t>
            </a:r>
            <a:endParaRPr/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1. Standard library imports </a:t>
            </a:r>
            <a:endParaRPr/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2. Third-party imports</a:t>
            </a:r>
            <a:endParaRPr/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3. Local application imports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Absolute vs Relative Imports: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Absolute imports (preferred) from mypackage.submodule import function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Relative imports (use sparingly) from .submodule import function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Never mix both styles in one project</a:t>
            </a:r>
            <a:endParaRPr/>
          </a:p>
        </p:txBody>
      </p:sp>
      <p:pic>
        <p:nvPicPr>
          <p:cNvPr id="119" name="Google Shape;1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8550" y="1536325"/>
            <a:ext cx="4786001" cy="26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Import Best Practices</a:t>
            </a:r>
            <a:endParaRPr/>
          </a:p>
        </p:txBody>
      </p:sp>
      <p:sp>
        <p:nvSpPr>
          <p:cNvPr id="125" name="Google Shape;125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Avoiding Circular Imports: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Restructure: Move shared code to a separate module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Delay imports: Import inside functions when needed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dependency injection instead of direct imports</a:t>
            </a:r>
            <a:endParaRPr/>
          </a:p>
        </p:txBody>
      </p:sp>
      <p:pic>
        <p:nvPicPr>
          <p:cNvPr id="126" name="Google Shape;1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8550" y="1536325"/>
            <a:ext cx="4786001" cy="26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Functional Programming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Functional Programming Intro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What is functional programming?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Code that focuses on transforming data, not changing state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Key Ideas: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Pure Functions: Same input → same output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First-class Functions: Functions as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When to Use: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processing pipelines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Complex transformations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Parallel/concurrent code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Testing-heavy code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Pure Functions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Characteristics: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input → same output (deterministic)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side effects (doesn't modify external state)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Self-contained (only uses passed arguments)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n"/>
              <a:t>Example: Portfolio Value Calculation</a:t>
            </a:r>
            <a:endParaRPr/>
          </a:p>
        </p:txBody>
      </p:sp>
      <p:sp>
        <p:nvSpPr>
          <p:cNvPr id="144" name="Google Shape;144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9075" y="583725"/>
            <a:ext cx="4858775" cy="411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Lambda Functions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What are Lambda Functions?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Single-expression anonymous functions defined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"/>
              <a:t> keyword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functions without the formal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/>
              <a:t> statement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Automatically returns result of expression - no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/>
              <a:t> keyword needed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Common Use Cases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Sorting with custom keys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Function arguments in higher-order functions (map, filter, reduce)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Quick data transformations in pandas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Simple callbacks and event handlers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Ad-hoc function definitions in list comprehensions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7284" y="258900"/>
            <a:ext cx="3353241" cy="469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Lambda Functions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Syntax Rules &amp; Limitations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only contain a single expression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assignments or multiple statements allowed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Cannot contain docstrings or type hints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Best for simple operations that can be expressed in one line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7284" y="258900"/>
            <a:ext cx="3353241" cy="469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Decorators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Decorator Fundamentals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311700" y="1152475"/>
            <a:ext cx="3999900" cy="3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What are decorators?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Design pattern that allows modifying function behavior without changing its source code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"Wrappers" that enhance or modify the behavior of functions or classes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Built on Python's ability to treat functions as first-class objects</a:t>
            </a:r>
            <a:endParaRPr sz="1500"/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8225" y="941600"/>
            <a:ext cx="4447918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Decorator Fundamentals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311700" y="1152475"/>
            <a:ext cx="3999900" cy="3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Why use decorators?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Separation of concerns - keep business logic clean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Add functionality without modifying original code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Reduce code duplication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Common uses in finance: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Performance monitoring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Input validation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Logging trade executions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Caching expensive calculations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Rate limiting API calls</a:t>
            </a:r>
            <a:endParaRPr sz="1300"/>
          </a:p>
        </p:txBody>
      </p:sp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8225" y="941600"/>
            <a:ext cx="4447918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Decorator Fundamentals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Syntax: @ symbol usage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Syntactic sugar for manually wrapping functions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Places decorator directly above function definition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Can stack multiple decorators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Order of decorators matters (applied from bottom to top)</a:t>
            </a:r>
            <a:endParaRPr sz="1500"/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8225" y="941600"/>
            <a:ext cx="4447918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Decorator Mechanics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Functions as first-class objects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Functions can be assigned to variables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Functions can be passed as arguments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Functions can be returned from functions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Functions can be stored in data structures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Common decorator patterns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@validate_input - Check trade size limits, prices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@cache_result - Store expensive calculations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@retry - Auto-retry failed API requests or trades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@rate_limit - Control calls to external services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@requires_permission - Check trade authorization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@log - Measure and record key metrics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" name="Google Shape;192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4000" y="445025"/>
            <a:ext cx="4260522" cy="4552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Decorators with Arguments</a:t>
            </a:r>
            <a:endParaRPr/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E0E0E"/>
                </a:solidFill>
              </a:rPr>
              <a:t>Layers of a Decorator with Arguments</a:t>
            </a:r>
            <a:endParaRPr b="1" sz="1000">
              <a:solidFill>
                <a:srgbClr val="0E0E0E"/>
              </a:solidFill>
            </a:endParaRPr>
          </a:p>
          <a:p>
            <a:pPr indent="-203200" lvl="0" marL="215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1.	</a:t>
            </a:r>
            <a:r>
              <a:rPr b="1" lang="en" sz="1000">
                <a:solidFill>
                  <a:srgbClr val="0E0E0E"/>
                </a:solidFill>
              </a:rPr>
              <a:t>Outer Function (Decorator Factory)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This function takes arguments that configure or customize the decorator.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It is called when the decorator is applied to a function.</a:t>
            </a:r>
            <a:endParaRPr sz="1000">
              <a:solidFill>
                <a:srgbClr val="0E0E0E"/>
              </a:solidFill>
            </a:endParaRPr>
          </a:p>
          <a:p>
            <a:pPr indent="-203200" lvl="0" marL="215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2.	</a:t>
            </a:r>
            <a:r>
              <a:rPr b="1" lang="en" sz="1000">
                <a:solidFill>
                  <a:srgbClr val="0E0E0E"/>
                </a:solidFill>
              </a:rPr>
              <a:t>Middle Function (Actual Decorator)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This function takes the target function (the one being decorated) as its argument.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It is responsible for wrapping the target function with additional behavior.</a:t>
            </a:r>
            <a:endParaRPr sz="1000">
              <a:solidFill>
                <a:srgbClr val="0E0E0E"/>
              </a:solidFill>
            </a:endParaRPr>
          </a:p>
          <a:p>
            <a:pPr indent="-203200" lvl="0" marL="215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3.	</a:t>
            </a:r>
            <a:r>
              <a:rPr b="1" lang="en" sz="1000">
                <a:solidFill>
                  <a:srgbClr val="0E0E0E"/>
                </a:solidFill>
              </a:rPr>
              <a:t>Inner Function (Wrapper)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This function actually wraps the target function.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It executes the additional behavior before and after calling the target function.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2450" y="1031338"/>
            <a:ext cx="4527598" cy="3658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Decorators with Arguments</a:t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E0E0E"/>
                </a:solidFill>
              </a:rPr>
              <a:t>How Wrapping Works</a:t>
            </a:r>
            <a:endParaRPr b="1" sz="1000">
              <a:solidFill>
                <a:srgbClr val="0E0E0E"/>
              </a:solidFill>
            </a:endParaRPr>
          </a:p>
          <a:p>
            <a:pPr indent="-203200" lvl="0" marL="215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1.	</a:t>
            </a:r>
            <a:r>
              <a:rPr b="1" lang="en" sz="1000">
                <a:solidFill>
                  <a:srgbClr val="0E0E0E"/>
                </a:solidFill>
              </a:rPr>
              <a:t>Applying the Decorator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When you use a decorator with arguments, like @decorator(arg1, kwarg1=value), Python first calls the outer function (decorator(arg1, kwarg1=value)). This returns the actual decorator (middle function).</a:t>
            </a:r>
            <a:endParaRPr sz="1000">
              <a:solidFill>
                <a:srgbClr val="0E0E0E"/>
              </a:solidFill>
            </a:endParaRPr>
          </a:p>
          <a:p>
            <a:pPr indent="-203200" lvl="0" marL="215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2.	</a:t>
            </a:r>
            <a:r>
              <a:rPr b="1" lang="en" sz="1000">
                <a:solidFill>
                  <a:srgbClr val="0E0E0E"/>
                </a:solidFill>
              </a:rPr>
              <a:t>Decorating the Function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The actual decorator (middle function) takes the target function as an argument. It defines and returns the wrapper function.</a:t>
            </a:r>
            <a:endParaRPr sz="1000">
              <a:solidFill>
                <a:srgbClr val="0E0E0E"/>
              </a:solidFill>
            </a:endParaRPr>
          </a:p>
          <a:p>
            <a:pPr indent="-203200" lvl="0" marL="215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3.	</a:t>
            </a:r>
            <a:r>
              <a:rPr b="1" lang="en" sz="1000">
                <a:solidFill>
                  <a:srgbClr val="0E0E0E"/>
                </a:solidFill>
              </a:rPr>
              <a:t>Executing the Decorated Function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When the decorated function is called, Python executes the wrapper function. The wrapper: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Executes any pre-function behavior.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Calls the original function (optionally modifying arguments or results).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Executes any post-function behavior.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b="1" sz="1000">
              <a:solidFill>
                <a:srgbClr val="0E0E0E"/>
              </a:solidFill>
            </a:endParaRPr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2450" y="1031338"/>
            <a:ext cx="4527598" cy="3658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Object-Oriented Programming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OOP Fundamentals</a:t>
            </a:r>
            <a:endParaRPr/>
          </a:p>
        </p:txBody>
      </p:sp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Classes vs Instances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Class</a:t>
            </a:r>
            <a:r>
              <a:rPr lang="en"/>
              <a:t>: Blueprint defining attributes and behaviors</a:t>
            </a:r>
            <a:br>
              <a:rPr lang="en"/>
            </a:br>
            <a:r>
              <a:rPr b="1" lang="en"/>
              <a:t>Instance</a:t>
            </a:r>
            <a:r>
              <a:rPr lang="en"/>
              <a:t>: Concrete object created from the class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Python’s object model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Everything is an object (even classes!)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Classes define shared behavior and structure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instance maintains its own state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Methods automatically receive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en"/>
              <a:t> reference</a:t>
            </a:r>
            <a:endParaRPr/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7475" y="1897086"/>
            <a:ext cx="4872801" cy="192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Class Anatomy</a:t>
            </a:r>
            <a:endParaRPr/>
          </a:p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311700" y="1152475"/>
            <a:ext cx="4485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Class attributes vs Instance attributes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Class attributes: Shared across all instances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Instance attributes: Unique to each instance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Methods and special methods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Regular methods: Operate on instance state (self)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Class methods: Operate on class state (@classmethod)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Static methods: Independent utility functions (@staticmethod)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Special Methods: 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"/>
              <a:t>: Constructor 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__str__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__repr__</a:t>
            </a:r>
            <a:r>
              <a:rPr lang="en"/>
              <a:t>: String representations </a:t>
            </a:r>
            <a:endParaRPr/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__len__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__getitem__</a:t>
            </a:r>
            <a:r>
              <a:rPr lang="en"/>
              <a:t>: Container behavior</a:t>
            </a:r>
            <a:endParaRPr/>
          </a:p>
        </p:txBody>
      </p:sp>
      <p:pic>
        <p:nvPicPr>
          <p:cNvPr id="226" name="Google Shape;22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350" y="412650"/>
            <a:ext cx="3166676" cy="43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350" y="412650"/>
            <a:ext cx="3166676" cy="43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659" y="412650"/>
            <a:ext cx="3379967" cy="43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Inheritance &amp; Composition</a:t>
            </a:r>
            <a:endParaRPr/>
          </a:p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"/>
              <a:t>Types of inheritance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Single inheritance: Class inherits from one base class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Multiple inheritance: Class inherits from multiple base classes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Multilevel inheritance: Class inherits from a derived class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lang="en"/>
              <a:t>Composition vs. Inheritance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Inheritance: "is-a" relationship (SavingsAccount is-a Account)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Composition: "has-a" relationship (Account has-a TransactionHistory)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lang="en"/>
              <a:t>Best Practice: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inheritance for specialization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composition for building complex behaviors</a:t>
            </a:r>
            <a:endParaRPr/>
          </a:p>
          <a:p>
            <a:pPr indent="-29749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Prefer composition over inheritance when in doubt</a:t>
            </a:r>
            <a:endParaRPr/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1600" y="1252375"/>
            <a:ext cx="4747350" cy="321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75" y="287150"/>
            <a:ext cx="6743651" cy="4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Type Hints &amp; Interfaces</a:t>
            </a:r>
            <a:endParaRPr/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Abstract Base Classes (ABCs):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Define interface contracts using @abstractmethod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Cannot be instantiated directly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Force subclasses to implement required methods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Enable strong type checking and consistency</a:t>
            </a:r>
            <a:endParaRPr/>
          </a:p>
        </p:txBody>
      </p:sp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 Hint Syntax: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Basic types: str, int, float, bool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Container types: List[str], Dict[str, float]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Union types: Optional[float], Union[str, int]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Type Hints &amp; Interfaces</a:t>
            </a:r>
            <a:endParaRPr/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0451"/>
            <a:ext cx="9144000" cy="3070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Iterators &amp; Generators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Iterator Protocol</a:t>
            </a:r>
            <a:endParaRPr/>
          </a:p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Iterator vs Iterable: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Iterable: Object that can be "iterated over"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__iter__</a:t>
            </a:r>
            <a:r>
              <a:rPr lang="en" sz="1200"/>
              <a:t>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Iterator: Object that keeps state and iterates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__next__</a:t>
            </a:r>
            <a:r>
              <a:rPr lang="en" sz="1200"/>
              <a:t>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each time</a:t>
            </a:r>
            <a:endParaRPr sz="1200"/>
          </a:p>
        </p:txBody>
      </p:sp>
      <p:sp>
        <p:nvSpPr>
          <p:cNvPr id="269" name="Google Shape;269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Built-in Iterators: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range()</a:t>
            </a:r>
            <a:r>
              <a:rPr lang="en" sz="1200"/>
              <a:t>: Numeric sequences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enumerate()</a:t>
            </a:r>
            <a:r>
              <a:rPr lang="en" sz="1200"/>
              <a:t>: Index-value pairs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zip()</a:t>
            </a:r>
            <a:r>
              <a:rPr lang="en" sz="1200"/>
              <a:t>: Parallel iteration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map()</a:t>
            </a:r>
            <a:r>
              <a:rPr lang="en" sz="1200"/>
              <a:t>: Transformed items</a:t>
            </a:r>
            <a:endParaRPr sz="1200"/>
          </a:p>
        </p:txBody>
      </p:sp>
      <p:pic>
        <p:nvPicPr>
          <p:cNvPr id="270" name="Google Shape;2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725" y="2817075"/>
            <a:ext cx="8166549" cy="214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Generator Functions</a:t>
            </a:r>
            <a:endParaRPr/>
          </a:p>
        </p:txBody>
      </p:sp>
      <p:sp>
        <p:nvSpPr>
          <p:cNvPr id="276" name="Google Shape;276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Yield Statement:</a:t>
            </a:r>
            <a:endParaRPr/>
          </a:p>
          <a:p>
            <a:pPr indent="-3041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Pauses function execution and returns value</a:t>
            </a:r>
            <a:endParaRPr/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Maintains function state between calls</a:t>
            </a:r>
            <a:endParaRPr/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Memory efficient - generates values on demand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/>
              <a:t>Generator Expression:</a:t>
            </a:r>
            <a:endParaRPr/>
          </a:p>
          <a:p>
            <a:pPr indent="-3041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Like list comprehension but with () instead of []</a:t>
            </a:r>
            <a:endParaRPr/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Lazy evaluation - computes only when needed</a:t>
            </a:r>
            <a:endParaRPr/>
          </a:p>
          <a:p>
            <a:pPr indent="-3041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Better memory usage for large sequences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/>
              <a:t>Key Difference: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en"/>
              <a:t>List comp: [x*2 for x in range(1000000)] # Creates full list Gen exp: (x*2 for x in range(1000000)) # Creates generator</a:t>
            </a:r>
            <a:endParaRPr/>
          </a:p>
        </p:txBody>
      </p:sp>
      <p:pic>
        <p:nvPicPr>
          <p:cNvPr id="277" name="Google Shape;2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9000" y="279175"/>
            <a:ext cx="2608250" cy="458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Key concepts covered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Next steps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Preview of Advanced Python II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