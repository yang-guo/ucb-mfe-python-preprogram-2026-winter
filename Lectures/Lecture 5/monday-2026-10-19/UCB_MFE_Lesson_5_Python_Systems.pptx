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B482D3-3F2E-422D-8FF0-DD78C2833E69}">
  <a:tblStyle styleId="{B3B482D3-3F2E-422D-8FF0-DD78C2833E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 · Opening</a:t>
            </a:r>
            <a:endParaRPr/>
          </a:p>
          <a:p>
            <a:pPr indent="0" lvl="0" marL="0" rtl="0" algn="l">
              <a:spcBef>
                <a:spcPts val="0"/>
              </a:spcBef>
              <a:spcAft>
                <a:spcPts val="0"/>
              </a:spcAft>
              <a:buNone/>
            </a:pPr>
            <a:r>
              <a:rPr lang="en-US" sz="1200"/>
              <a:t>TIME: 3 minutes (9:00–9:03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Welcome students. Today we keep the Python concepts they need to explain code in interviews, then connect those concepts to memory, processors, and agent tools. This session is self-contained. All examples use small synthetic inputs and need no knowledge of Thursday’s report. Students should predict outputs before cells run. The goal is to explain behavior and tradeoffs, not memorize every syntax detail.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Show the three questions that will organize the lesson.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a:t>
            </a:r>
            <a:endParaRPr/>
          </a:p>
          <a:p>
            <a:pPr indent="0" lvl="0" marL="0" rtl="0" algn="l">
              <a:spcBef>
                <a:spcPts val="0"/>
              </a:spcBef>
              <a:spcAft>
                <a:spcPts val="0"/>
              </a:spcAft>
              <a:buNone/>
            </a:pPr>
            <a:r>
              <a:rPr lang="en-US" sz="1200"/>
              <a:t>AI-generated educational illustration, October 18, 2026. Schematic, not an actual measured hardware configuration.</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 · Opening</a:t>
            </a:r>
            <a:endParaRPr/>
          </a:p>
          <a:p>
            <a:pPr indent="0" lvl="0" marL="0" rtl="0" algn="l">
              <a:spcBef>
                <a:spcPts val="0"/>
              </a:spcBef>
              <a:spcAft>
                <a:spcPts val="0"/>
              </a:spcAft>
              <a:buNone/>
            </a:pPr>
            <a:r>
              <a:rPr lang="en-US" sz="1200"/>
              <a:t>TIME: 4 minutes (9:03–9:07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Ask for two responses. Connect to both interviews and AI-assisted work: students need to explain code they read, regardless of who wrote it. A successful run is one observation. Keep the discussion on concrete behavior rather than a broad debate about AI capabilities.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A program ran successfully. What do you know so far?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It completed under those conditions. That alone does not establish that its result is correct, that it uses resources well, or that it handles other inputs.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Outline the route and the break.</a:t>
            </a:r>
            <a:endParaRPr/>
          </a:p>
        </p:txBody>
      </p:sp>
      <p:sp>
        <p:nvSpPr>
          <p:cNvPr id="40" name="Google Shape;4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 · Opening</a:t>
            </a:r>
            <a:endParaRPr/>
          </a:p>
          <a:p>
            <a:pPr indent="0" lvl="0" marL="0" rtl="0" algn="l">
              <a:spcBef>
                <a:spcPts val="0"/>
              </a:spcBef>
              <a:spcAft>
                <a:spcPts val="0"/>
              </a:spcAft>
              <a:buNone/>
            </a:pPr>
            <a:r>
              <a:rPr lang="en-US" sz="1200"/>
              <a:t>TIME: 3 minutes (9:07–9:10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The times include questions and notebook examples. Have the notebook open before class. Use the D-number printed on walkthrough slides to find the matching notebook heading. The notebook has optional D04, D11 and D17 examples; they are not required to complete the main route. Deeper GPU execution, prefill, decoding and KV-cache mechanics belong to Thursday.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Begin with names and objects.</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 · Scope and memory</a:t>
            </a:r>
            <a:endParaRPr/>
          </a:p>
          <a:p>
            <a:pPr indent="0" lvl="0" marL="0" rtl="0" algn="l">
              <a:spcBef>
                <a:spcPts val="0"/>
              </a:spcBef>
              <a:spcAft>
                <a:spcPts val="0"/>
              </a:spcAft>
              <a:buNone/>
            </a:pPr>
            <a:r>
              <a:rPr lang="en-US" sz="1200"/>
              <a:t>TIME: 3 minutes (9:10–9:13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Think of a and b as labels attached to one list. Assignment does not copy that list. A name binding is a language-level relationship, not a diagram of physical RAM. In CPython id commonly relates to an address, but Python only promises an identity value during the object lifetime. Avoid teaching physical addresses through id().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Next, distinguish finding a name from locating hardware memory.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63" name="Google Shape;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5 · Scope and memory</a:t>
            </a:r>
            <a:endParaRPr/>
          </a:p>
          <a:p>
            <a:pPr indent="0" lvl="0" marL="0" rtl="0" algn="l">
              <a:spcBef>
                <a:spcPts val="0"/>
              </a:spcBef>
              <a:spcAft>
                <a:spcPts val="0"/>
              </a:spcAft>
              <a:buNone/>
            </a:pPr>
            <a:r>
              <a:rPr lang="en-US" sz="1200"/>
              <a:t>TIME: 4 minutes (9:13–9:17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LEGB is a useful model for ordinary function name lookup. Scope is not a physical memory tier. Mention that assigning to a name inside a function normally makes it local unless declared global/nonlocal. Do not teach the full class/comprehension scope exceptions here.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Where does quote find amount? Where does it find 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amount is local to the call. rate is global in this example. An enclosing function would add another scope between local and global.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Run the hidden-input example.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74" name="Google Shape;7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6 · Scope and memory</a:t>
            </a:r>
            <a:endParaRPr/>
          </a:p>
          <a:p>
            <a:pPr indent="0" lvl="0" marL="0" rtl="0" algn="l">
              <a:spcBef>
                <a:spcPts val="0"/>
              </a:spcBef>
              <a:spcAft>
                <a:spcPts val="0"/>
              </a:spcAft>
              <a:buNone/>
            </a:pPr>
            <a:r>
              <a:rPr lang="en-US" sz="1200"/>
              <a:t>TIME: 4 minutes (9:17–9:21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D01. The explicit-input version returns 110 when passed rate=1.10. Ask students to identify what the first function depends on. Notebook execution order can leave hidden state behind. “Restart and run all” is a useful reproducibility check, while explicit arguments make the dependency easier to see.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Same explicit argument. Same answer?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No. The calls return approximately 110 and 120 because the function reads the current global 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D01</a:t>
            </a:r>
            <a:endParaRPr/>
          </a:p>
          <a:p>
            <a:pPr indent="0" lvl="0" marL="0" rtl="0" algn="l">
              <a:spcBef>
                <a:spcPts val="0"/>
              </a:spcBef>
              <a:spcAft>
                <a:spcPts val="0"/>
              </a:spcAft>
              <a:buNone/>
            </a:pPr>
            <a:r>
              <a:rPr lang="en-US" sz="1200"/>
              <a:t>Scope and hidden inputs</a:t>
            </a:r>
            <a:endParaRPr/>
          </a:p>
          <a:p>
            <a:pPr indent="0" lvl="0" marL="0" rtl="0" algn="l">
              <a:spcBef>
                <a:spcPts val="0"/>
              </a:spcBef>
              <a:spcAft>
                <a:spcPts val="0"/>
              </a:spcAft>
              <a:buNone/>
            </a:pPr>
            <a:r>
              <a:rPr lang="en-US" sz="1200"/>
              <a:t>Expected: 110.0, 120.0, 110.0. The first function reads the current global rate when called. The explicit version makes that dependency visible. This is name lookup and hidden state, not random behavior.</a:t>
            </a:r>
            <a:endParaRPr/>
          </a:p>
          <a:p>
            <a:pPr indent="0" lvl="0" marL="0" rtl="0" algn="l">
              <a:spcBef>
                <a:spcPts val="0"/>
              </a:spcBef>
              <a:spcAft>
                <a:spcPts val="0"/>
              </a:spcAft>
              <a:buNone/>
            </a:pPr>
            <a:r>
              <a:rPr lang="en-US" sz="1200"/>
              <a:t>Teaching note: Ask for all three outputs before running. Explain local, enclosing, global, built-in lookup. A notebook kernel keeps globals between cell executions. Restarting and running top-to-bottom helps expose accidental dependencies.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Now examine changing the object itself.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86" name="Google Shape;8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7 · Scope and memory</a:t>
            </a:r>
            <a:endParaRPr/>
          </a:p>
          <a:p>
            <a:pPr indent="0" lvl="0" marL="0" rtl="0" algn="l">
              <a:spcBef>
                <a:spcPts val="0"/>
              </a:spcBef>
              <a:spcAft>
                <a:spcPts val="0"/>
              </a:spcAft>
              <a:buNone/>
            </a:pPr>
            <a:r>
              <a:rPr lang="en-US" sz="1200"/>
              <a:t>TIME: 6 minutes (9:21–9:27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Give students 30 seconds before running. Ask them to narrate the operation after each line. The same reasoning applies when passing a list into a function: the parameter becomes another name for the supplied object. Mutating it can affect the caller; rebinding the local parameter does not rebind the caller’s name.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are a, b, and c at the 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a is [10, 20, 30]; b is [99]; c is [10, 20]. append mutated the shared list. The final assignment rebound only b.</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D02</a:t>
            </a:r>
            <a:endParaRPr/>
          </a:p>
          <a:p>
            <a:pPr indent="0" lvl="0" marL="0" rtl="0" algn="l">
              <a:spcBef>
                <a:spcPts val="0"/>
              </a:spcBef>
              <a:spcAft>
                <a:spcPts val="0"/>
              </a:spcAft>
              <a:buNone/>
            </a:pPr>
            <a:r>
              <a:rPr lang="en-US" sz="1200"/>
              <a:t>Mutation, reassignment, identity</a:t>
            </a:r>
            <a:endParaRPr/>
          </a:p>
          <a:p>
            <a:pPr indent="0" lvl="0" marL="0" rtl="0" algn="l">
              <a:spcBef>
                <a:spcPts val="0"/>
              </a:spcBef>
              <a:spcAft>
                <a:spcPts val="0"/>
              </a:spcAft>
              <a:buNone/>
            </a:pPr>
            <a:r>
              <a:rPr lang="en-US" sz="1200"/>
              <a:t>Expected: Before: True False True. Mutation: a and b both show [10, 20, 30], while c is [10, 20]. Reassignment changes what b names; a stays [10, 20, 30]. == compares values; is compares identity.</a:t>
            </a:r>
            <a:endParaRPr/>
          </a:p>
          <a:p>
            <a:pPr indent="0" lvl="0" marL="0" rtl="0" algn="l">
              <a:spcBef>
                <a:spcPts val="0"/>
              </a:spcBef>
              <a:spcAft>
                <a:spcPts val="0"/>
              </a:spcAft>
              <a:buNone/>
            </a:pPr>
            <a:r>
              <a:rPr lang="en-US" sz="1200"/>
              <a:t>Teaching note: Use the phrase “two names, one object.” A Python name binding is a logical relationship. Do not claim id() is a portable physical RAM address. Connect shared references to surprising changes in research code.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Copying can be shallow.</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97" name="Google Shape;9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8 · Scope and memory</a:t>
            </a:r>
            <a:endParaRPr/>
          </a:p>
          <a:p>
            <a:pPr indent="0" lvl="0" marL="0" rtl="0" algn="l">
              <a:spcBef>
                <a:spcPts val="0"/>
              </a:spcBef>
              <a:spcAft>
                <a:spcPts val="0"/>
              </a:spcAft>
              <a:buNone/>
            </a:pPr>
            <a:r>
              <a:rPr lang="en-US" sz="1200"/>
              <a:t>TIME: 4 minutes (9:27–9:31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D03 and compare deepcopy. Do not recommend copying everything. The correct choice depends on intended ownership, size, and mutation. Students should be able to explain the shared inner list without relying on terminology alone. If behind, explain the result on the slide and skip running this cell.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Does original also change?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Yes. The outer dictionaries differ, but both still refer to the same inner list.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D03</a:t>
            </a:r>
            <a:endParaRPr/>
          </a:p>
          <a:p>
            <a:pPr indent="0" lvl="0" marL="0" rtl="0" algn="l">
              <a:spcBef>
                <a:spcPts val="0"/>
              </a:spcBef>
              <a:spcAft>
                <a:spcPts val="0"/>
              </a:spcAft>
              <a:buNone/>
            </a:pPr>
            <a:r>
              <a:rPr lang="en-US" sz="1200"/>
              <a:t>A shallow copy keeps nested references</a:t>
            </a:r>
            <a:endParaRPr/>
          </a:p>
          <a:p>
            <a:pPr indent="0" lvl="0" marL="0" rtl="0" algn="l">
              <a:spcBef>
                <a:spcPts val="0"/>
              </a:spcBef>
              <a:spcAft>
                <a:spcPts val="0"/>
              </a:spcAft>
              <a:buNone/>
            </a:pPr>
            <a:r>
              <a:rPr lang="en-US" sz="1200"/>
              <a:t>Expected: The original becomes [100.0, 101.0, 102.0]. The deep copy remains [100.0, 101.0]. The inner list is shared by original and shallow.</a:t>
            </a:r>
            <a:endParaRPr/>
          </a:p>
          <a:p>
            <a:pPr indent="0" lvl="0" marL="0" rtl="0" algn="l">
              <a:spcBef>
                <a:spcPts val="0"/>
              </a:spcBef>
              <a:spcAft>
                <a:spcPts val="0"/>
              </a:spcAft>
              <a:buNone/>
            </a:pPr>
            <a:r>
              <a:rPr lang="en-US" sz="1200"/>
              <a:t>Teaching note: Copy depth follows the structure you need to isolate. Deep copying may cost time and memory and is not a universal fix. Keep this to one nested container.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Use identity and equality to describe these relationships.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https://docs.python.org/3.12/library/copy.html</a:t>
            </a:r>
            <a:endParaRPr/>
          </a:p>
        </p:txBody>
      </p:sp>
      <p:sp>
        <p:nvSpPr>
          <p:cNvPr id="108" name="Google Shape;10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9 · Scope and memory</a:t>
            </a:r>
            <a:endParaRPr/>
          </a:p>
          <a:p>
            <a:pPr indent="0" lvl="0" marL="0" rtl="0" algn="l">
              <a:spcBef>
                <a:spcPts val="0"/>
              </a:spcBef>
              <a:spcAft>
                <a:spcPts val="0"/>
              </a:spcAft>
              <a:buNone/>
            </a:pPr>
            <a:r>
              <a:rPr lang="en-US" sz="1200"/>
              <a:t>TIME: 5 minutes (9:31–9:36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Return to D02’s True False True output. Avoid examples based on integer or string interning, which distract from the rule and can vary by implementation. Strings and tuples are immutable containers, but a tuple can contain a mutable object. Keep that last point as an oral stretch only.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Can equal objects be distinct objects?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Yes. Two independently created lists can have equal contents while being different objects. Use is for identity, commonly for checks such as x is None.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Close the section with a short interview explanation.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120" name="Google Shape;12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10 · Scope and memory</a:t>
            </a:r>
            <a:endParaRPr/>
          </a:p>
          <a:p>
            <a:pPr indent="0" lvl="0" marL="0" rtl="0" algn="l">
              <a:spcBef>
                <a:spcPts val="0"/>
              </a:spcBef>
              <a:spcAft>
                <a:spcPts val="0"/>
              </a:spcAft>
              <a:buNone/>
            </a:pPr>
            <a:r>
              <a:rPr lang="en-US" sz="1200"/>
              <a:t>TIME: 4 minutes (9:36–9:40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Ask one student to answer in 45 seconds. Good answers explain the mechanism rather than saying “Python passes by reference,” which can obscure the distinction. Optional D04 covers mutable defaults if the group moves quickly. Preserve time for the functions section.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A function appends to a list argument. Why does the caller see the change?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parameter and caller’s name refer to the same list. append changes that list. Rebinding the parameter would change only the local name. A copy can provide isolation, with copy depth chosen for the data structure.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Explicit inputs help us reason about functions.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131" name="Google Shape;13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11 · Functions</a:t>
            </a:r>
            <a:endParaRPr/>
          </a:p>
          <a:p>
            <a:pPr indent="0" lvl="0" marL="0" rtl="0" algn="l">
              <a:spcBef>
                <a:spcPts val="0"/>
              </a:spcBef>
              <a:spcAft>
                <a:spcPts val="0"/>
              </a:spcAft>
              <a:buNone/>
            </a:pPr>
            <a:r>
              <a:rPr lang="en-US" sz="1200"/>
              <a:t>TIME: 4 minutes (9:40–9:44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 contract is a description of behavior, not necessarily a framework or formal type system. For this classroom example we assume prices share a currency and use the intended valuation time. These assumptions matter as much as Python types. Separate computation from data fetching or writing files when it improves clarity.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Use a known answer to make the contract concrete.</a:t>
            </a:r>
            <a:endParaRPr/>
          </a:p>
        </p:txBody>
      </p:sp>
      <p:sp>
        <p:nvSpPr>
          <p:cNvPr id="144" name="Google Shape;14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12 · Functions</a:t>
            </a:r>
            <a:endParaRPr/>
          </a:p>
          <a:p>
            <a:pPr indent="0" lvl="0" marL="0" rtl="0" algn="l">
              <a:spcBef>
                <a:spcPts val="0"/>
              </a:spcBef>
              <a:spcAft>
                <a:spcPts val="0"/>
              </a:spcAft>
              <a:buNone/>
            </a:pPr>
            <a:r>
              <a:rPr lang="en-US" sz="1200"/>
              <a:t>TIME: 5 minutes (9:44–9:49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D05. The function checks key coverage and computes a sum. It does not mutate its input dictionaries. Explain pure functions as deterministic for the same inputs and without externally visible side effects, under the assumptions of the calculation. A hand-calculated reference answer comes before trusting generated code.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should the value be? What if MSFT has no price?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400. Missing MSFT coverage should trigger the stated error rather than silently dropping that holding.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D05</a:t>
            </a:r>
            <a:endParaRPr/>
          </a:p>
          <a:p>
            <a:pPr indent="0" lvl="0" marL="0" rtl="0" algn="l">
              <a:spcBef>
                <a:spcPts val="0"/>
              </a:spcBef>
              <a:spcAft>
                <a:spcPts val="0"/>
              </a:spcAft>
              <a:buNone/>
            </a:pPr>
            <a:r>
              <a:rPr lang="en-US" sz="1200"/>
              <a:t>A calculation with explicit inputs</a:t>
            </a:r>
            <a:endParaRPr/>
          </a:p>
          <a:p>
            <a:pPr indent="0" lvl="0" marL="0" rtl="0" algn="l">
              <a:spcBef>
                <a:spcPts val="0"/>
              </a:spcBef>
              <a:spcAft>
                <a:spcPts val="0"/>
              </a:spcAft>
              <a:buNone/>
            </a:pPr>
            <a:r>
              <a:rPr lang="en-US" sz="1200"/>
              <a:t>Expected: 400.0. A missing MSFT price raises a specific ValueError. The calculation returns a value without modifying its input dictionaries. The instructor supplies the known-answer check independently of the implementation.</a:t>
            </a:r>
            <a:endParaRPr/>
          </a:p>
          <a:p>
            <a:pPr indent="0" lvl="0" marL="0" rtl="0" algn="l">
              <a:spcBef>
                <a:spcPts val="0"/>
              </a:spcBef>
              <a:spcAft>
                <a:spcPts val="0"/>
              </a:spcAft>
              <a:buNone/>
            </a:pPr>
            <a:r>
              <a:rPr lang="en-US" sz="1200"/>
              <a:t>Teaching note: Name the contract before the code: holdings and matching prices in one currency; value out; missing coverage is an error. This small example checks coverage, not every production concern such as timestamps or currency conversion.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Functions are also objects that other functions can use.</a:t>
            </a:r>
            <a:endParaRPr/>
          </a:p>
        </p:txBody>
      </p:sp>
      <p:sp>
        <p:nvSpPr>
          <p:cNvPr id="155" name="Google Shape;15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13 · Functions</a:t>
            </a:r>
            <a:endParaRPr/>
          </a:p>
          <a:p>
            <a:pPr indent="0" lvl="0" marL="0" rtl="0" algn="l">
              <a:spcBef>
                <a:spcPts val="0"/>
              </a:spcBef>
              <a:spcAft>
                <a:spcPts val="0"/>
              </a:spcAft>
              <a:buNone/>
            </a:pPr>
            <a:r>
              <a:rPr lang="en-US" sz="1200"/>
              <a:t>TIME: 5 minutes (9:49–9:54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D06 and compare the named function and lambda. Distinguish function construction from execution. Naming a function is often clearer when the calculation needs explanation or reuse. Do not spend time implementing map/filter/reduce. Students should understand the callable pattern.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Why pass dollar_value without parentheses?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sorted needs a callable to invoke for each item. Parentheses would call it immediately. A lambda is another way to express a small anonymous function.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D06</a:t>
            </a:r>
            <a:endParaRPr/>
          </a:p>
          <a:p>
            <a:pPr indent="0" lvl="0" marL="0" rtl="0" algn="l">
              <a:spcBef>
                <a:spcPts val="0"/>
              </a:spcBef>
              <a:spcAft>
                <a:spcPts val="0"/>
              </a:spcAft>
              <a:buNone/>
            </a:pPr>
            <a:r>
              <a:rPr lang="en-US" sz="1200"/>
              <a:t>Functions can be inputs</a:t>
            </a:r>
            <a:endParaRPr/>
          </a:p>
          <a:p>
            <a:pPr indent="0" lvl="0" marL="0" rtl="0" algn="l">
              <a:spcBef>
                <a:spcPts val="0"/>
              </a:spcBef>
              <a:spcAft>
                <a:spcPts val="0"/>
              </a:spcAft>
              <a:buNone/>
            </a:pPr>
            <a:r>
              <a:rPr lang="en-US" sz="1200"/>
              <a:t>Expected: MSFT appears first: 250 is greater than 200. sorted receives the function itself and calls it for each item. The lambda expresses the same single calculation.</a:t>
            </a:r>
            <a:endParaRPr/>
          </a:p>
          <a:p>
            <a:pPr indent="0" lvl="0" marL="0" rtl="0" algn="l">
              <a:spcBef>
                <a:spcPts val="0"/>
              </a:spcBef>
              <a:spcAft>
                <a:spcPts val="0"/>
              </a:spcAft>
              <a:buNone/>
            </a:pPr>
            <a:r>
              <a:rPr lang="en-US" sz="1200"/>
              <a:t>Teaching note: Contrast key=dollar_value with calling dollar_value immediately. Keep map/filter/reduce as reference vocabulary rather than adding a syntax tour.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Decorators build on the same first-class-function idea.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166" name="Google Shape;16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14 · Functions</a:t>
            </a:r>
            <a:endParaRPr/>
          </a:p>
          <a:p>
            <a:pPr indent="0" lvl="0" marL="0" rtl="0" algn="l">
              <a:spcBef>
                <a:spcPts val="0"/>
              </a:spcBef>
              <a:spcAft>
                <a:spcPts val="0"/>
              </a:spcAft>
              <a:buNone/>
            </a:pPr>
            <a:r>
              <a:rPr lang="en-US" sz="1200"/>
              <a:t>TIME: 3 minutes (9:54–9:57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The equivalent rebinding is explanatory: do not execute both forms on the same function during the lesson or you will wrap twice. The original calculation and wrapper have separate responsibilities. A decorator may introduce side effects even when the calculation itself is pure.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Read one wrapper and identify its responsibilities.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https://docs.python.org/3.12/library/functools.html</a:t>
            </a:r>
            <a:endParaRPr/>
          </a:p>
        </p:txBody>
      </p:sp>
      <p:sp>
        <p:nvSpPr>
          <p:cNvPr id="177" name="Google Shape;17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15 · Functions</a:t>
            </a:r>
            <a:endParaRPr/>
          </a:p>
          <a:p>
            <a:pPr indent="0" lvl="0" marL="0" rtl="0" algn="l">
              <a:spcBef>
                <a:spcPts val="0"/>
              </a:spcBef>
              <a:spcAft>
                <a:spcPts val="0"/>
              </a:spcAft>
              <a:buNone/>
            </a:pPr>
            <a:r>
              <a:rPr lang="en-US" sz="1200"/>
              <a:t>TIME: 3 minutes (9:57–10:00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D07. Explain *args and **kwargs as forwarding arguments; do not turn this into a complete variadic-argument lesson. wraps preserves metadata. Timing output varies and is not a benchmark. This simple implementation does not report an elapsed time if the wrapped function raises.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Where is the original function called? Where does its result return?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function(*args, **kwargs) calls the original. return result preserves its return value. The outer function returns the wrapper itself.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D07</a:t>
            </a:r>
            <a:endParaRPr/>
          </a:p>
          <a:p>
            <a:pPr indent="0" lvl="0" marL="0" rtl="0" algn="l">
              <a:spcBef>
                <a:spcPts val="0"/>
              </a:spcBef>
              <a:spcAft>
                <a:spcPts val="0"/>
              </a:spcAft>
              <a:buNone/>
            </a:pPr>
            <a:r>
              <a:rPr lang="en-US" sz="1200"/>
              <a:t>A timing decorator</a:t>
            </a:r>
            <a:endParaRPr/>
          </a:p>
          <a:p>
            <a:pPr indent="0" lvl="0" marL="0" rtl="0" algn="l">
              <a:spcBef>
                <a:spcPts val="0"/>
              </a:spcBef>
              <a:spcAft>
                <a:spcPts val="0"/>
              </a:spcAft>
              <a:buNone/>
            </a:pPr>
            <a:r>
              <a:rPr lang="en-US" sz="1200"/>
              <a:t>Expected: The return value is 400.0. The wrapper measures elapsed time and returns the original result. @timed is equivalent to rebinding position_value = timed(position_value). wraps preserves useful metadata. Exact elapsed time varies.</a:t>
            </a:r>
            <a:endParaRPr/>
          </a:p>
          <a:p>
            <a:pPr indent="0" lvl="0" marL="0" rtl="0" algn="l">
              <a:spcBef>
                <a:spcPts val="0"/>
              </a:spcBef>
              <a:spcAft>
                <a:spcPts val="0"/>
              </a:spcAft>
              <a:buNone/>
            </a:pPr>
            <a:r>
              <a:rPr lang="en-US" sz="1200"/>
              <a:t>Teaching note: The goal is reading this pattern, not memorizing nested syntax. This simple wrapper reports successful calls; it does not report timing if the function raises. Logging itself is a side effect.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Objects let us organize state with behavior.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https://docs.python.org/3.12/library/functools.html</a:t>
            </a:r>
            <a:endParaRPr/>
          </a:p>
        </p:txBody>
      </p:sp>
      <p:sp>
        <p:nvSpPr>
          <p:cNvPr id="188" name="Google Shape;18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16 · Objects</a:t>
            </a:r>
            <a:endParaRPr/>
          </a:p>
          <a:p>
            <a:pPr indent="0" lvl="0" marL="0" rtl="0" algn="l">
              <a:spcBef>
                <a:spcPts val="0"/>
              </a:spcBef>
              <a:spcAft>
                <a:spcPts val="0"/>
              </a:spcAft>
              <a:buNone/>
            </a:pPr>
            <a:r>
              <a:rPr lang="en-US" sz="1200"/>
              <a:t>TIME: 4 minutes (10:00–10:04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State represents what the object currently knows. A method provides behavior using that state. A class is not automatically better than a function. It becomes useful when the relationship between state and operations is meaningful and repeated.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Construct two independent positions.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01" name="Google Shape;20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17 · Objects</a:t>
            </a:r>
            <a:endParaRPr/>
          </a:p>
          <a:p>
            <a:pPr indent="0" lvl="0" marL="0" rtl="0" algn="l">
              <a:spcBef>
                <a:spcPts val="0"/>
              </a:spcBef>
              <a:spcAft>
                <a:spcPts val="0"/>
              </a:spcAft>
              <a:buNone/>
            </a:pPr>
            <a:r>
              <a:rPr lang="en-US" sz="1200"/>
              <a:t>TIME: 5 minutes (10:04–10:09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D08. __init__ initializes the instance after creation. Trace first.shares changing to 3 and second.shares remaining 2. State makes behavior depend on the instance as well as explicit arguments. Ask students where they would look if only one position’s result were wrong.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does self identify during a method call?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instance receiving the call. first.market_value(100) is equivalent here to Position.market_value(first,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D08</a:t>
            </a:r>
            <a:endParaRPr/>
          </a:p>
          <a:p>
            <a:pPr indent="0" lvl="0" marL="0" rtl="0" algn="l">
              <a:spcBef>
                <a:spcPts val="0"/>
              </a:spcBef>
              <a:spcAft>
                <a:spcPts val="0"/>
              </a:spcAft>
              <a:buNone/>
            </a:pPr>
            <a:r>
              <a:rPr lang="en-US" sz="1200"/>
              <a:t>Classes and independent instance state</a:t>
            </a:r>
            <a:endParaRPr/>
          </a:p>
          <a:p>
            <a:pPr indent="0" lvl="0" marL="0" rtl="0" algn="l">
              <a:spcBef>
                <a:spcPts val="0"/>
              </a:spcBef>
              <a:spcAft>
                <a:spcPts val="0"/>
              </a:spcAft>
              <a:buNone/>
            </a:pPr>
            <a:r>
              <a:rPr lang="en-US" sz="1200"/>
              <a:t>Expected: The values are 300 and 200. first and second hold distinct instance state. self names the instance receiving the method call. asset_type is a class attribute.</a:t>
            </a:r>
            <a:endParaRPr/>
          </a:p>
          <a:p>
            <a:pPr indent="0" lvl="0" marL="0" rtl="0" algn="l">
              <a:spcBef>
                <a:spcPts val="0"/>
              </a:spcBef>
              <a:spcAft>
                <a:spcPts val="0"/>
              </a:spcAft>
              <a:buNone/>
            </a:pPr>
            <a:r>
              <a:rPr lang="en-US" sz="1200"/>
              <a:t>Teaching note: Trace construction, state, and one method call. Equivalent call: Position.market_value(first, 100). __init__ initializes a newly created instance; avoid claiming it alone allocates the object.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Class attributes have different sharing behavior.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11" name="Google Shape;211;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18 · Objects</a:t>
            </a:r>
            <a:endParaRPr/>
          </a:p>
          <a:p>
            <a:pPr indent="0" lvl="0" marL="0" rtl="0" algn="l">
              <a:spcBef>
                <a:spcPts val="0"/>
              </a:spcBef>
              <a:spcAft>
                <a:spcPts val="0"/>
              </a:spcAft>
              <a:buNone/>
            </a:pPr>
            <a:r>
              <a:rPr lang="en-US" sz="1200"/>
              <a:t>TIME: 5 minutes (10:09–10:14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D09. Connect the bug to shared references from the first section. Class attributes can be appropriate for genuinely shared constants or behavior. Shared mutable state is the issue in this example, not the mere existence of class attributes.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does right.tickers contain?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["AAPL"]. Both instances find the shared class-level list. Initializing self.tickers = [] inside __init__ gives each instance its own list.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D09</a:t>
            </a:r>
            <a:endParaRPr/>
          </a:p>
          <a:p>
            <a:pPr indent="0" lvl="0" marL="0" rtl="0" algn="l">
              <a:spcBef>
                <a:spcPts val="0"/>
              </a:spcBef>
              <a:spcAft>
                <a:spcPts val="0"/>
              </a:spcAft>
              <a:buNone/>
            </a:pPr>
            <a:r>
              <a:rPr lang="en-US" sz="1200"/>
              <a:t>Shared class attributes</a:t>
            </a:r>
            <a:endParaRPr/>
          </a:p>
          <a:p>
            <a:pPr indent="0" lvl="0" marL="0" rtl="0" algn="l">
              <a:spcBef>
                <a:spcPts val="0"/>
              </a:spcBef>
              <a:spcAft>
                <a:spcPts val="0"/>
              </a:spcAft>
              <a:buNone/>
            </a:pPr>
            <a:r>
              <a:rPr lang="en-US" sz="1200"/>
              <a:t>Expected: The first list belongs to the class and both instances find that same list. The second version assigns a new list to each instance during initialization.</a:t>
            </a:r>
            <a:endParaRPr/>
          </a:p>
          <a:p>
            <a:pPr indent="0" lvl="0" marL="0" rtl="0" algn="l">
              <a:spcBef>
                <a:spcPts val="0"/>
              </a:spcBef>
              <a:spcAft>
                <a:spcPts val="0"/>
              </a:spcAft>
              <a:buNone/>
            </a:pPr>
            <a:r>
              <a:rPr lang="en-US" sz="1200"/>
              <a:t>Teaching note: Connect this directly to D02 rather than treating it as a separate trick. Mutation acts on the shared object; assignment to an instance attribute is a different operation.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Compose objects to build a portfolio.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22" name="Google Shape;222;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19 · Objects</a:t>
            </a:r>
            <a:endParaRPr/>
          </a:p>
          <a:p>
            <a:pPr indent="0" lvl="0" marL="0" rtl="0" algn="l">
              <a:spcBef>
                <a:spcPts val="0"/>
              </a:spcBef>
              <a:spcAft>
                <a:spcPts val="0"/>
              </a:spcAft>
              <a:buNone/>
            </a:pPr>
            <a:r>
              <a:rPr lang="en-US" sz="1200"/>
              <a:t>TIME: 5 minutes (10:14–10:19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D10. The printed answer is two positions and a value of 400. The portfolio copies the outer list; it still shares the Position instances. That makes a good optional check of reference understanding. We are teaching composition through an actual object relationship, without a framework.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D10</a:t>
            </a:r>
            <a:endParaRPr/>
          </a:p>
          <a:p>
            <a:pPr indent="0" lvl="0" marL="0" rtl="0" algn="l">
              <a:spcBef>
                <a:spcPts val="0"/>
              </a:spcBef>
              <a:spcAft>
                <a:spcPts val="0"/>
              </a:spcAft>
              <a:buNone/>
            </a:pPr>
            <a:r>
              <a:rPr lang="en-US" sz="1200"/>
              <a:t>Composition: a portfolio has positions</a:t>
            </a:r>
            <a:endParaRPr/>
          </a:p>
          <a:p>
            <a:pPr indent="0" lvl="0" marL="0" rtl="0" algn="l">
              <a:spcBef>
                <a:spcPts val="0"/>
              </a:spcBef>
              <a:spcAft>
                <a:spcPts val="0"/>
              </a:spcAft>
              <a:buNone/>
            </a:pPr>
            <a:r>
              <a:rPr lang="en-US" sz="1200"/>
              <a:t>Expected: Position values itself at a supplied price. Portfolio holds positions and aggregates their values. len(book) returns 2 via __len__. This is a has-a relationship.</a:t>
            </a:r>
            <a:endParaRPr/>
          </a:p>
          <a:p>
            <a:pPr indent="0" lvl="0" marL="0" rtl="0" algn="l">
              <a:spcBef>
                <a:spcPts val="0"/>
              </a:spcBef>
              <a:spcAft>
                <a:spcPts val="0"/>
              </a:spcAft>
              <a:buNone/>
            </a:pPr>
            <a:r>
              <a:rPr lang="en-US" sz="1200"/>
              <a:t>Teaching note: The list constructor copies the outer container, not the Position objects. That is a deliberate return to reference semantics. A class is useful when related state and behavior belong together; a simple stateless calculation can remain a function.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Compare composition with inheritance.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33" name="Google Shape;233;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20 · Objects</a:t>
            </a:r>
            <a:endParaRPr/>
          </a:p>
          <a:p>
            <a:pPr indent="0" lvl="0" marL="0" rtl="0" algn="l">
              <a:spcBef>
                <a:spcPts val="0"/>
              </a:spcBef>
              <a:spcAft>
                <a:spcPts val="0"/>
              </a:spcAft>
              <a:buNone/>
            </a:pPr>
            <a:r>
              <a:rPr lang="en-US" sz="1200"/>
              <a:t>TIME: 4 minutes (10:19–10:23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Optional D11 gives a runnable subclass with super(). Explain that inheritance can share behavior but also couples the subclass to its base. Composition is often simpler when objects collaborate. Avoid multiple-inheritance rules here; they can be studied separately.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Does adding a strategy label require a subclass?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Usually an extra attribute may be enough. Inheritance is an available mechanism, not a requirement. Use it when specialization and substitutability make the design clearer.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Python gives objects familiar language interfaces.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44" name="Google Shape;244;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21 · Objects</a:t>
            </a:r>
            <a:endParaRPr/>
          </a:p>
          <a:p>
            <a:pPr indent="0" lvl="0" marL="0" rtl="0" algn="l">
              <a:spcBef>
                <a:spcPts val="0"/>
              </a:spcBef>
              <a:spcAft>
                <a:spcPts val="0"/>
              </a:spcAft>
              <a:buNone/>
            </a:pPr>
            <a:r>
              <a:rPr lang="en-US" sz="1200"/>
              <a:t>TIME: 4 minutes (10:23–10:27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Use __len__ from D10 as the concrete example. Class methods commonly support alternate constructors; static methods can group a related utility, although a module-level function can also be appropriate. Keep this as recognition and explanation, not an implementation tour. Type hints document expectations but do not enforce them at runtime.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Practice choosing a reasonable structure.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a:p>
            <a:pPr indent="0" lvl="0" marL="0" rtl="0" algn="l">
              <a:spcBef>
                <a:spcPts val="0"/>
              </a:spcBef>
              <a:spcAft>
                <a:spcPts val="0"/>
              </a:spcAft>
              <a:buNone/>
            </a:pPr>
            <a:r>
              <a:rPr lang="en-US" sz="1200"/>
              <a:t>https://docs.python.org/3.12/library/functions.html#classmethod</a:t>
            </a:r>
            <a:endParaRPr/>
          </a:p>
        </p:txBody>
      </p:sp>
      <p:sp>
        <p:nvSpPr>
          <p:cNvPr id="255" name="Google Shape;25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22 · Objects</a:t>
            </a:r>
            <a:endParaRPr/>
          </a:p>
          <a:p>
            <a:pPr indent="0" lvl="0" marL="0" rtl="0" algn="l">
              <a:spcBef>
                <a:spcPts val="0"/>
              </a:spcBef>
              <a:spcAft>
                <a:spcPts val="0"/>
              </a:spcAft>
              <a:buNone/>
            </a:pPr>
            <a:r>
              <a:rPr lang="en-US" sz="1200"/>
              <a:t>TIME: 3 minutes (10:27–10:30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Do not grade the answer by matching one class diagram. Ask students to defend their choice and identify a needless abstraction. A class does not by itself make code safe or maintainable. Stop at 10:30 PT for the break.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You need one calculation, several holdings, and a portfolio summary. How would you organize them?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A stateless calculation can remain a function. Position can hold per-holding state; Portfolio can compose positions and aggregate results. A different simple design can also be correct if responsibilities and state are clear.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Break, then we connect iteration with memory use.</a:t>
            </a:r>
            <a:endParaRPr/>
          </a:p>
        </p:txBody>
      </p:sp>
      <p:sp>
        <p:nvSpPr>
          <p:cNvPr id="265" name="Google Shape;26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23 · Break</a:t>
            </a:r>
            <a:endParaRPr/>
          </a:p>
          <a:p>
            <a:pPr indent="0" lvl="0" marL="0" rtl="0" algn="l">
              <a:spcBef>
                <a:spcPts val="0"/>
              </a:spcBef>
              <a:spcAft>
                <a:spcPts val="0"/>
              </a:spcAft>
              <a:buNone/>
            </a:pPr>
            <a:r>
              <a:rPr lang="en-US" sz="1200"/>
              <a:t>TIME: 10 minutes (10:30–10:40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Pause teaching. Keep the notebook open at chapter 4. The afternoon portion here refers to later in this session, not a new assignment. If earlier discussion ran long, trim optional examples rather than remove the break.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Return with the distinction between an iterable and an iterator.</a:t>
            </a:r>
            <a:endParaRPr/>
          </a:p>
        </p:txBody>
      </p:sp>
      <p:sp>
        <p:nvSpPr>
          <p:cNvPr id="278" name="Google Shape;27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24 · Iteration and memory</a:t>
            </a:r>
            <a:endParaRPr/>
          </a:p>
          <a:p>
            <a:pPr indent="0" lvl="0" marL="0" rtl="0" algn="l">
              <a:spcBef>
                <a:spcPts val="0"/>
              </a:spcBef>
              <a:spcAft>
                <a:spcPts val="0"/>
              </a:spcAft>
              <a:buNone/>
            </a:pPr>
            <a:r>
              <a:rPr lang="en-US" sz="1200"/>
              <a:t>TIME: 4 minutes (10:40–10:44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D12. The list remains available after its iterator is exhausted. A for loop requests an iterator and repeatedly advances it until StopIteration. range is an iterable, not itself an iterator. This corrects a common shorthand from introductory materials.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Can you iterate over the same list twice?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Yes, by obtaining a fresh iterator each time. An exhausted iterator does not automatically restart.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D12</a:t>
            </a:r>
            <a:endParaRPr/>
          </a:p>
          <a:p>
            <a:pPr indent="0" lvl="0" marL="0" rtl="0" algn="l">
              <a:spcBef>
                <a:spcPts val="0"/>
              </a:spcBef>
              <a:spcAft>
                <a:spcPts val="0"/>
              </a:spcAft>
              <a:buNone/>
            </a:pPr>
            <a:r>
              <a:rPr lang="en-US" sz="1200"/>
              <a:t>An iterator remembers progress</a:t>
            </a:r>
            <a:endParaRPr/>
          </a:p>
          <a:p>
            <a:pPr indent="0" lvl="0" marL="0" rtl="0" algn="l">
              <a:spcBef>
                <a:spcPts val="0"/>
              </a:spcBef>
              <a:spcAft>
                <a:spcPts val="0"/>
              </a:spcAft>
              <a:buNone/>
            </a:pPr>
            <a:r>
              <a:rPr lang="en-US" sz="1200"/>
              <a:t>Expected: First: 100. Remaining: [102, 101]. Again: []. A fresh iterator over the list gives all three values. The iterable can produce an iterator; the iterator tracks its own progress.</a:t>
            </a:r>
            <a:endParaRPr/>
          </a:p>
          <a:p>
            <a:pPr indent="0" lvl="0" marL="0" rtl="0" algn="l">
              <a:spcBef>
                <a:spcPts val="0"/>
              </a:spcBef>
              <a:spcAft>
                <a:spcPts val="0"/>
              </a:spcAft>
              <a:buNone/>
            </a:pPr>
            <a:r>
              <a:rPr lang="en-US" sz="1200"/>
              <a:t>Teaching note: Explain StopIteration briefly without leaving a failing cell in the notebook. A list is iterable but not itself an iterator.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A generator is a convenient way to create an iterator.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87" name="Google Shape;287;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25 · Iteration and memory</a:t>
            </a:r>
            <a:endParaRPr/>
          </a:p>
          <a:p>
            <a:pPr indent="0" lvl="0" marL="0" rtl="0" algn="l">
              <a:spcBef>
                <a:spcPts val="0"/>
              </a:spcBef>
              <a:spcAft>
                <a:spcPts val="0"/>
              </a:spcAft>
              <a:buNone/>
            </a:pPr>
            <a:r>
              <a:rPr lang="en-US" sz="1200"/>
              <a:t>TIME: 5 minutes (10:44–10:49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D13: +10%, then -10%, then exhaustion. Note that the input list already exists and the slice creates another list. Lazy output does not guarantee the whole pipeline uses constant memory. This caveat sets up the cleaner memory experiment.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When does the body start? What happens after each yield?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body begins when iteration starts. yield produces a value and suspends execution; the next request resumes it. The generator retains execution state.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D13</a:t>
            </a:r>
            <a:endParaRPr/>
          </a:p>
          <a:p>
            <a:pPr indent="0" lvl="0" marL="0" rtl="0" algn="l">
              <a:spcBef>
                <a:spcPts val="0"/>
              </a:spcBef>
              <a:spcAft>
                <a:spcPts val="0"/>
              </a:spcAft>
              <a:buNone/>
            </a:pPr>
            <a:r>
              <a:rPr lang="en-US" sz="1200"/>
              <a:t>A generator yields one result at a time</a:t>
            </a:r>
            <a:endParaRPr/>
          </a:p>
          <a:p>
            <a:pPr indent="0" lvl="0" marL="0" rtl="0" algn="l">
              <a:spcBef>
                <a:spcPts val="0"/>
              </a:spcBef>
              <a:spcAft>
                <a:spcPts val="0"/>
              </a:spcAft>
              <a:buNone/>
            </a:pPr>
            <a:r>
              <a:rPr lang="en-US" sz="1200"/>
              <a:t>Expected: The body starts when iteration begins. It yields 0.1, then -0.1, then finishes. yield suspends the function and retains its execution state.</a:t>
            </a:r>
            <a:endParaRPr/>
          </a:p>
          <a:p>
            <a:pPr indent="0" lvl="0" marL="0" rtl="0" algn="l">
              <a:spcBef>
                <a:spcPts val="0"/>
              </a:spcBef>
              <a:spcAft>
                <a:spcPts val="0"/>
              </a:spcAft>
              <a:buNone/>
            </a:pPr>
            <a:r>
              <a:rPr lang="en-US" sz="1200"/>
              <a:t>Teaching note: This generator makes its outputs lazy, but the input list remains in memory and prices[1:] creates a slice. Do not present it as fully streaming from disk. D14 supplies a cleaner memory comparison.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Compare the same total with and without materialization.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p:txBody>
      </p:sp>
      <p:sp>
        <p:nvSpPr>
          <p:cNvPr id="298" name="Google Shape;29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26 · Iteration and memory</a:t>
            </a:r>
            <a:endParaRPr/>
          </a:p>
          <a:p>
            <a:pPr indent="0" lvl="0" marL="0" rtl="0" algn="l">
              <a:spcBef>
                <a:spcPts val="0"/>
              </a:spcBef>
              <a:spcAft>
                <a:spcPts val="0"/>
              </a:spcAft>
              <a:buNone/>
            </a:pPr>
            <a:r>
              <a:rPr lang="en-US" sz="1200"/>
              <a:t>TIME: 4 minutes (10:49–10:53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D14 and read the peak-allocation output. We measure Python allocations with tracemalloc, not total RSS or GPU memory. The formula check confirms the result before comparing resources. Exact timings vary and instrumentation itself has overhead. Focus on the memory trend.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Which version retains every squared value?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list comprehension materializes the whole collection. The generator expression feeds values to sum incrementally. Both perform linear work in 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D14</a:t>
            </a:r>
            <a:endParaRPr/>
          </a:p>
          <a:p>
            <a:pPr indent="0" lvl="0" marL="0" rtl="0" algn="l">
              <a:spcBef>
                <a:spcPts val="0"/>
              </a:spcBef>
              <a:spcAft>
                <a:spcPts val="0"/>
              </a:spcAft>
              <a:buNone/>
            </a:pPr>
            <a:r>
              <a:rPr lang="en-US" sz="1200"/>
              <a:t>Materializing versus streaming</a:t>
            </a:r>
            <a:endParaRPr/>
          </a:p>
          <a:p>
            <a:pPr indent="0" lvl="0" marL="0" rtl="0" algn="l">
              <a:spcBef>
                <a:spcPts val="0"/>
              </a:spcBef>
              <a:spcAft>
                <a:spcPts val="0"/>
              </a:spcAft>
              <a:buNone/>
            </a:pPr>
            <a:r>
              <a:rPr lang="en-US" sz="1200"/>
              <a:t>Expected: The results agree. The list retains all squared values; the generator supplies them incrementally. Both do O(N) arithmetic. Streaming avoids the O(N) retained collection, but is not guaranteed to run faster.</a:t>
            </a:r>
            <a:endParaRPr/>
          </a:p>
          <a:p>
            <a:pPr indent="0" lvl="0" marL="0" rtl="0" algn="l">
              <a:spcBef>
                <a:spcPts val="0"/>
              </a:spcBef>
              <a:spcAft>
                <a:spcPts val="0"/>
              </a:spcAft>
              <a:buNone/>
            </a:pPr>
            <a:r>
              <a:rPr lang="en-US" sz="1200"/>
              <a:t>Teaching note: Measurements are Python allocations observed by tracemalloc, not total process RAM. Instrumentation affects timing. Do not read a universal speed ratio from this tiny example; explain the memory trend.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The representation of each stored value matters too.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https://docs.python.org/3.12/library/tracemalloc.html</a:t>
            </a:r>
            <a:endParaRPr/>
          </a:p>
        </p:txBody>
      </p:sp>
      <p:sp>
        <p:nvSpPr>
          <p:cNvPr id="309" name="Google Shape;309;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27 · Iteration and memory</a:t>
            </a:r>
            <a:endParaRPr/>
          </a:p>
          <a:p>
            <a:pPr indent="0" lvl="0" marL="0" rtl="0" algn="l">
              <a:spcBef>
                <a:spcPts val="0"/>
              </a:spcBef>
              <a:spcAft>
                <a:spcPts val="0"/>
              </a:spcAft>
              <a:buNone/>
            </a:pPr>
            <a:r>
              <a:rPr lang="en-US" sz="1200"/>
              <a:t>TIME: 5 minutes (10:53–10:58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D15. NumPy nbytes reports element-buffer storage and excludes object metadata. The list estimate sums the list size plus distinct float objects in this example. Do not compare them as identical accounting measures. A contiguous numeric array can reduce representation overhead; not every array is contiguous.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Does cutting element size in half preserve every numerical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No. float32 has lower precision and range than float64. The same computation may round differently or overflow sooner. Choose precision based on error tolerance and workload.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D15</a:t>
            </a:r>
            <a:endParaRPr/>
          </a:p>
          <a:p>
            <a:pPr indent="0" lvl="0" marL="0" rtl="0" algn="l">
              <a:spcBef>
                <a:spcPts val="0"/>
              </a:spcBef>
              <a:spcAft>
                <a:spcPts val="0"/>
              </a:spcAft>
              <a:buNone/>
            </a:pPr>
            <a:r>
              <a:rPr lang="en-US" sz="1200"/>
              <a:t>Representation changes the memory budget</a:t>
            </a:r>
            <a:endParaRPr/>
          </a:p>
          <a:p>
            <a:pPr indent="0" lvl="0" marL="0" rtl="0" algn="l">
              <a:spcBef>
                <a:spcPts val="0"/>
              </a:spcBef>
              <a:spcAft>
                <a:spcPts val="0"/>
              </a:spcAft>
              <a:buNone/>
            </a:pPr>
            <a:r>
              <a:rPr lang="en-US" sz="1200"/>
              <a:t>Expected: float64 uses 800,000 element-buffer bytes and float32 uses 400,000. The list estimate includes its references and the distinct float objects created here. NumPy nbytes excludes array-object metadata. Lower precision changes representable values and rounding.</a:t>
            </a:r>
            <a:endParaRPr/>
          </a:p>
          <a:p>
            <a:pPr indent="0" lvl="0" marL="0" rtl="0" algn="l">
              <a:spcBef>
                <a:spcPts val="0"/>
              </a:spcBef>
              <a:spcAft>
                <a:spcPts val="0"/>
              </a:spcAft>
              <a:buNone/>
            </a:pPr>
            <a:r>
              <a:rPr lang="en-US" sz="1200"/>
              <a:t>Teaching note: Compare the units and accounting boundaries, not only the totals. Numeric NumPy arrays store fixed-width elements contiguously in this example. Do not claim all arrays are contiguous or all lower precision is acceptable in financial calculations.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Make the time-space tradeoff explicit.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https://numpy.org/doc/stable/reference/generated/numpy.ndarray.nbytes.html</a:t>
            </a:r>
            <a:endParaRPr/>
          </a:p>
          <a:p>
            <a:pPr indent="0" lvl="0" marL="0" rtl="0" algn="l">
              <a:spcBef>
                <a:spcPts val="0"/>
              </a:spcBef>
              <a:spcAft>
                <a:spcPts val="0"/>
              </a:spcAft>
              <a:buNone/>
            </a:pPr>
            <a:r>
              <a:rPr lang="en-US" sz="1200"/>
              <a:t>https://docs.python.org/3.12/library/sys.html#sys.getsizeof</a:t>
            </a:r>
            <a:endParaRPr/>
          </a:p>
        </p:txBody>
      </p:sp>
      <p:sp>
        <p:nvSpPr>
          <p:cNvPr id="320" name="Google Shape;320;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28 · Iteration and memory</a:t>
            </a:r>
            <a:endParaRPr/>
          </a:p>
          <a:p>
            <a:pPr indent="0" lvl="0" marL="0" rtl="0" algn="l">
              <a:spcBef>
                <a:spcPts val="0"/>
              </a:spcBef>
              <a:spcAft>
                <a:spcPts val="0"/>
              </a:spcAft>
              <a:buNone/>
            </a:pPr>
            <a:r>
              <a:rPr lang="en-US" sz="1200"/>
              <a:t>TIME: 4 minutes (10:58–11:02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Ask students to choose a strategy for a one-pass sum over a huge file versus a calculation repeatedly revisiting the same observations. No strategy dominates every workload. Chunking controls retained data, while caching deliberately retains data to avoid future 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Use a transfer question before hardware.</a:t>
            </a:r>
            <a:endParaRPr/>
          </a:p>
        </p:txBody>
      </p:sp>
      <p:sp>
        <p:nvSpPr>
          <p:cNvPr id="331" name="Google Shape;331;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29 · Iteration and memory</a:t>
            </a:r>
            <a:endParaRPr/>
          </a:p>
          <a:p>
            <a:pPr indent="0" lvl="0" marL="0" rtl="0" algn="l">
              <a:spcBef>
                <a:spcPts val="0"/>
              </a:spcBef>
              <a:spcAft>
                <a:spcPts val="0"/>
              </a:spcAft>
              <a:buNone/>
            </a:pPr>
            <a:r>
              <a:rPr lang="en-US" sz="1200"/>
              <a:t>TIME: 3 minutes (11:02–11:05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Accept a concise answer with a concrete example. D14 may show a runtime difference on this machine, but that does not establish a universal ranking. Optional D17 later contrasts CPU NumPy operations with a Python loop.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A generator uses less memory. Does that guarantee it is faster?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No. It can reduce retained memory while adding iteration overhead or preventing convenient vectorized operations. Measure the relevant workload and verify equivalent results.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Now place these operations on the computer.</a:t>
            </a:r>
            <a:endParaRPr/>
          </a:p>
        </p:txBody>
      </p:sp>
      <p:sp>
        <p:nvSpPr>
          <p:cNvPr id="341" name="Google Shape;341;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30 · Hardware</a:t>
            </a:r>
            <a:endParaRPr/>
          </a:p>
          <a:p>
            <a:pPr indent="0" lvl="0" marL="0" rtl="0" algn="l">
              <a:spcBef>
                <a:spcPts val="0"/>
              </a:spcBef>
              <a:spcAft>
                <a:spcPts val="0"/>
              </a:spcAft>
              <a:buNone/>
            </a:pPr>
            <a:r>
              <a:rPr lang="en-US" sz="1200"/>
              <a:t>TIME: 4 minutes (11:05–11:09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Explain the common CPython path conceptually: source compiles to bytecode that the interpreter executes, while extension libraries may perform numerical work in native code. The CPU still runs machine instructions. Other Python implementations and JIT systems differ. Do not imply each Python statement maps to one instruction or that the CPU understands Python syntax.</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Show how the main hardware components connect.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https://docs.python.org/3.12/glossary.html#term-bytecode</a:t>
            </a:r>
            <a:endParaRPr/>
          </a:p>
          <a:p>
            <a:pPr indent="0" lvl="0" marL="0" rtl="0" algn="l">
              <a:spcBef>
                <a:spcPts val="0"/>
              </a:spcBef>
              <a:spcAft>
                <a:spcPts val="0"/>
              </a:spcAft>
              <a:buNone/>
            </a:pPr>
            <a:r>
              <a:rPr lang="en-US" sz="1200"/>
              <a:t>https://docs.nvidia.com/cuda/archive/13.1.0/cuda-programming-guide/01-introduction/programming-model.html</a:t>
            </a:r>
            <a:endParaRPr/>
          </a:p>
        </p:txBody>
      </p:sp>
      <p:sp>
        <p:nvSpPr>
          <p:cNvPr id="354" name="Google Shape;35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31 · Hardware</a:t>
            </a:r>
            <a:endParaRPr/>
          </a:p>
          <a:p>
            <a:pPr indent="0" lvl="0" marL="0" rtl="0" algn="l">
              <a:spcBef>
                <a:spcPts val="0"/>
              </a:spcBef>
              <a:spcAft>
                <a:spcPts val="0"/>
              </a:spcAft>
              <a:buNone/>
            </a:pPr>
            <a:r>
              <a:rPr lang="en-US" sz="1200"/>
              <a:t>TIME: 4 minutes (11:09–11:13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Walk through the labeled illustration. Storage persists data. System RAM holds active data. CPU caches retain copies near CPU execution. GPU memory supplies the accelerator. Transfers and synchronization have costs. This is a simplified typical discrete-GPU system, not a universal topology: integrated GPUs and unified-memory systems differ. The illustration is schematic and not to scale.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Separate memory capacity from access performance.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https://docs.nvidia.com/cuda/archive/13.1.0/cuda-programming-guide/01-introduction/programming-model.html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a:t>
            </a:r>
            <a:endParaRPr/>
          </a:p>
          <a:p>
            <a:pPr indent="0" lvl="0" marL="0" rtl="0" algn="l">
              <a:spcBef>
                <a:spcPts val="0"/>
              </a:spcBef>
              <a:spcAft>
                <a:spcPts val="0"/>
              </a:spcAft>
              <a:buNone/>
            </a:pPr>
            <a:r>
              <a:rPr lang="en-US" sz="1200"/>
              <a:t>AI-generated educational illustration, October 18, 2026. Schematic, not an actual measured hardware configuration.</a:t>
            </a:r>
            <a:endParaRPr/>
          </a:p>
        </p:txBody>
      </p:sp>
      <p:sp>
        <p:nvSpPr>
          <p:cNvPr id="365" name="Google Shape;365;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32 · Hardware</a:t>
            </a:r>
            <a:endParaRPr/>
          </a:p>
          <a:p>
            <a:pPr indent="0" lvl="0" marL="0" rtl="0" algn="l">
              <a:spcBef>
                <a:spcPts val="0"/>
              </a:spcBef>
              <a:spcAft>
                <a:spcPts val="0"/>
              </a:spcAft>
              <a:buNone/>
            </a:pPr>
            <a:r>
              <a:rPr lang="en-US" sz="1200"/>
              <a:t>TIME: 5 minutes (11:13–11:18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These are different constraints. A large capacity does not imply low latency or high bandwidth. Use an everyday storage example only after the definitions. Registers, CPU caches, RAM and storage offer different tradeoffs; nearer levels are generally smaller and faster, but avoid invented universal nanosecond figures. Hardware caches rely on locality and are largely managed below ordinary Python code.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Explore caching in a form students can directly execute.</a:t>
            </a:r>
            <a:endParaRPr/>
          </a:p>
        </p:txBody>
      </p:sp>
      <p:sp>
        <p:nvSpPr>
          <p:cNvPr id="376" name="Google Shape;376;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33 · Hardware</a:t>
            </a:r>
            <a:endParaRPr/>
          </a:p>
          <a:p>
            <a:pPr indent="0" lvl="0" marL="0" rtl="0" algn="l">
              <a:spcBef>
                <a:spcPts val="0"/>
              </a:spcBef>
              <a:spcAft>
                <a:spcPts val="0"/>
              </a:spcAft>
              <a:buNone/>
            </a:pPr>
            <a:r>
              <a:rPr lang="en-US" sz="1200"/>
              <a:t>TIME: 4 minutes (11:18–11:22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D16. The function body runs once across three initial calls. This connects decorator syntax, scope, state, memory, and correctness. A bounded cache limits entries, not necessarily bytes. CPU hardware caches and this Python cache operate at different levels. Do not conflate their invalidation mechanisms.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happens if the global rate changes?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cache key omits rate, so the function can return a stale result for the same amount and years. Make the dependency explicit or use an appropriate invalidation policy.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D16</a:t>
            </a:r>
            <a:endParaRPr/>
          </a:p>
          <a:p>
            <a:pPr indent="0" lvl="0" marL="0" rtl="0" algn="l">
              <a:spcBef>
                <a:spcPts val="0"/>
              </a:spcBef>
              <a:spcAft>
                <a:spcPts val="0"/>
              </a:spcAft>
              <a:buNone/>
            </a:pPr>
            <a:r>
              <a:rPr lang="en-US" sz="1200"/>
              <a:t>Caching reuses work</a:t>
            </a:r>
            <a:endParaRPr/>
          </a:p>
          <a:p>
            <a:pPr indent="0" lvl="0" marL="0" rtl="0" algn="l">
              <a:spcBef>
                <a:spcPts val="0"/>
              </a:spcBef>
              <a:spcAft>
                <a:spcPts val="0"/>
              </a:spcAft>
              <a:buNone/>
            </a:pPr>
            <a:r>
              <a:rPr lang="en-US" sz="1200"/>
              <a:t>Expected: The body executes once. All three initial calls return about 99.77 because the cache key contains amount and years, not the global rate. Passing the rate explicitly makes the changed dependency part of the key; the corrected result is 90.91.</a:t>
            </a:r>
            <a:endParaRPr/>
          </a:p>
          <a:p>
            <a:pPr indent="0" lvl="0" marL="0" rtl="0" algn="l">
              <a:spcBef>
                <a:spcPts val="0"/>
              </a:spcBef>
              <a:spcAft>
                <a:spcPts val="0"/>
              </a:spcAft>
              <a:buNone/>
            </a:pPr>
            <a:r>
              <a:rPr lang="en-US" sz="1200"/>
              <a:t>Teaching note: Cache hits trade retained memory for avoided work. Cached arguments must be hashable. This example deliberately combines a hidden global and caching to make stale results visible. A CPU cache and a KV cache store different information.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Different processors suit different workloads.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https://docs.python.org/3.12/library/functools.html</a:t>
            </a:r>
            <a:endParaRPr/>
          </a:p>
        </p:txBody>
      </p:sp>
      <p:sp>
        <p:nvSpPr>
          <p:cNvPr id="387" name="Google Shape;387;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34 · Hardware</a:t>
            </a:r>
            <a:endParaRPr/>
          </a:p>
          <a:p>
            <a:pPr indent="0" lvl="0" marL="0" rtl="0" algn="l">
              <a:spcBef>
                <a:spcPts val="0"/>
              </a:spcBef>
              <a:spcAft>
                <a:spcPts val="0"/>
              </a:spcAft>
              <a:buNone/>
            </a:pPr>
            <a:r>
              <a:rPr lang="en-US" sz="1200"/>
              <a:t>TIME: 4 minutes (11:22–11:26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Keep this conceptual. CPUs also have vector instructions and multiple cores; GPUs also execute control flow. Avoid “CPU does one thing, GPU does many” as a literal rule. Deeper parallel execution and GPU-memory details belong to Thursday.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Would moving a tiny calculation to a GPU necessarily help?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No. Dispatch and transfer costs can dominate. A GPU helps when the workload and execution path suit it; it is not an automatic upgrade for every operation.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Diagnose the constraint before choosing the intervention.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https://docs.nvidia.com/cuda/archive/13.1.0/cuda-programming-guide/01-introduction/programming-model.html</a:t>
            </a:r>
            <a:endParaRPr/>
          </a:p>
        </p:txBody>
      </p:sp>
      <p:sp>
        <p:nvSpPr>
          <p:cNvPr id="398" name="Google Shape;398;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35 · Hardware</a:t>
            </a:r>
            <a:endParaRPr/>
          </a:p>
          <a:p>
            <a:pPr indent="0" lvl="0" marL="0" rtl="0" algn="l">
              <a:spcBef>
                <a:spcPts val="0"/>
              </a:spcBef>
              <a:spcAft>
                <a:spcPts val="0"/>
              </a:spcAft>
              <a:buNone/>
            </a:pPr>
            <a:r>
              <a:rPr lang="en-US" sz="1200"/>
              <a:t>TIME: 4 minutes (11:26–11:30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Optional D17 demonstrates a CPU array operation. Its input conversion is outside the measured region and its multiplication creates a temporary array. Do not infer a universal speedup or claim the whole application improved. Concurrency will be the Thursday extension.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What must stay the same when comparing implementations?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intended inputs, numerical behavior, and required outputs. Define what timing includes, repeat measurements, and inspect memory as needed.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Apply the same explicit contracts to an agent’s tools.</a:t>
            </a:r>
            <a:endParaRPr/>
          </a:p>
        </p:txBody>
      </p:sp>
      <p:sp>
        <p:nvSpPr>
          <p:cNvPr id="410" name="Google Shape;410;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36 · Agent tools and checks</a:t>
            </a:r>
            <a:endParaRPr/>
          </a:p>
          <a:p>
            <a:pPr indent="0" lvl="0" marL="0" rtl="0" algn="l">
              <a:spcBef>
                <a:spcPts val="0"/>
              </a:spcBef>
              <a:spcAft>
                <a:spcPts val="0"/>
              </a:spcAft>
              <a:buNone/>
            </a:pPr>
            <a:r>
              <a:rPr lang="en-US" sz="1200"/>
              <a:t>TIME: 4 minutes (11:30–11:34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This intentionally narrow function is easy to reason about. Short positions are valid in finance but outside this example’s contract. A real system also needs provenance, timestamps, permissions and currency consistency. Type hints document expectations; runtime checks enforce the constraints implemented here.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Trace one prepared request through Python.</a:t>
            </a:r>
            <a:endParaRPr/>
          </a:p>
        </p:txBody>
      </p:sp>
      <p:sp>
        <p:nvSpPr>
          <p:cNvPr id="421" name="Google Shape;421;p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37 · Agent tools and checks</a:t>
            </a:r>
            <a:endParaRPr/>
          </a:p>
          <a:p>
            <a:pPr indent="0" lvl="0" marL="0" rtl="0" algn="l">
              <a:spcBef>
                <a:spcPts val="0"/>
              </a:spcBef>
              <a:spcAft>
                <a:spcPts val="0"/>
              </a:spcAft>
              <a:buNone/>
            </a:pPr>
            <a:r>
              <a:rPr lang="en-US" sz="1200"/>
              <a:t>TIME: 5 minutes (11:34–11:39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D18. State explicitly that this is an instructor-authored illustrative request, not a live or recorded model response. No API credentials or network are needed. Show valid output, then the negative-shares and NaN failures. The allowlisted dictionary dispatcher makes the execution boundary visible; it is not a full production harness.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Which step actually performs the multiplication?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The Python tool function does. The harness dispatches the request to it. The model’s request alone is not execution.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D18</a:t>
            </a:r>
            <a:endParaRPr/>
          </a:p>
          <a:p>
            <a:pPr indent="0" lvl="0" marL="0" rtl="0" algn="l">
              <a:spcBef>
                <a:spcPts val="0"/>
              </a:spcBef>
              <a:spcAft>
                <a:spcPts val="0"/>
              </a:spcAft>
              <a:buNone/>
            </a:pPr>
            <a:r>
              <a:rPr lang="en-US" sz="1200"/>
              <a:t>A Python function as an agent tool</a:t>
            </a:r>
            <a:endParaRPr/>
          </a:p>
          <a:p>
            <a:pPr indent="0" lvl="0" marL="0" rtl="0" algn="l">
              <a:spcBef>
                <a:spcPts val="0"/>
              </a:spcBef>
              <a:spcAft>
                <a:spcPts val="0"/>
              </a:spcAft>
              <a:buNone/>
            </a:pPr>
            <a:r>
              <a:rPr lang="en-US" sz="1200"/>
              <a:t>Expected: In a real agent, a model may propose a tool name and arguments; the harness validates/dispatches and executes the function. Here a prepared dictionary stands in for the request. Valid input returns 200.0. Negative shares and NaN fail under this deliberately long-only contract.</a:t>
            </a:r>
            <a:endParaRPr/>
          </a:p>
          <a:p>
            <a:pPr indent="0" lvl="0" marL="0" rtl="0" algn="l">
              <a:spcBef>
                <a:spcPts val="0"/>
              </a:spcBef>
              <a:spcAft>
                <a:spcPts val="0"/>
              </a:spcAft>
              <a:buNone/>
            </a:pPr>
            <a:r>
              <a:rPr lang="en-US" sz="1200"/>
              <a:t>Teaching note: Trace request, dispatch, function, result. This is a tiny dispatcher, not a production harness. Validation remains necessary even with type hints. Short positions would require a different contract; negative shares are not universally invalid finance data.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Correct structure still needs behavior checks.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https://www.anthropic.com/engineering/building-effective-agents</a:t>
            </a:r>
            <a:endParaRPr/>
          </a:p>
        </p:txBody>
      </p:sp>
      <p:sp>
        <p:nvSpPr>
          <p:cNvPr id="431" name="Google Shape;431;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38 · Agent tools and checks</a:t>
            </a:r>
            <a:endParaRPr/>
          </a:p>
          <a:p>
            <a:pPr indent="0" lvl="0" marL="0" rtl="0" algn="l">
              <a:spcBef>
                <a:spcPts val="0"/>
              </a:spcBef>
              <a:spcAft>
                <a:spcPts val="0"/>
              </a:spcAft>
              <a:buNone/>
            </a:pPr>
            <a:r>
              <a:rPr lang="en-US" sz="1200"/>
              <a:t>TIME: 5 minutes (11:39–11:44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candidate A, pause, then candidate B. The corrected multiplication passes three arithmetic cases. Those results are evidence about the tested behavior only. The examples are development checks because the implementation and cases are visible. For a genuine final evaluation, reserve independent cases and do not repeatedly tune against them.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It returns a number. Which test cases expose the error?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2 shares at 100 should equal 200; zero shares should equal 0; 0.5 shares at 80 should equal 40. All fail under addition.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D19</a:t>
            </a:r>
            <a:endParaRPr/>
          </a:p>
          <a:p>
            <a:pPr indent="0" lvl="0" marL="0" rtl="0" algn="l">
              <a:spcBef>
                <a:spcPts val="0"/>
              </a:spcBef>
              <a:spcAft>
                <a:spcPts val="0"/>
              </a:spcAft>
              <a:buNone/>
            </a:pPr>
            <a:r>
              <a:rPr lang="en-US" sz="1200"/>
              <a:t>Independent checks catch a plausible defect</a:t>
            </a:r>
            <a:endParaRPr/>
          </a:p>
          <a:p>
            <a:pPr indent="0" lvl="0" marL="0" rtl="0" algn="l">
              <a:spcBef>
                <a:spcPts val="0"/>
              </a:spcBef>
              <a:spcAft>
                <a:spcPts val="0"/>
              </a:spcAft>
              <a:buNone/>
            </a:pPr>
            <a:r>
              <a:rPr lang="en-US" sz="1200"/>
              <a:t>Expected: The faulty addition implementation fails all three checks. Multiplication passes them. The checks assess this arithmetic behavior, not an entire agent’s reliability. The reference answers come from hand-computable cases.</a:t>
            </a:r>
            <a:endParaRPr/>
          </a:p>
          <a:p>
            <a:pPr indent="0" lvl="0" marL="0" rtl="0" algn="l">
              <a:spcBef>
                <a:spcPts val="0"/>
              </a:spcBef>
              <a:spcAft>
                <a:spcPts val="0"/>
              </a:spcAft>
              <a:buNone/>
            </a:pPr>
            <a:r>
              <a:rPr lang="en-US" sz="1200"/>
              <a:t>Teaching note: Run A before B; ask students to identify the defect from actual versus expected. A self-check instruction tells an agent what to inspect. An independent grader measures the artifact. Since all cases and code are visible here, these are development checks, not held-out evidence.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Distinguish a check instruction from measurement.</a:t>
            </a:r>
            <a:endParaRPr/>
          </a:p>
        </p:txBody>
      </p:sp>
      <p:sp>
        <p:nvSpPr>
          <p:cNvPr id="443" name="Google Shape;443;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39 · Agent tools and checks</a:t>
            </a:r>
            <a:endParaRPr/>
          </a:p>
          <a:p>
            <a:pPr indent="0" lvl="0" marL="0" rtl="0" algn="l">
              <a:spcBef>
                <a:spcPts val="0"/>
              </a:spcBef>
              <a:spcAft>
                <a:spcPts val="0"/>
              </a:spcAft>
              <a:buNone/>
            </a:pPr>
            <a:r>
              <a:rPr lang="en-US" sz="1200"/>
              <a:t>TIME: 3 minutes (11:44–11:47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This directly addresses a practical gap from the earlier eval lesson. The current notebook demonstrates a small deterministic grader, not an end-to-end agent benchmark. An agent evaluation may also inspect tool selection, task completion, environment changes, repeated trials, and semantic correctness. Keep reference answers separate from the candidate when building a real assessment.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One more kind of reuse connects to Thursday’s inference lesson.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https://www.anthropic.com/engineering/demystifying-evals-for-ai-agents</a:t>
            </a:r>
            <a:endParaRPr/>
          </a:p>
        </p:txBody>
      </p:sp>
      <p:sp>
        <p:nvSpPr>
          <p:cNvPr id="454" name="Google Shape;454;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40 · Agent tools and checks</a:t>
            </a:r>
            <a:endParaRPr/>
          </a:p>
          <a:p>
            <a:pPr indent="0" lvl="0" marL="0" rtl="0" algn="l">
              <a:spcBef>
                <a:spcPts val="0"/>
              </a:spcBef>
              <a:spcAft>
                <a:spcPts val="0"/>
              </a:spcAft>
              <a:buNone/>
            </a:pPr>
            <a:r>
              <a:rPr lang="en-US" sz="1200"/>
              <a:t>TIME: 3 minutes (11:47–11:50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Only give intuition today. In ordinary causal autoregressive inference, attention keys and values for previous tokens can be retained and reused when processing the next token. This is distinct from model weights and persistent user memory. The model still does computation and reads relevant cached data. Thursday covers tokens, embeddings, attention, prefill versus decode, and how context and batching affect memory. No KV-cache implementation today.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Finish with three interview explanations.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https://huggingface.co/docs/transformers/main/cache_explanation</a:t>
            </a:r>
            <a:endParaRPr/>
          </a:p>
        </p:txBody>
      </p:sp>
      <p:sp>
        <p:nvSpPr>
          <p:cNvPr id="465" name="Google Shape;465;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41 · Wrap-up</a:t>
            </a:r>
            <a:endParaRPr/>
          </a:p>
          <a:p>
            <a:pPr indent="0" lvl="0" marL="0" rtl="0" algn="l">
              <a:spcBef>
                <a:spcPts val="0"/>
              </a:spcBef>
              <a:spcAft>
                <a:spcPts val="0"/>
              </a:spcAft>
              <a:buNone/>
            </a:pPr>
            <a:r>
              <a:rPr lang="en-US" sz="1200"/>
              <a:t>TIME: 4 minutes (11:50–11:54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Ask three students or take chat answers. Reward a mechanism and an example, not a memorized slogan. If time remains, ask how mutable class attributes relate to the first point. These are oral interview practice, not newly assigned homework.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Explain each in one or two sentences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Identity asks whether two references name the same object; equality compares values. A generator produces values incrementally but may incur overhead. Composition combines objects through has-a relationships; inheritance specializes a type through is-a relationships.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Use one new example to check transfer.</a:t>
            </a:r>
            <a:endParaRPr/>
          </a:p>
        </p:txBody>
      </p:sp>
      <p:sp>
        <p:nvSpPr>
          <p:cNvPr id="476" name="Google Shape;476;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42 · Wrap-up</a:t>
            </a:r>
            <a:endParaRPr/>
          </a:p>
          <a:p>
            <a:pPr indent="0" lvl="0" marL="0" rtl="0" algn="l">
              <a:spcBef>
                <a:spcPts val="0"/>
              </a:spcBef>
              <a:spcAft>
                <a:spcPts val="0"/>
              </a:spcAft>
              <a:buNone/>
            </a:pPr>
            <a:r>
              <a:rPr lang="en-US" sz="1200"/>
              <a:t>TIME: 4 minutes (11:54–11:58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Run D20 only after the class supplies the reference answer. Ask for a negative-shares case under the long-only contract, then a NaN case. This is a transfer exercise, not a statistically meaningful eval. Students should be able to explain the check without an AI assistant.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ASK</a:t>
            </a:r>
            <a:endParaRPr/>
          </a:p>
          <a:p>
            <a:pPr indent="0" lvl="0" marL="0" rtl="0" algn="l">
              <a:spcBef>
                <a:spcPts val="0"/>
              </a:spcBef>
              <a:spcAft>
                <a:spcPts val="0"/>
              </a:spcAft>
              <a:buNone/>
            </a:pPr>
            <a:r>
              <a:rPr lang="en-US" sz="1200"/>
              <a:t>Three shares at 12.5: what should the tool return? What does that check leave untested?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ANSWER</a:t>
            </a:r>
            <a:endParaRPr/>
          </a:p>
          <a:p>
            <a:pPr indent="0" lvl="0" marL="0" rtl="0" algn="l">
              <a:spcBef>
                <a:spcPts val="0"/>
              </a:spcBef>
              <a:spcAft>
                <a:spcPts val="0"/>
              </a:spcAft>
              <a:buNone/>
            </a:pPr>
            <a:r>
              <a:rPr lang="en-US" sz="1200"/>
              <a:t>37.5. It leaves many concerns untested, including validation, provenance, currency, timestamps, and agent tool selection.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NOTEBOOK D20</a:t>
            </a:r>
            <a:endParaRPr/>
          </a:p>
          <a:p>
            <a:pPr indent="0" lvl="0" marL="0" rtl="0" algn="l">
              <a:spcBef>
                <a:spcPts val="0"/>
              </a:spcBef>
              <a:spcAft>
                <a:spcPts val="0"/>
              </a:spcAft>
              <a:buNone/>
            </a:pPr>
            <a:r>
              <a:rPr lang="en-US" sz="1200"/>
              <a:t>Transfer question: a new check</a:t>
            </a:r>
            <a:endParaRPr/>
          </a:p>
          <a:p>
            <a:pPr indent="0" lvl="0" marL="0" rtl="0" algn="l">
              <a:spcBef>
                <a:spcPts val="0"/>
              </a:spcBef>
              <a:spcAft>
                <a:spcPts val="0"/>
              </a:spcAft>
              <a:buNone/>
            </a:pPr>
            <a:r>
              <a:rPr lang="en-US" sz="1200"/>
              <a:t>Expected: 37.5. This case does not test input validation, missing prices, incorrect timestamps, currency mismatches, tool selection, or a multi-step workflow. Once students see or tune against it, it is no longer an untouched final evaluation.</a:t>
            </a:r>
            <a:endParaRPr/>
          </a:p>
          <a:p>
            <a:pPr indent="0" lvl="0" marL="0" rtl="0" algn="l">
              <a:spcBef>
                <a:spcPts val="0"/>
              </a:spcBef>
              <a:spcAft>
                <a:spcPts val="0"/>
              </a:spcAft>
              <a:buNone/>
            </a:pPr>
            <a:r>
              <a:rPr lang="en-US" sz="1200"/>
              <a:t>Teaching note: Use during the closing discussion. Ask for a new case and its expected behavior before looking at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Close with the next session’s questions.</a:t>
            </a:r>
            <a:endParaRPr/>
          </a:p>
        </p:txBody>
      </p:sp>
      <p:sp>
        <p:nvSpPr>
          <p:cNvPr id="489" name="Google Shape;489;p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43 · Wrap-up</a:t>
            </a:r>
            <a:endParaRPr/>
          </a:p>
          <a:p>
            <a:pPr indent="0" lvl="0" marL="0" rtl="0" algn="l">
              <a:spcBef>
                <a:spcPts val="0"/>
              </a:spcBef>
              <a:spcAft>
                <a:spcPts val="0"/>
              </a:spcAft>
              <a:buNone/>
            </a:pPr>
            <a:r>
              <a:rPr lang="en-US" sz="1200"/>
              <a:t>TIME: 2 minutes (11:58–12:00 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No new assignment or deadline is introduced. Encourage students to rerun the notebook, predict outputs first, and use an AI tutor to explain a mismatch. Thursday builds on CPU/GPU roles with concurrency, inference, and KV-cache depth. Traditional interview practice remains part of the course.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End of core lesson. Appendix slides are optional.</a:t>
            </a:r>
            <a:endParaRPr/>
          </a:p>
        </p:txBody>
      </p:sp>
      <p:sp>
        <p:nvSpPr>
          <p:cNvPr id="501" name="Google Shape;501;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44 · Appendix</a:t>
            </a:r>
            <a:endParaRPr/>
          </a:p>
          <a:p>
            <a:pPr indent="0" lvl="0" marL="0" rtl="0" algn="l">
              <a:spcBef>
                <a:spcPts val="0"/>
              </a:spcBef>
              <a:spcAft>
                <a:spcPts val="0"/>
              </a:spcAft>
              <a:buNone/>
            </a:pPr>
            <a:r>
              <a:rPr lang="en-US" sz="1200"/>
              <a:t>TIME: 0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These are optional extensions. D04: defaults are evaluated when def executes. D11: super delegates to the base implementation in this simple hierarchy; do not oversimplify multiple inheritance. D17: compiled numerical routines can reduce Python overhead; GPU execution is not automatic. D16: the cache key omitted a changing dependency. Answers are in the notebook and instructor guide.</a:t>
            </a:r>
            <a:endParaRPr/>
          </a:p>
        </p:txBody>
      </p:sp>
      <p:sp>
        <p:nvSpPr>
          <p:cNvPr id="514" name="Google Shape;514;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45 · Appendix</a:t>
            </a:r>
            <a:endParaRPr/>
          </a:p>
          <a:p>
            <a:pPr indent="0" lvl="0" marL="0" rtl="0" algn="l">
              <a:spcBef>
                <a:spcPts val="0"/>
              </a:spcBef>
              <a:spcAft>
                <a:spcPts val="0"/>
              </a:spcAft>
              <a:buNone/>
            </a:pPr>
            <a:r>
              <a:rPr lang="en-US" sz="1200"/>
              <a:t>TIME: 0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Official references:</a:t>
            </a:r>
            <a:endParaRPr/>
          </a:p>
          <a:p>
            <a:pPr indent="0" lvl="0" marL="0" rtl="0" algn="l">
              <a:spcBef>
                <a:spcPts val="0"/>
              </a:spcBef>
              <a:spcAft>
                <a:spcPts val="0"/>
              </a:spcAft>
              <a:buNone/>
            </a:pPr>
            <a:r>
              <a:rPr lang="en-US" sz="1200"/>
              <a:t>https://docs.python.org/3.12/tutorial/classes.html</a:t>
            </a:r>
            <a:endParaRPr/>
          </a:p>
          <a:p>
            <a:pPr indent="0" lvl="0" marL="0" rtl="0" algn="l">
              <a:spcBef>
                <a:spcPts val="0"/>
              </a:spcBef>
              <a:spcAft>
                <a:spcPts val="0"/>
              </a:spcAft>
              <a:buNone/>
            </a:pPr>
            <a:r>
              <a:rPr lang="en-US" sz="1200"/>
              <a:t>https://docs.python.org/3.12/library/copy.html</a:t>
            </a:r>
            <a:endParaRPr/>
          </a:p>
          <a:p>
            <a:pPr indent="0" lvl="0" marL="0" rtl="0" algn="l">
              <a:spcBef>
                <a:spcPts val="0"/>
              </a:spcBef>
              <a:spcAft>
                <a:spcPts val="0"/>
              </a:spcAft>
              <a:buNone/>
            </a:pPr>
            <a:r>
              <a:rPr lang="en-US" sz="1200"/>
              <a:t>https://docs.python.org/3.12/library/functools.html</a:t>
            </a:r>
            <a:endParaRPr/>
          </a:p>
          <a:p>
            <a:pPr indent="0" lvl="0" marL="0" rtl="0" algn="l">
              <a:spcBef>
                <a:spcPts val="0"/>
              </a:spcBef>
              <a:spcAft>
                <a:spcPts val="0"/>
              </a:spcAft>
              <a:buNone/>
            </a:pPr>
            <a:r>
              <a:rPr lang="en-US" sz="1200"/>
              <a:t>https://docs.python.org/3.12/library/tracemalloc.html</a:t>
            </a:r>
            <a:endParaRPr/>
          </a:p>
          <a:p>
            <a:pPr indent="0" lvl="0" marL="0" rtl="0" algn="l">
              <a:spcBef>
                <a:spcPts val="0"/>
              </a:spcBef>
              <a:spcAft>
                <a:spcPts val="0"/>
              </a:spcAft>
              <a:buNone/>
            </a:pPr>
            <a:r>
              <a:rPr lang="en-US" sz="1200"/>
              <a:t>https://numpy.org/doc/stable/reference/generated/numpy.ndarray.nbytes.html</a:t>
            </a:r>
            <a:endParaRPr/>
          </a:p>
          <a:p>
            <a:pPr indent="0" lvl="0" marL="0" rtl="0" algn="l">
              <a:spcBef>
                <a:spcPts val="0"/>
              </a:spcBef>
              <a:spcAft>
                <a:spcPts val="0"/>
              </a:spcAft>
              <a:buNone/>
            </a:pPr>
            <a:r>
              <a:rPr lang="en-US" sz="1200"/>
              <a:t>Use these for technical follow-up. Code examples in this lesson are original classroom examples, not copied documentation listings.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https://docs.python.org/3.12/tutorial/classes.html</a:t>
            </a:r>
            <a:endParaRPr/>
          </a:p>
          <a:p>
            <a:pPr indent="0" lvl="0" marL="0" rtl="0" algn="l">
              <a:spcBef>
                <a:spcPts val="0"/>
              </a:spcBef>
              <a:spcAft>
                <a:spcPts val="0"/>
              </a:spcAft>
              <a:buNone/>
            </a:pPr>
            <a:r>
              <a:rPr lang="en-US" sz="1200"/>
              <a:t>https://docs.python.org/3.12/library/functools.html</a:t>
            </a:r>
            <a:endParaRPr/>
          </a:p>
          <a:p>
            <a:pPr indent="0" lvl="0" marL="0" rtl="0" algn="l">
              <a:spcBef>
                <a:spcPts val="0"/>
              </a:spcBef>
              <a:spcAft>
                <a:spcPts val="0"/>
              </a:spcAft>
              <a:buNone/>
            </a:pPr>
            <a:r>
              <a:rPr lang="en-US" sz="1200"/>
              <a:t>https://numpy.org/doc/stable/reference/generated/numpy.ndarray.nbytes.html</a:t>
            </a:r>
            <a:endParaRPr/>
          </a:p>
        </p:txBody>
      </p:sp>
      <p:sp>
        <p:nvSpPr>
          <p:cNvPr id="524" name="Google Shape;524;p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SLIDE 46 · Appendix</a:t>
            </a:r>
            <a:endParaRPr/>
          </a:p>
          <a:p>
            <a:pPr indent="0" lvl="0" marL="0" rtl="0" algn="l">
              <a:spcBef>
                <a:spcPts val="0"/>
              </a:spcBef>
              <a:spcAft>
                <a:spcPts val="0"/>
              </a:spcAft>
              <a:buNone/>
            </a:pPr>
            <a:r>
              <a:rPr lang="en-US" sz="1200"/>
              <a:t>TIME: 0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TEACH</a:t>
            </a:r>
            <a:endParaRPr/>
          </a:p>
          <a:p>
            <a:pPr indent="0" lvl="0" marL="0" rtl="0" algn="l">
              <a:spcBef>
                <a:spcPts val="0"/>
              </a:spcBef>
              <a:spcAft>
                <a:spcPts val="0"/>
              </a:spcAft>
              <a:buNone/>
            </a:pPr>
            <a:r>
              <a:rPr lang="en-US" sz="1200"/>
              <a:t>Official references:</a:t>
            </a:r>
            <a:endParaRPr/>
          </a:p>
          <a:p>
            <a:pPr indent="0" lvl="0" marL="0" rtl="0" algn="l">
              <a:spcBef>
                <a:spcPts val="0"/>
              </a:spcBef>
              <a:spcAft>
                <a:spcPts val="0"/>
              </a:spcAft>
              <a:buNone/>
            </a:pPr>
            <a:r>
              <a:rPr lang="en-US" sz="1200"/>
              <a:t>https://docs.nvidia.com/cuda/archive/13.1.0/cuda-programming-guide/01-introduction/programming-model.html</a:t>
            </a:r>
            <a:endParaRPr/>
          </a:p>
          <a:p>
            <a:pPr indent="0" lvl="0" marL="0" rtl="0" algn="l">
              <a:spcBef>
                <a:spcPts val="0"/>
              </a:spcBef>
              <a:spcAft>
                <a:spcPts val="0"/>
              </a:spcAft>
              <a:buNone/>
            </a:pPr>
            <a:r>
              <a:rPr lang="en-US" sz="1200"/>
              <a:t>https://huggingface.co/docs/transformers/main/cache_explanation</a:t>
            </a:r>
            <a:endParaRPr/>
          </a:p>
          <a:p>
            <a:pPr indent="0" lvl="0" marL="0" rtl="0" algn="l">
              <a:spcBef>
                <a:spcPts val="0"/>
              </a:spcBef>
              <a:spcAft>
                <a:spcPts val="0"/>
              </a:spcAft>
              <a:buNone/>
            </a:pPr>
            <a:r>
              <a:rPr lang="en-US" sz="1200"/>
              <a:t>https://www.anthropic.com/engineering/building-effective-agents</a:t>
            </a:r>
            <a:endParaRPr/>
          </a:p>
          <a:p>
            <a:pPr indent="0" lvl="0" marL="0" rtl="0" algn="l">
              <a:spcBef>
                <a:spcPts val="0"/>
              </a:spcBef>
              <a:spcAft>
                <a:spcPts val="0"/>
              </a:spcAft>
              <a:buNone/>
            </a:pPr>
            <a:r>
              <a:rPr lang="en-US" sz="1200"/>
              <a:t>https://www.anthropic.com/engineering/demystifying-evals-for-ai-agents</a:t>
            </a:r>
            <a:endParaRPr/>
          </a:p>
          <a:p>
            <a:pPr indent="0" lvl="0" marL="0" rtl="0" algn="l">
              <a:spcBef>
                <a:spcPts val="0"/>
              </a:spcBef>
              <a:spcAft>
                <a:spcPts val="0"/>
              </a:spcAft>
              <a:buNone/>
            </a:pPr>
            <a:r>
              <a:rPr lang="en-US" sz="1200"/>
              <a:t>GPU diagram is an AI-generated schematic. It illustrates a typical discrete-GPU system, with qualifications in the speaker notes. Hardware topology varies.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https://docs.nvidia.com/cuda/archive/13.1.0/cuda-programming-guide/01-introduction/programming-model.html</a:t>
            </a:r>
            <a:endParaRPr/>
          </a:p>
          <a:p>
            <a:pPr indent="0" lvl="0" marL="0" rtl="0" algn="l">
              <a:spcBef>
                <a:spcPts val="0"/>
              </a:spcBef>
              <a:spcAft>
                <a:spcPts val="0"/>
              </a:spcAft>
              <a:buNone/>
            </a:pPr>
            <a:r>
              <a:rPr lang="en-US" sz="1200"/>
              <a:t>https://huggingface.co/docs/transformers/main/cache_explanation</a:t>
            </a:r>
            <a:endParaRPr/>
          </a:p>
        </p:txBody>
      </p:sp>
      <p:sp>
        <p:nvSpPr>
          <p:cNvPr id="536" name="Google Shape;536;p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pic>
        <p:nvPicPr>
          <p:cNvPr id="31" name="Google Shape;31;p8"/>
          <p:cNvPicPr preferRelativeResize="0"/>
          <p:nvPr/>
        </p:nvPicPr>
        <p:blipFill rotWithShape="1">
          <a:blip r:embed="rId3">
            <a:alphaModFix/>
          </a:blip>
          <a:srcRect b="27" l="0" r="0" t="27"/>
          <a:stretch/>
        </p:blipFill>
        <p:spPr>
          <a:xfrm>
            <a:off x="0" y="0"/>
            <a:ext cx="12192000" cy="6858000"/>
          </a:xfrm>
          <a:prstGeom prst="rect">
            <a:avLst/>
          </a:prstGeom>
          <a:noFill/>
          <a:ln>
            <a:noFill/>
          </a:ln>
        </p:spPr>
      </p:pic>
      <p:sp>
        <p:nvSpPr>
          <p:cNvPr id="32" name="Google Shape;32;p8"/>
          <p:cNvSpPr/>
          <p:nvPr/>
        </p:nvSpPr>
        <p:spPr>
          <a:xfrm>
            <a:off x="685800" y="714375"/>
            <a:ext cx="5715000"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FDB515"/>
                </a:solidFill>
                <a:latin typeface="Arial"/>
                <a:ea typeface="Arial"/>
                <a:cs typeface="Arial"/>
                <a:sym typeface="Arial"/>
              </a:rPr>
              <a:t>UC BERKELEY MFE</a:t>
            </a:r>
            <a:endParaRPr/>
          </a:p>
        </p:txBody>
      </p:sp>
      <p:sp>
        <p:nvSpPr>
          <p:cNvPr id="33" name="Google Shape;33;p8"/>
          <p:cNvSpPr/>
          <p:nvPr/>
        </p:nvSpPr>
        <p:spPr>
          <a:xfrm>
            <a:off x="685800" y="1952625"/>
            <a:ext cx="6191250" cy="1857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100">
                <a:solidFill>
                  <a:srgbClr val="FFFFFF"/>
                </a:solidFill>
                <a:latin typeface="Arial"/>
                <a:ea typeface="Arial"/>
                <a:cs typeface="Arial"/>
                <a:sym typeface="Arial"/>
              </a:rPr>
              <a:t>Python, memory</a:t>
            </a:r>
            <a:endParaRPr/>
          </a:p>
          <a:p>
            <a:pPr indent="0" lvl="0" marL="0" marR="0" rtl="0" algn="l">
              <a:spcBef>
                <a:spcPts val="0"/>
              </a:spcBef>
              <a:spcAft>
                <a:spcPts val="0"/>
              </a:spcAft>
              <a:buNone/>
            </a:pPr>
            <a:r>
              <a:rPr b="1" lang="en-US" sz="5100">
                <a:solidFill>
                  <a:srgbClr val="FFFFFF"/>
                </a:solidFill>
                <a:latin typeface="Arial"/>
                <a:ea typeface="Arial"/>
                <a:cs typeface="Arial"/>
                <a:sym typeface="Arial"/>
              </a:rPr>
              <a:t>and systems</a:t>
            </a:r>
            <a:endParaRPr/>
          </a:p>
        </p:txBody>
      </p:sp>
      <p:sp>
        <p:nvSpPr>
          <p:cNvPr id="34" name="Google Shape;34;p8"/>
          <p:cNvSpPr/>
          <p:nvPr/>
        </p:nvSpPr>
        <p:spPr>
          <a:xfrm>
            <a:off x="685800" y="4143375"/>
            <a:ext cx="54292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FFFFFF"/>
                </a:solidFill>
                <a:latin typeface="Arial"/>
                <a:ea typeface="Arial"/>
                <a:cs typeface="Arial"/>
                <a:sym typeface="Arial"/>
              </a:rPr>
              <a:t>Advanced Python I</a:t>
            </a:r>
            <a:endParaRPr/>
          </a:p>
        </p:txBody>
      </p:sp>
      <p:sp>
        <p:nvSpPr>
          <p:cNvPr id="35" name="Google Shape;35;p8"/>
          <p:cNvSpPr/>
          <p:nvPr/>
        </p:nvSpPr>
        <p:spPr>
          <a:xfrm>
            <a:off x="685800" y="5095875"/>
            <a:ext cx="5715000"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E0E9EE"/>
                </a:solidFill>
                <a:latin typeface="Arial"/>
                <a:ea typeface="Arial"/>
                <a:cs typeface="Arial"/>
                <a:sym typeface="Arial"/>
              </a:rPr>
              <a:t>Aneesh Sachdeva</a:t>
            </a:r>
            <a:endParaRPr/>
          </a:p>
          <a:p>
            <a:pPr indent="0" lvl="0" marL="0" marR="0" rtl="0" algn="l">
              <a:spcBef>
                <a:spcPts val="0"/>
              </a:spcBef>
              <a:spcAft>
                <a:spcPts val="0"/>
              </a:spcAft>
              <a:buNone/>
            </a:pPr>
            <a:r>
              <a:rPr b="0" lang="en-US" sz="1875">
                <a:solidFill>
                  <a:srgbClr val="E0E9EE"/>
                </a:solidFill>
                <a:latin typeface="Arial"/>
                <a:ea typeface="Arial"/>
                <a:cs typeface="Arial"/>
                <a:sym typeface="Arial"/>
              </a:rPr>
              <a:t>October 19, 2026</a:t>
            </a:r>
            <a:endParaRPr/>
          </a:p>
        </p:txBody>
      </p:sp>
      <p:sp>
        <p:nvSpPr>
          <p:cNvPr id="36" name="Google Shape;36;p8"/>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DCE6EC"/>
                </a:solidFill>
                <a:latin typeface="Arial"/>
                <a:ea typeface="Arial"/>
                <a:cs typeface="Arial"/>
                <a:sym typeface="Arial"/>
              </a:rPr>
              <a:t>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9"/>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OPENING</a:t>
            </a:r>
            <a:endParaRPr/>
          </a:p>
        </p:txBody>
      </p:sp>
      <p:sp>
        <p:nvSpPr>
          <p:cNvPr id="43" name="Google Shape;43;p9"/>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Three questions for every program</a:t>
            </a:r>
            <a:endParaRPr/>
          </a:p>
        </p:txBody>
      </p:sp>
      <p:sp>
        <p:nvSpPr>
          <p:cNvPr id="44" name="Google Shape;44;p9"/>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A program ran successfully. What do you know so far?</a:t>
            </a:r>
            <a:endParaRPr/>
          </a:p>
        </p:txBody>
      </p:sp>
      <p:sp>
        <p:nvSpPr>
          <p:cNvPr id="45" name="Google Shape;45;p9"/>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What state does it read or change?</a:t>
            </a:r>
            <a:endParaRPr/>
          </a:p>
        </p:txBody>
      </p:sp>
      <p:sp>
        <p:nvSpPr>
          <p:cNvPr id="46" name="Google Shape;46;p9"/>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Where does the work happen?</a:t>
            </a:r>
            <a:endParaRPr/>
          </a:p>
        </p:txBody>
      </p:sp>
      <p:sp>
        <p:nvSpPr>
          <p:cNvPr id="47" name="Google Shape;47;p9"/>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What evidence shows the result is correct?</a:t>
            </a:r>
            <a:endParaRPr/>
          </a:p>
        </p:txBody>
      </p:sp>
      <p:sp>
        <p:nvSpPr>
          <p:cNvPr id="48" name="Google Shape;48;p9"/>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9" name="Google Shape;49;p9"/>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10"/>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OPENING</a:t>
            </a:r>
            <a:endParaRPr/>
          </a:p>
        </p:txBody>
      </p:sp>
      <p:sp>
        <p:nvSpPr>
          <p:cNvPr id="56" name="Google Shape;56;p10"/>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Today’s route</a:t>
            </a:r>
            <a:endParaRPr/>
          </a:p>
        </p:txBody>
      </p:sp>
      <p:graphicFrame>
        <p:nvGraphicFramePr>
          <p:cNvPr id="57" name="Google Shape;57;p10"/>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447675">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Time PT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Topic</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9:00–9:10</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Opening</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9:10–9:40</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Scope, references, and mutation</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9:40–10:00</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Functions and decorators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10:00–10:30</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Objects and composition</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10:30–10:40</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Break</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10:40–11:05</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Iteration and memory use</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11:05–11:30</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CPU, caches, and GPUs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11:30–11:50</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Agent tools and checks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447675">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11:50–12:00</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1725"/>
                        <a:buFont typeface="Arial"/>
                        <a:buNone/>
                      </a:pPr>
                      <a:r>
                        <a:rPr b="0" lang="en-US" sz="1725">
                          <a:solidFill>
                            <a:srgbClr val="17364B"/>
                          </a:solidFill>
                          <a:latin typeface="Arial"/>
                          <a:ea typeface="Arial"/>
                          <a:cs typeface="Arial"/>
                          <a:sym typeface="Arial"/>
                        </a:rPr>
                        <a:t>Interview recap</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58" name="Google Shape;58;p10"/>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59" name="Google Shape;59;p10"/>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1"/>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66" name="Google Shape;66;p11"/>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Names refer to objects</a:t>
            </a:r>
            <a:endParaRPr/>
          </a:p>
        </p:txBody>
      </p:sp>
      <p:sp>
        <p:nvSpPr>
          <p:cNvPr id="67" name="Google Shape;67;p11"/>
          <p:cNvSpPr/>
          <p:nvPr/>
        </p:nvSpPr>
        <p:spPr>
          <a:xfrm>
            <a:off x="685800" y="1762125"/>
            <a:ext cx="10820400" cy="142875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a = [10, 20]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b = a</a:t>
            </a:r>
            <a:endParaRPr/>
          </a:p>
        </p:txBody>
      </p:sp>
      <p:sp>
        <p:nvSpPr>
          <p:cNvPr id="68" name="Google Shape;68;p11"/>
          <p:cNvSpPr/>
          <p:nvPr/>
        </p:nvSpPr>
        <p:spPr>
          <a:xfrm>
            <a:off x="685800" y="3457575"/>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An object has identity, type, and value.</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Assignment binds a name to an object.</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Two names can refer to the same object.</a:t>
            </a:r>
            <a:endParaRPr/>
          </a:p>
        </p:txBody>
      </p:sp>
      <p:sp>
        <p:nvSpPr>
          <p:cNvPr id="69" name="Google Shape;69;p11"/>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70" name="Google Shape;70;p11"/>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12"/>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77" name="Google Shape;77;p12"/>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Scope controls name lookup</a:t>
            </a:r>
            <a:endParaRPr/>
          </a:p>
        </p:txBody>
      </p:sp>
      <p:graphicFrame>
        <p:nvGraphicFramePr>
          <p:cNvPr id="78" name="Google Shape;78;p12"/>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4953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Lookup</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Where to look</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4953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Local</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The current function</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953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Enclosing</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An enclosing function</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4953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Global</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The current module</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4953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Built-in</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Python’s built-in names</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79" name="Google Shape;79;p12"/>
          <p:cNvSpPr/>
          <p:nvPr/>
        </p:nvSpPr>
        <p:spPr>
          <a:xfrm>
            <a:off x="685800" y="4400550"/>
            <a:ext cx="10820400" cy="119062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rate = 1.10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def quote(amount):</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amount * rate</a:t>
            </a:r>
            <a:endParaRPr/>
          </a:p>
        </p:txBody>
      </p:sp>
      <p:sp>
        <p:nvSpPr>
          <p:cNvPr id="80" name="Google Shape;80;p12"/>
          <p:cNvSpPr/>
          <p:nvPr/>
        </p:nvSpPr>
        <p:spPr>
          <a:xfrm>
            <a:off x="685800" y="5781675"/>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Where does quote find amount? Where does it find rate?</a:t>
            </a:r>
            <a:endParaRPr/>
          </a:p>
        </p:txBody>
      </p:sp>
      <p:sp>
        <p:nvSpPr>
          <p:cNvPr id="81" name="Google Shape;81;p12"/>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82" name="Google Shape;82;p12"/>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3"/>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89" name="Google Shape;89;p13"/>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hidden input changes the result</a:t>
            </a:r>
            <a:endParaRPr/>
          </a:p>
        </p:txBody>
      </p:sp>
      <p:sp>
        <p:nvSpPr>
          <p:cNvPr id="90" name="Google Shape;90;p13"/>
          <p:cNvSpPr/>
          <p:nvPr/>
        </p:nvSpPr>
        <p:spPr>
          <a:xfrm>
            <a:off x="685800" y="1762125"/>
            <a:ext cx="7239000" cy="29241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rate = 1.10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def quoted_value(amount):</a:t>
            </a:r>
            <a:endParaRPr sz="2175">
              <a:solidFill>
                <a:srgbClr val="F8FAFB"/>
              </a:solidFil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amount </a:t>
            </a:r>
            <a:r>
              <a:rPr lang="en-US" sz="2175">
                <a:solidFill>
                  <a:srgbClr val="F8FAFB"/>
                </a:solidFill>
                <a:latin typeface="Arial"/>
                <a:ea typeface="Arial"/>
                <a:cs typeface="Arial"/>
                <a:sym typeface="Arial"/>
              </a:rPr>
              <a:t>* rate</a:t>
            </a:r>
            <a:endParaRPr/>
          </a:p>
          <a:p>
            <a:pPr indent="0" lvl="0" marL="0" marR="0" rtl="0" algn="l">
              <a:spcBef>
                <a:spcPts val="0"/>
              </a:spcBef>
              <a:spcAft>
                <a:spcPts val="0"/>
              </a:spcAft>
              <a:buNone/>
            </a:pPr>
            <a:r>
              <a:t/>
            </a:r>
            <a:endParaRPr sz="2175">
              <a:solidFill>
                <a:srgbClr val="F8FAFB"/>
              </a:solidFill>
              <a:latin typeface="Arial"/>
              <a:ea typeface="Arial"/>
              <a:cs typeface="Arial"/>
              <a:sym typeface="Aria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quoted_value(100)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rate = 1.20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quoted_value(100)</a:t>
            </a:r>
            <a:endParaRPr/>
          </a:p>
        </p:txBody>
      </p:sp>
      <p:sp>
        <p:nvSpPr>
          <p:cNvPr id="91" name="Google Shape;91;p13"/>
          <p:cNvSpPr/>
          <p:nvPr/>
        </p:nvSpPr>
        <p:spPr>
          <a:xfrm>
            <a:off x="8305800" y="1905000"/>
            <a:ext cx="320040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2B49"/>
                </a:solidFill>
                <a:latin typeface="Arial"/>
                <a:ea typeface="Arial"/>
                <a:cs typeface="Arial"/>
                <a:sym typeface="Arial"/>
              </a:rPr>
              <a:t>Same explicit argument. Same answer?</a:t>
            </a:r>
            <a:endParaRPr/>
          </a:p>
        </p:txBody>
      </p:sp>
      <p:sp>
        <p:nvSpPr>
          <p:cNvPr id="92" name="Google Shape;92;p13"/>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D01</a:t>
            </a:r>
            <a:endParaRPr/>
          </a:p>
        </p:txBody>
      </p:sp>
      <p:sp>
        <p:nvSpPr>
          <p:cNvPr id="93" name="Google Shape;93;p13"/>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14"/>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100" name="Google Shape;100;p14"/>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Mutation and reassignment</a:t>
            </a:r>
            <a:endParaRPr/>
          </a:p>
        </p:txBody>
      </p:sp>
      <p:sp>
        <p:nvSpPr>
          <p:cNvPr id="101" name="Google Shape;101;p14"/>
          <p:cNvSpPr/>
          <p:nvPr/>
        </p:nvSpPr>
        <p:spPr>
          <a:xfrm>
            <a:off x="685800" y="1762125"/>
            <a:ext cx="7239000" cy="221932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a = [10, 20]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b = a</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c = a.copy()</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b.append(30)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b = [99]</a:t>
            </a:r>
            <a:endParaRPr/>
          </a:p>
        </p:txBody>
      </p:sp>
      <p:sp>
        <p:nvSpPr>
          <p:cNvPr id="102" name="Google Shape;102;p14"/>
          <p:cNvSpPr/>
          <p:nvPr/>
        </p:nvSpPr>
        <p:spPr>
          <a:xfrm>
            <a:off x="8305800" y="1905000"/>
            <a:ext cx="320040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2B49"/>
                </a:solidFill>
                <a:latin typeface="Arial"/>
                <a:ea typeface="Arial"/>
                <a:cs typeface="Arial"/>
                <a:sym typeface="Arial"/>
              </a:rPr>
              <a:t>What are a, b, and c at the end?</a:t>
            </a:r>
            <a:endParaRPr/>
          </a:p>
        </p:txBody>
      </p:sp>
      <p:sp>
        <p:nvSpPr>
          <p:cNvPr id="103" name="Google Shape;103;p14"/>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D02</a:t>
            </a:r>
            <a:endParaRPr/>
          </a:p>
        </p:txBody>
      </p:sp>
      <p:sp>
        <p:nvSpPr>
          <p:cNvPr id="104" name="Google Shape;104;p14"/>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5"/>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111" name="Google Shape;111;p15"/>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shallow copy preserves inner references</a:t>
            </a:r>
            <a:endParaRPr/>
          </a:p>
        </p:txBody>
      </p:sp>
      <p:sp>
        <p:nvSpPr>
          <p:cNvPr id="112" name="Google Shape;112;p15"/>
          <p:cNvSpPr/>
          <p:nvPr/>
        </p:nvSpPr>
        <p:spPr>
          <a:xfrm>
            <a:off x="685800" y="1762125"/>
            <a:ext cx="10820400" cy="15144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original = {'prices': [100, 101]}</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copy = original.copy()</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copy['prices'].append(102)</a:t>
            </a:r>
            <a:endParaRPr/>
          </a:p>
        </p:txBody>
      </p:sp>
      <p:sp>
        <p:nvSpPr>
          <p:cNvPr id="113" name="Google Shape;113;p15"/>
          <p:cNvSpPr/>
          <p:nvPr/>
        </p:nvSpPr>
        <p:spPr>
          <a:xfrm>
            <a:off x="685800" y="3543300"/>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Does original also change?</a:t>
            </a:r>
            <a:endParaRPr/>
          </a:p>
        </p:txBody>
      </p:sp>
      <p:sp>
        <p:nvSpPr>
          <p:cNvPr id="114" name="Google Shape;114;p15"/>
          <p:cNvSpPr/>
          <p:nvPr/>
        </p:nvSpPr>
        <p:spPr>
          <a:xfrm>
            <a:off x="685800" y="44005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Copy depth determines what becomes independent.</a:t>
            </a:r>
            <a:endParaRPr/>
          </a:p>
        </p:txBody>
      </p:sp>
      <p:sp>
        <p:nvSpPr>
          <p:cNvPr id="115" name="Google Shape;115;p15"/>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D03</a:t>
            </a:r>
            <a:endParaRPr/>
          </a:p>
        </p:txBody>
      </p:sp>
      <p:sp>
        <p:nvSpPr>
          <p:cNvPr id="116" name="Google Shape;116;p15"/>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6"/>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123" name="Google Shape;123;p16"/>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Identity, equality, and mutability</a:t>
            </a:r>
            <a:endParaRPr/>
          </a:p>
        </p:txBody>
      </p:sp>
      <p:graphicFrame>
        <p:nvGraphicFramePr>
          <p:cNvPr id="124" name="Google Shape;124;p16"/>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6477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Expression</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Question</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 == b</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Do these objects compare equal?</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 is b</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Are these the same object?</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list.append(...)</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Does the existing object change?</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name = value</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Which object does this name refer to now?</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125" name="Google Shape;125;p16"/>
          <p:cNvSpPr/>
          <p:nvPr/>
        </p:nvSpPr>
        <p:spPr>
          <a:xfrm>
            <a:off x="685800" y="51625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Can equal objects be distinct objects?</a:t>
            </a:r>
            <a:endParaRPr/>
          </a:p>
        </p:txBody>
      </p:sp>
      <p:sp>
        <p:nvSpPr>
          <p:cNvPr id="126" name="Google Shape;126;p16"/>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127" name="Google Shape;127;p16"/>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17"/>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SCOPE AND MEMORY</a:t>
            </a:r>
            <a:endParaRPr/>
          </a:p>
        </p:txBody>
      </p:sp>
      <p:sp>
        <p:nvSpPr>
          <p:cNvPr id="134" name="Google Shape;134;p17"/>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Interview checkpoint: shared state</a:t>
            </a:r>
            <a:endParaRPr/>
          </a:p>
        </p:txBody>
      </p:sp>
      <p:sp>
        <p:nvSpPr>
          <p:cNvPr id="135" name="Google Shape;135;p17"/>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A function appends to a list argument. Why does the caller see the change?</a:t>
            </a:r>
            <a:endParaRPr/>
          </a:p>
        </p:txBody>
      </p:sp>
      <p:sp>
        <p:nvSpPr>
          <p:cNvPr id="136" name="Google Shape;136;p17"/>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Explain the reference relationship.</a:t>
            </a:r>
            <a:endParaRPr/>
          </a:p>
        </p:txBody>
      </p:sp>
      <p:sp>
        <p:nvSpPr>
          <p:cNvPr id="137" name="Google Shape;137;p17"/>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Distinguish mutation from rebinding.</a:t>
            </a:r>
            <a:endParaRPr/>
          </a:p>
        </p:txBody>
      </p:sp>
      <p:sp>
        <p:nvSpPr>
          <p:cNvPr id="138" name="Google Shape;138;p17"/>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Propose a change if isolation is required.</a:t>
            </a:r>
            <a:endParaRPr/>
          </a:p>
        </p:txBody>
      </p:sp>
      <p:sp>
        <p:nvSpPr>
          <p:cNvPr id="139" name="Google Shape;139;p17"/>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140" name="Google Shape;140;p17"/>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18"/>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FUNCTIONS</a:t>
            </a:r>
            <a:endParaRPr/>
          </a:p>
        </p:txBody>
      </p:sp>
      <p:sp>
        <p:nvSpPr>
          <p:cNvPr id="147" name="Google Shape;147;p18"/>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Functions define a small contract</a:t>
            </a:r>
            <a:endParaRPr/>
          </a:p>
        </p:txBody>
      </p:sp>
      <p:sp>
        <p:nvSpPr>
          <p:cNvPr id="148" name="Google Shape;148;p18"/>
          <p:cNvSpPr/>
          <p:nvPr/>
        </p:nvSpPr>
        <p:spPr>
          <a:xfrm>
            <a:off x="685800" y="1762125"/>
            <a:ext cx="10820400" cy="142875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portfolio_value(positions, prices)</a:t>
            </a:r>
            <a:endParaRPr/>
          </a:p>
        </p:txBody>
      </p:sp>
      <p:sp>
        <p:nvSpPr>
          <p:cNvPr id="149" name="Google Shape;149;p18"/>
          <p:cNvSpPr/>
          <p:nvPr/>
        </p:nvSpPr>
        <p:spPr>
          <a:xfrm>
            <a:off x="685800" y="3457575"/>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Inputs: what the calculation needs.</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Output: what it promises to return.</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Failures: what invalid or missing input means.</a:t>
            </a:r>
            <a:endParaRPr/>
          </a:p>
        </p:txBody>
      </p:sp>
      <p:sp>
        <p:nvSpPr>
          <p:cNvPr id="150" name="Google Shape;150;p18"/>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151" name="Google Shape;151;p18"/>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9"/>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FUNCTIONS</a:t>
            </a:r>
            <a:endParaRPr/>
          </a:p>
        </p:txBody>
      </p:sp>
      <p:sp>
        <p:nvSpPr>
          <p:cNvPr id="158" name="Google Shape;158;p19"/>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Explicit inputs make checks easier</a:t>
            </a:r>
            <a:endParaRPr/>
          </a:p>
        </p:txBody>
      </p:sp>
      <p:sp>
        <p:nvSpPr>
          <p:cNvPr id="159" name="Google Shape;159;p19"/>
          <p:cNvSpPr/>
          <p:nvPr/>
        </p:nvSpPr>
        <p:spPr>
          <a:xfrm>
            <a:off x="685800" y="1762125"/>
            <a:ext cx="10820400" cy="142875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positions = {'AAPL': 2, 'MSFT': 1}</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prices = {'AAPL': 100, 'MSFT': 200}</a:t>
            </a:r>
            <a:endParaRPr/>
          </a:p>
        </p:txBody>
      </p:sp>
      <p:sp>
        <p:nvSpPr>
          <p:cNvPr id="160" name="Google Shape;160;p19"/>
          <p:cNvSpPr/>
          <p:nvPr/>
        </p:nvSpPr>
        <p:spPr>
          <a:xfrm>
            <a:off x="685800" y="3457575"/>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What should the value be? What if MSFT has no price?</a:t>
            </a:r>
            <a:endParaRPr/>
          </a:p>
        </p:txBody>
      </p:sp>
      <p:sp>
        <p:nvSpPr>
          <p:cNvPr id="161" name="Google Shape;161;p19"/>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D05</a:t>
            </a:r>
            <a:endParaRPr/>
          </a:p>
        </p:txBody>
      </p:sp>
      <p:sp>
        <p:nvSpPr>
          <p:cNvPr id="162" name="Google Shape;162;p19"/>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20"/>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FUNCTIONS</a:t>
            </a:r>
            <a:endParaRPr/>
          </a:p>
        </p:txBody>
      </p:sp>
      <p:sp>
        <p:nvSpPr>
          <p:cNvPr id="169" name="Google Shape;169;p20"/>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Functions can be passed as values</a:t>
            </a:r>
            <a:endParaRPr/>
          </a:p>
        </p:txBody>
      </p:sp>
      <p:sp>
        <p:nvSpPr>
          <p:cNvPr id="170" name="Google Shape;170;p20"/>
          <p:cNvSpPr/>
          <p:nvPr/>
        </p:nvSpPr>
        <p:spPr>
          <a:xfrm>
            <a:off x="685800" y="1762125"/>
            <a:ext cx="7239000" cy="333750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rPr>
              <a:t>positions = [(‘aapl’, 10, 100), (‘nvda’, 2, 150)]</a:t>
            </a:r>
            <a:endParaRPr sz="2175">
              <a:solidFill>
                <a:srgbClr val="F8FAFB"/>
              </a:solidFill>
            </a:endParaRPr>
          </a:p>
          <a:p>
            <a:pPr indent="0" lvl="0" marL="0" marR="0" rtl="0" algn="l">
              <a:spcBef>
                <a:spcPts val="0"/>
              </a:spcBef>
              <a:spcAft>
                <a:spcPts val="0"/>
              </a:spcAft>
              <a:buNone/>
            </a:pPr>
            <a:r>
              <a:t/>
            </a:r>
            <a:endParaRPr sz="2175">
              <a:solidFill>
                <a:srgbClr val="F8FAFB"/>
              </a:solidFil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def dollar_value(position):</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ticker, shares, price = position</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shares * price</a:t>
            </a:r>
            <a:endParaRPr/>
          </a:p>
          <a:p>
            <a:pPr indent="0" lvl="0" marL="0" marR="0" rtl="0" algn="l">
              <a:spcBef>
                <a:spcPts val="0"/>
              </a:spcBef>
              <a:spcAft>
                <a:spcPts val="0"/>
              </a:spcAft>
              <a:buNone/>
            </a:pPr>
            <a:r>
              <a:t/>
            </a:r>
            <a:endParaRPr sz="2175">
              <a:solidFill>
                <a:srgbClr val="F8FAFB"/>
              </a:solidFill>
              <a:latin typeface="Arial"/>
              <a:ea typeface="Arial"/>
              <a:cs typeface="Arial"/>
              <a:sym typeface="Aria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sorted(positions, key=dollar_value)</a:t>
            </a:r>
            <a:endParaRPr/>
          </a:p>
        </p:txBody>
      </p:sp>
      <p:sp>
        <p:nvSpPr>
          <p:cNvPr id="171" name="Google Shape;171;p20"/>
          <p:cNvSpPr/>
          <p:nvPr/>
        </p:nvSpPr>
        <p:spPr>
          <a:xfrm>
            <a:off x="8305800" y="1905000"/>
            <a:ext cx="320040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2B49"/>
                </a:solidFill>
                <a:latin typeface="Arial"/>
                <a:ea typeface="Arial"/>
                <a:cs typeface="Arial"/>
                <a:sym typeface="Arial"/>
              </a:rPr>
              <a:t>Why pass dollar_value without parentheses?</a:t>
            </a:r>
            <a:endParaRPr/>
          </a:p>
        </p:txBody>
      </p:sp>
      <p:sp>
        <p:nvSpPr>
          <p:cNvPr id="172" name="Google Shape;172;p20"/>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D06</a:t>
            </a:r>
            <a:endParaRPr/>
          </a:p>
        </p:txBody>
      </p:sp>
      <p:sp>
        <p:nvSpPr>
          <p:cNvPr id="173" name="Google Shape;173;p20"/>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21"/>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FUNCTIONS</a:t>
            </a:r>
            <a:endParaRPr/>
          </a:p>
        </p:txBody>
      </p:sp>
      <p:sp>
        <p:nvSpPr>
          <p:cNvPr id="180" name="Google Shape;180;p21"/>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decorator wraps a function</a:t>
            </a:r>
            <a:endParaRPr/>
          </a:p>
        </p:txBody>
      </p:sp>
      <p:sp>
        <p:nvSpPr>
          <p:cNvPr id="181" name="Google Shape;181;p21"/>
          <p:cNvSpPr/>
          <p:nvPr/>
        </p:nvSpPr>
        <p:spPr>
          <a:xfrm>
            <a:off x="685800" y="1762125"/>
            <a:ext cx="7239000" cy="257175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00">
                <a:solidFill>
                  <a:srgbClr val="F8FAFB"/>
                </a:solidFill>
                <a:latin typeface="Arial"/>
                <a:ea typeface="Arial"/>
                <a:cs typeface="Arial"/>
                <a:sym typeface="Arial"/>
              </a:rPr>
              <a:t>@timed</a:t>
            </a:r>
            <a:endParaRPr/>
          </a:p>
          <a:p>
            <a:pPr indent="0" lvl="0" marL="0" marR="0" rtl="0" algn="l">
              <a:spcBef>
                <a:spcPts val="0"/>
              </a:spcBef>
              <a:spcAft>
                <a:spcPts val="0"/>
              </a:spcAft>
              <a:buNone/>
            </a:pPr>
            <a:r>
              <a:rPr lang="en-US" sz="2100">
                <a:solidFill>
                  <a:srgbClr val="F8FAFB"/>
                </a:solidFill>
                <a:latin typeface="Arial"/>
                <a:ea typeface="Arial"/>
                <a:cs typeface="Arial"/>
                <a:sym typeface="Arial"/>
              </a:rPr>
              <a:t>def position_value(shares, price):</a:t>
            </a:r>
            <a:endParaRPr/>
          </a:p>
          <a:p>
            <a:pPr indent="0" lvl="0" marL="0" marR="0" rtl="0" algn="l">
              <a:spcBef>
                <a:spcPts val="0"/>
              </a:spcBef>
              <a:spcAft>
                <a:spcPts val="0"/>
              </a:spcAft>
              <a:buNone/>
            </a:pPr>
            <a:r>
              <a:rPr lang="en-US" sz="2100">
                <a:solidFill>
                  <a:srgbClr val="F8FAFB"/>
                </a:solidFill>
                <a:latin typeface="Arial"/>
                <a:ea typeface="Arial"/>
                <a:cs typeface="Arial"/>
                <a:sym typeface="Arial"/>
              </a:rPr>
              <a:t>    return shares * price</a:t>
            </a:r>
            <a:endParaRPr/>
          </a:p>
          <a:p>
            <a:pPr indent="0" lvl="0" marL="0" marR="0" rtl="0" algn="l">
              <a:spcBef>
                <a:spcPts val="0"/>
              </a:spcBef>
              <a:spcAft>
                <a:spcPts val="0"/>
              </a:spcAft>
              <a:buNone/>
            </a:pPr>
            <a:r>
              <a:t/>
            </a:r>
            <a:endParaRPr sz="2100">
              <a:solidFill>
                <a:srgbClr val="F8FAFB"/>
              </a:solidFill>
              <a:latin typeface="Arial"/>
              <a:ea typeface="Arial"/>
              <a:cs typeface="Arial"/>
              <a:sym typeface="Arial"/>
            </a:endParaRPr>
          </a:p>
          <a:p>
            <a:pPr indent="0" lvl="0" marL="0" marR="0" rtl="0" algn="l">
              <a:spcBef>
                <a:spcPts val="0"/>
              </a:spcBef>
              <a:spcAft>
                <a:spcPts val="0"/>
              </a:spcAft>
              <a:buNone/>
            </a:pPr>
            <a:r>
              <a:rPr lang="en-US" sz="2100">
                <a:solidFill>
                  <a:srgbClr val="F8FAFB"/>
                </a:solidFill>
                <a:latin typeface="Arial"/>
                <a:ea typeface="Arial"/>
                <a:cs typeface="Arial"/>
                <a:sym typeface="Arial"/>
              </a:rPr>
              <a:t># Equivalent alternative:</a:t>
            </a:r>
            <a:endParaRPr/>
          </a:p>
          <a:p>
            <a:pPr indent="0" lvl="0" marL="0" marR="0" rtl="0" algn="l">
              <a:spcBef>
                <a:spcPts val="0"/>
              </a:spcBef>
              <a:spcAft>
                <a:spcPts val="0"/>
              </a:spcAft>
              <a:buNone/>
            </a:pPr>
            <a:r>
              <a:rPr lang="en-US" sz="2100">
                <a:solidFill>
                  <a:srgbClr val="F8FAFB"/>
                </a:solidFill>
                <a:latin typeface="Arial"/>
                <a:ea typeface="Arial"/>
                <a:cs typeface="Arial"/>
                <a:sym typeface="Arial"/>
              </a:rPr>
              <a:t># position_value = timed(position_value)</a:t>
            </a:r>
            <a:endParaRPr/>
          </a:p>
        </p:txBody>
      </p:sp>
      <p:sp>
        <p:nvSpPr>
          <p:cNvPr id="182" name="Google Shape;182;p21"/>
          <p:cNvSpPr/>
          <p:nvPr/>
        </p:nvSpPr>
        <p:spPr>
          <a:xfrm>
            <a:off x="8305800" y="1905000"/>
            <a:ext cx="3200400" cy="1857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A wrapper can add timing, logging, or validation.</a:t>
            </a:r>
            <a:endParaRPr/>
          </a:p>
          <a:p>
            <a:pPr indent="0" lvl="0" marL="0" marR="0" rtl="0" algn="l">
              <a:spcBef>
                <a:spcPts val="0"/>
              </a:spcBef>
              <a:spcAft>
                <a:spcPts val="0"/>
              </a:spcAft>
              <a:buNone/>
            </a:pPr>
            <a:r>
              <a:t/>
            </a:r>
            <a:endParaRPr b="0" sz="2025">
              <a:solidFill>
                <a:srgbClr val="17364B"/>
              </a:solidFill>
              <a:latin typeface="Arial"/>
              <a:ea typeface="Arial"/>
              <a:cs typeface="Arial"/>
              <a:sym typeface="Arial"/>
            </a:endParaRPr>
          </a:p>
          <a:p>
            <a:pPr indent="0" lvl="0" marL="0" marR="0" rtl="0" algn="l">
              <a:spcBef>
                <a:spcPts val="0"/>
              </a:spcBef>
              <a:spcAft>
                <a:spcPts val="0"/>
              </a:spcAft>
              <a:buNone/>
            </a:pPr>
            <a:r>
              <a:rPr b="0" lang="en-US" sz="2025">
                <a:solidFill>
                  <a:srgbClr val="17364B"/>
                </a:solidFill>
                <a:latin typeface="Arial"/>
                <a:ea typeface="Arial"/>
                <a:cs typeface="Arial"/>
                <a:sym typeface="Arial"/>
              </a:rPr>
              <a:t>It must preserve the intended return behavior.</a:t>
            </a:r>
            <a:endParaRPr/>
          </a:p>
        </p:txBody>
      </p:sp>
      <p:sp>
        <p:nvSpPr>
          <p:cNvPr id="183" name="Google Shape;183;p21"/>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184" name="Google Shape;184;p21"/>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22"/>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FUNCTIONS</a:t>
            </a:r>
            <a:endParaRPr/>
          </a:p>
        </p:txBody>
      </p:sp>
      <p:sp>
        <p:nvSpPr>
          <p:cNvPr id="191" name="Google Shape;191;p22"/>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Reading a timing wrapper</a:t>
            </a:r>
            <a:endParaRPr/>
          </a:p>
        </p:txBody>
      </p:sp>
      <p:sp>
        <p:nvSpPr>
          <p:cNvPr id="192" name="Google Shape;192;p22"/>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Where is the original function called? Where does its result return?</a:t>
            </a:r>
            <a:endParaRPr/>
          </a:p>
        </p:txBody>
      </p:sp>
      <p:sp>
        <p:nvSpPr>
          <p:cNvPr id="193" name="Google Shape;193;p22"/>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The wrapper receives the call’s arguments.</a:t>
            </a:r>
            <a:endParaRPr/>
          </a:p>
        </p:txBody>
      </p:sp>
      <p:sp>
        <p:nvSpPr>
          <p:cNvPr id="194" name="Google Shape;194;p22"/>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It calls the original function once.</a:t>
            </a:r>
            <a:endParaRPr/>
          </a:p>
        </p:txBody>
      </p:sp>
      <p:sp>
        <p:nvSpPr>
          <p:cNvPr id="195" name="Google Shape;195;p22"/>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It reports elapsed time and returns the result.</a:t>
            </a:r>
            <a:endParaRPr/>
          </a:p>
        </p:txBody>
      </p:sp>
      <p:sp>
        <p:nvSpPr>
          <p:cNvPr id="196" name="Google Shape;196;p22"/>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D07</a:t>
            </a:r>
            <a:endParaRPr/>
          </a:p>
        </p:txBody>
      </p:sp>
      <p:sp>
        <p:nvSpPr>
          <p:cNvPr id="197" name="Google Shape;197;p22"/>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23"/>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04" name="Google Shape;204;p23"/>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Objects group state and behavior</a:t>
            </a:r>
            <a:endParaRPr/>
          </a:p>
        </p:txBody>
      </p:sp>
      <p:graphicFrame>
        <p:nvGraphicFramePr>
          <p:cNvPr id="205" name="Google Shape;205;p23"/>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7620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Concept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Example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Class</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Position</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Instance</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Two AAPL shares in one position</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Attribute</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ticker or shares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Method</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market_value(price)</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206" name="Google Shape;206;p23"/>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207" name="Google Shape;207;p23"/>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24"/>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14" name="Google Shape;214;p24"/>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small Position class</a:t>
            </a:r>
            <a:endParaRPr/>
          </a:p>
        </p:txBody>
      </p:sp>
      <p:sp>
        <p:nvSpPr>
          <p:cNvPr id="215" name="Google Shape;215;p24"/>
          <p:cNvSpPr/>
          <p:nvPr/>
        </p:nvSpPr>
        <p:spPr>
          <a:xfrm>
            <a:off x="685800" y="1762125"/>
            <a:ext cx="7239000" cy="29241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class Position:</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def __init__(self, ticker, shares):</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self.ticker = ticker</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self.shares = shares</a:t>
            </a:r>
            <a:endParaRPr/>
          </a:p>
          <a:p>
            <a:pPr indent="0" lvl="0" marL="0" marR="0" rtl="0" algn="l">
              <a:spcBef>
                <a:spcPts val="0"/>
              </a:spcBef>
              <a:spcAft>
                <a:spcPts val="0"/>
              </a:spcAft>
              <a:buNone/>
            </a:pPr>
            <a:r>
              <a:t/>
            </a:r>
            <a:endParaRPr sz="2175">
              <a:solidFill>
                <a:srgbClr val="F8FAFB"/>
              </a:solidFill>
              <a:latin typeface="Arial"/>
              <a:ea typeface="Arial"/>
              <a:cs typeface="Arial"/>
              <a:sym typeface="Aria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def market_value(self, price):</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self.shares * price</a:t>
            </a:r>
            <a:endParaRPr/>
          </a:p>
        </p:txBody>
      </p:sp>
      <p:sp>
        <p:nvSpPr>
          <p:cNvPr id="216" name="Google Shape;216;p24"/>
          <p:cNvSpPr/>
          <p:nvPr/>
        </p:nvSpPr>
        <p:spPr>
          <a:xfrm>
            <a:off x="8305800" y="1905000"/>
            <a:ext cx="320040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2B49"/>
                </a:solidFill>
                <a:latin typeface="Arial"/>
                <a:ea typeface="Arial"/>
                <a:cs typeface="Arial"/>
                <a:sym typeface="Arial"/>
              </a:rPr>
              <a:t>What does self identify during a method call?</a:t>
            </a:r>
            <a:endParaRPr/>
          </a:p>
        </p:txBody>
      </p:sp>
      <p:sp>
        <p:nvSpPr>
          <p:cNvPr id="217" name="Google Shape;217;p24"/>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D08</a:t>
            </a:r>
            <a:endParaRPr/>
          </a:p>
        </p:txBody>
      </p:sp>
      <p:sp>
        <p:nvSpPr>
          <p:cNvPr id="218" name="Google Shape;218;p24"/>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5"/>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25" name="Google Shape;225;p25"/>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Instance state and class attributes</a:t>
            </a:r>
            <a:endParaRPr/>
          </a:p>
        </p:txBody>
      </p:sp>
      <p:sp>
        <p:nvSpPr>
          <p:cNvPr id="226" name="Google Shape;226;p25"/>
          <p:cNvSpPr/>
          <p:nvPr/>
        </p:nvSpPr>
        <p:spPr>
          <a:xfrm>
            <a:off x="685800" y="1762125"/>
            <a:ext cx="7239000" cy="338430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class SharedWatchlist:</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tickers = []</a:t>
            </a:r>
            <a:endParaRPr/>
          </a:p>
          <a:p>
            <a:pPr indent="0" lvl="0" marL="0" marR="0" rtl="0" algn="l">
              <a:spcBef>
                <a:spcPts val="0"/>
              </a:spcBef>
              <a:spcAft>
                <a:spcPts val="0"/>
              </a:spcAft>
              <a:buNone/>
            </a:pPr>
            <a:r>
              <a:t/>
            </a:r>
            <a:endParaRPr sz="2175">
              <a:solidFill>
                <a:srgbClr val="F8FAFB"/>
              </a:solidFill>
              <a:latin typeface="Arial"/>
              <a:ea typeface="Arial"/>
              <a:cs typeface="Arial"/>
              <a:sym typeface="Aria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left = SharedWatchlist()</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right = SharedWatchlist()</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left.tickers.append("AAPL")</a:t>
            </a:r>
            <a:endParaRPr sz="2175">
              <a:solidFill>
                <a:srgbClr val="F8FAFB"/>
              </a:solidFill>
              <a:latin typeface="Arial"/>
              <a:ea typeface="Arial"/>
              <a:cs typeface="Arial"/>
              <a:sym typeface="Arial"/>
            </a:endParaRPr>
          </a:p>
          <a:p>
            <a:pPr indent="0" lvl="0" marL="0" marR="0" rtl="0" algn="l">
              <a:spcBef>
                <a:spcPts val="0"/>
              </a:spcBef>
              <a:spcAft>
                <a:spcPts val="0"/>
              </a:spcAft>
              <a:buNone/>
            </a:pPr>
            <a:r>
              <a:t/>
            </a:r>
            <a:endParaRPr sz="2175">
              <a:solidFill>
                <a:srgbClr val="F8FAFB"/>
              </a:solidFill>
            </a:endParaRPr>
          </a:p>
          <a:p>
            <a:pPr indent="0" lvl="0" marL="0" marR="0" rtl="0" algn="l">
              <a:spcBef>
                <a:spcPts val="0"/>
              </a:spcBef>
              <a:spcAft>
                <a:spcPts val="0"/>
              </a:spcAft>
              <a:buNone/>
            </a:pPr>
            <a:r>
              <a:rPr lang="en-US" sz="2175">
                <a:solidFill>
                  <a:srgbClr val="F8FAFB"/>
                </a:solidFill>
              </a:rPr>
              <a:t>right.tickers</a:t>
            </a:r>
            <a:endParaRPr sz="2175">
              <a:solidFill>
                <a:srgbClr val="F8FAFB"/>
              </a:solidFill>
            </a:endParaRPr>
          </a:p>
        </p:txBody>
      </p:sp>
      <p:sp>
        <p:nvSpPr>
          <p:cNvPr id="227" name="Google Shape;227;p25"/>
          <p:cNvSpPr/>
          <p:nvPr/>
        </p:nvSpPr>
        <p:spPr>
          <a:xfrm>
            <a:off x="8305800" y="1905000"/>
            <a:ext cx="320040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2B49"/>
                </a:solidFill>
                <a:latin typeface="Arial"/>
                <a:ea typeface="Arial"/>
                <a:cs typeface="Arial"/>
                <a:sym typeface="Arial"/>
              </a:rPr>
              <a:t>What does right.tickers contain?</a:t>
            </a:r>
            <a:endParaRPr/>
          </a:p>
        </p:txBody>
      </p:sp>
      <p:sp>
        <p:nvSpPr>
          <p:cNvPr id="228" name="Google Shape;228;p25"/>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D09</a:t>
            </a:r>
            <a:endParaRPr/>
          </a:p>
        </p:txBody>
      </p:sp>
      <p:sp>
        <p:nvSpPr>
          <p:cNvPr id="229" name="Google Shape;229;p25"/>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26"/>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36" name="Google Shape;236;p26"/>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portfolio has positions</a:t>
            </a:r>
            <a:endParaRPr/>
          </a:p>
        </p:txBody>
      </p:sp>
      <p:sp>
        <p:nvSpPr>
          <p:cNvPr id="237" name="Google Shape;237;p26"/>
          <p:cNvSpPr/>
          <p:nvPr/>
        </p:nvSpPr>
        <p:spPr>
          <a:xfrm>
            <a:off x="685800" y="1762125"/>
            <a:ext cx="7239000" cy="29241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1650">
                <a:solidFill>
                  <a:srgbClr val="F8FAFB"/>
                </a:solidFill>
                <a:latin typeface="Arial"/>
                <a:ea typeface="Arial"/>
                <a:cs typeface="Arial"/>
                <a:sym typeface="Arial"/>
              </a:rPr>
              <a:t>class Portfolio:</a:t>
            </a:r>
            <a:endParaRPr/>
          </a:p>
          <a:p>
            <a:pPr indent="0" lvl="0" marL="0" marR="0" rtl="0" algn="l">
              <a:spcBef>
                <a:spcPts val="0"/>
              </a:spcBef>
              <a:spcAft>
                <a:spcPts val="0"/>
              </a:spcAft>
              <a:buNone/>
            </a:pPr>
            <a:r>
              <a:rPr lang="en-US" sz="1650">
                <a:solidFill>
                  <a:srgbClr val="F8FAFB"/>
                </a:solidFill>
                <a:latin typeface="Arial"/>
                <a:ea typeface="Arial"/>
                <a:cs typeface="Arial"/>
                <a:sym typeface="Arial"/>
              </a:rPr>
              <a:t>    def __init__(self, positions):</a:t>
            </a:r>
            <a:endParaRPr/>
          </a:p>
          <a:p>
            <a:pPr indent="0" lvl="0" marL="0" marR="0" rtl="0" algn="l">
              <a:spcBef>
                <a:spcPts val="0"/>
              </a:spcBef>
              <a:spcAft>
                <a:spcPts val="0"/>
              </a:spcAft>
              <a:buNone/>
            </a:pPr>
            <a:r>
              <a:rPr lang="en-US" sz="1650">
                <a:solidFill>
                  <a:srgbClr val="F8FAFB"/>
                </a:solidFill>
                <a:latin typeface="Arial"/>
                <a:ea typeface="Arial"/>
                <a:cs typeface="Arial"/>
                <a:sym typeface="Arial"/>
              </a:rPr>
              <a:t>        self.positions = list(positions)</a:t>
            </a:r>
            <a:endParaRPr/>
          </a:p>
          <a:p>
            <a:pPr indent="0" lvl="0" marL="0" marR="0" rtl="0" algn="l">
              <a:spcBef>
                <a:spcPts val="0"/>
              </a:spcBef>
              <a:spcAft>
                <a:spcPts val="0"/>
              </a:spcAft>
              <a:buNone/>
            </a:pPr>
            <a:r>
              <a:t/>
            </a:r>
            <a:endParaRPr sz="1650">
              <a:solidFill>
                <a:srgbClr val="F8FAFB"/>
              </a:solidFill>
              <a:latin typeface="Arial"/>
              <a:ea typeface="Arial"/>
              <a:cs typeface="Arial"/>
              <a:sym typeface="Arial"/>
            </a:endParaRPr>
          </a:p>
          <a:p>
            <a:pPr indent="0" lvl="0" marL="0" marR="0" rtl="0" algn="l">
              <a:spcBef>
                <a:spcPts val="0"/>
              </a:spcBef>
              <a:spcAft>
                <a:spcPts val="0"/>
              </a:spcAft>
              <a:buNone/>
            </a:pPr>
            <a:r>
              <a:rPr lang="en-US" sz="1650">
                <a:solidFill>
                  <a:srgbClr val="F8FAFB"/>
                </a:solidFill>
                <a:latin typeface="Arial"/>
                <a:ea typeface="Arial"/>
                <a:cs typeface="Arial"/>
                <a:sym typeface="Arial"/>
              </a:rPr>
              <a:t>    def market_value(self, prices):</a:t>
            </a:r>
            <a:endParaRPr/>
          </a:p>
          <a:p>
            <a:pPr indent="0" lvl="0" marL="0" marR="0" rtl="0" algn="l">
              <a:spcBef>
                <a:spcPts val="0"/>
              </a:spcBef>
              <a:spcAft>
                <a:spcPts val="0"/>
              </a:spcAft>
              <a:buNone/>
            </a:pPr>
            <a:r>
              <a:rPr lang="en-US" sz="1650">
                <a:solidFill>
                  <a:srgbClr val="F8FAFB"/>
                </a:solidFill>
                <a:latin typeface="Arial"/>
                <a:ea typeface="Arial"/>
                <a:cs typeface="Arial"/>
                <a:sym typeface="Arial"/>
              </a:rPr>
              <a:t>        return sum(p.market_value(prices[p.ticker])</a:t>
            </a:r>
            <a:endParaRPr/>
          </a:p>
          <a:p>
            <a:pPr indent="0" lvl="0" marL="0" marR="0" rtl="0" algn="l">
              <a:spcBef>
                <a:spcPts val="0"/>
              </a:spcBef>
              <a:spcAft>
                <a:spcPts val="0"/>
              </a:spcAft>
              <a:buNone/>
            </a:pPr>
            <a:r>
              <a:rPr lang="en-US" sz="1650">
                <a:solidFill>
                  <a:srgbClr val="F8FAFB"/>
                </a:solidFill>
                <a:latin typeface="Arial"/>
                <a:ea typeface="Arial"/>
                <a:cs typeface="Arial"/>
                <a:sym typeface="Arial"/>
              </a:rPr>
              <a:t>                   for p in self.positions)</a:t>
            </a:r>
            <a:endParaRPr/>
          </a:p>
        </p:txBody>
      </p:sp>
      <p:sp>
        <p:nvSpPr>
          <p:cNvPr id="238" name="Google Shape;238;p26"/>
          <p:cNvSpPr/>
          <p:nvPr/>
        </p:nvSpPr>
        <p:spPr>
          <a:xfrm>
            <a:off x="8305800" y="1905000"/>
            <a:ext cx="3200400" cy="1857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Position values one holding.</a:t>
            </a:r>
            <a:endParaRPr/>
          </a:p>
          <a:p>
            <a:pPr indent="0" lvl="0" marL="0" marR="0" rtl="0" algn="l">
              <a:spcBef>
                <a:spcPts val="0"/>
              </a:spcBef>
              <a:spcAft>
                <a:spcPts val="0"/>
              </a:spcAft>
              <a:buNone/>
            </a:pPr>
            <a:r>
              <a:t/>
            </a:r>
            <a:endParaRPr b="0" sz="2025">
              <a:solidFill>
                <a:srgbClr val="17364B"/>
              </a:solidFill>
              <a:latin typeface="Arial"/>
              <a:ea typeface="Arial"/>
              <a:cs typeface="Arial"/>
              <a:sym typeface="Arial"/>
            </a:endParaRPr>
          </a:p>
          <a:p>
            <a:pPr indent="0" lvl="0" marL="0" marR="0" rtl="0" algn="l">
              <a:spcBef>
                <a:spcPts val="0"/>
              </a:spcBef>
              <a:spcAft>
                <a:spcPts val="0"/>
              </a:spcAft>
              <a:buNone/>
            </a:pPr>
            <a:r>
              <a:rPr b="0" lang="en-US" sz="2025">
                <a:solidFill>
                  <a:srgbClr val="17364B"/>
                </a:solidFill>
                <a:latin typeface="Arial"/>
                <a:ea typeface="Arial"/>
                <a:cs typeface="Arial"/>
                <a:sym typeface="Arial"/>
              </a:rPr>
              <a:t>Portfolio combines the holdings.</a:t>
            </a:r>
            <a:endParaRPr/>
          </a:p>
        </p:txBody>
      </p:sp>
      <p:sp>
        <p:nvSpPr>
          <p:cNvPr id="239" name="Google Shape;239;p26"/>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D10</a:t>
            </a:r>
            <a:endParaRPr/>
          </a:p>
        </p:txBody>
      </p:sp>
      <p:sp>
        <p:nvSpPr>
          <p:cNvPr id="240" name="Google Shape;240;p26"/>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7"/>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47" name="Google Shape;247;p27"/>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Composition and inheritance</a:t>
            </a:r>
            <a:endParaRPr/>
          </a:p>
        </p:txBody>
      </p:sp>
      <p:graphicFrame>
        <p:nvGraphicFramePr>
          <p:cNvPr id="248" name="Google Shape;248;p27"/>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2667000"/>
                <a:gridCol w="4000500"/>
                <a:gridCol w="4152900"/>
              </a:tblGrid>
              <a:tr h="107950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Relationship</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Meaning</a:t>
                      </a:r>
                      <a:endParaRPr/>
                    </a:p>
                  </a:txBody>
                  <a:tcPr marT="45725" marB="45725" marR="91450" marL="91450" anchor="ctr">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Example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10795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Has-a</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Combine components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Portfolio has Positions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10795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Is-a</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Specialize behavior/type</a:t>
                      </a:r>
                      <a:endParaRPr/>
                    </a:p>
                  </a:txBody>
                  <a:tcPr marT="45725" marB="45725" marR="91450" marL="91450" anchor="ctr">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TaggedPosition is a Position</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249" name="Google Shape;249;p27"/>
          <p:cNvSpPr/>
          <p:nvPr/>
        </p:nvSpPr>
        <p:spPr>
          <a:xfrm>
            <a:off x="685800" y="51625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Does adding a strategy label require a subclass?</a:t>
            </a:r>
            <a:endParaRPr/>
          </a:p>
        </p:txBody>
      </p:sp>
      <p:sp>
        <p:nvSpPr>
          <p:cNvPr id="250" name="Google Shape;250;p27"/>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251" name="Google Shape;251;p27"/>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28"/>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58" name="Google Shape;258;p28"/>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Methods and Python interfaces</a:t>
            </a:r>
            <a:endParaRPr/>
          </a:p>
        </p:txBody>
      </p:sp>
      <p:graphicFrame>
        <p:nvGraphicFramePr>
          <p:cNvPr id="259" name="Google Shape;259;p28"/>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6350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Form</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Purpose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635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instance.method(...)</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Works with an instance via self</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35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@classmethod</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Receives the class via cls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35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@staticmethod</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Receives neither automatically</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35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__len__</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Enables len(object)</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35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__repr__</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Provides a developer-facing representation</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260" name="Google Shape;260;p28"/>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261" name="Google Shape;261;p28"/>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9"/>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OBJECTS</a:t>
            </a:r>
            <a:endParaRPr/>
          </a:p>
        </p:txBody>
      </p:sp>
      <p:sp>
        <p:nvSpPr>
          <p:cNvPr id="268" name="Google Shape;268;p29"/>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Interview checkpoint: function or class?</a:t>
            </a:r>
            <a:endParaRPr/>
          </a:p>
        </p:txBody>
      </p:sp>
      <p:sp>
        <p:nvSpPr>
          <p:cNvPr id="269" name="Google Shape;269;p29"/>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You need one calculation, several holdings, and a portfolio summary. How would you organize them?</a:t>
            </a:r>
            <a:endParaRPr/>
          </a:p>
        </p:txBody>
      </p:sp>
      <p:sp>
        <p:nvSpPr>
          <p:cNvPr id="270" name="Google Shape;270;p29"/>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Identify the state that persists.</a:t>
            </a:r>
            <a:endParaRPr/>
          </a:p>
        </p:txBody>
      </p:sp>
      <p:sp>
        <p:nvSpPr>
          <p:cNvPr id="271" name="Google Shape;271;p29"/>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Assign each behavior a clear responsibility.</a:t>
            </a:r>
            <a:endParaRPr/>
          </a:p>
        </p:txBody>
      </p:sp>
      <p:sp>
        <p:nvSpPr>
          <p:cNvPr id="272" name="Google Shape;272;p29"/>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Explain one design tradeoff.</a:t>
            </a:r>
            <a:endParaRPr/>
          </a:p>
        </p:txBody>
      </p:sp>
      <p:sp>
        <p:nvSpPr>
          <p:cNvPr id="273" name="Google Shape;273;p29"/>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274" name="Google Shape;274;p29"/>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279" name="Shape 279"/>
        <p:cNvGrpSpPr/>
        <p:nvPr/>
      </p:nvGrpSpPr>
      <p:grpSpPr>
        <a:xfrm>
          <a:off x="0" y="0"/>
          <a:ext cx="0" cy="0"/>
          <a:chOff x="0" y="0"/>
          <a:chExt cx="0" cy="0"/>
        </a:xfrm>
      </p:grpSpPr>
      <p:sp>
        <p:nvSpPr>
          <p:cNvPr id="280" name="Google Shape;280;p30"/>
          <p:cNvSpPr/>
          <p:nvPr/>
        </p:nvSpPr>
        <p:spPr>
          <a:xfrm>
            <a:off x="685800" y="1143000"/>
            <a:ext cx="76200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FDB515"/>
                </a:solidFill>
                <a:latin typeface="Arial"/>
                <a:ea typeface="Arial"/>
                <a:cs typeface="Arial"/>
                <a:sym typeface="Arial"/>
              </a:rPr>
              <a:t>10:30–10:40 PT</a:t>
            </a:r>
            <a:endParaRPr/>
          </a:p>
        </p:txBody>
      </p:sp>
      <p:sp>
        <p:nvSpPr>
          <p:cNvPr id="281" name="Google Shape;281;p30"/>
          <p:cNvSpPr/>
          <p:nvPr/>
        </p:nvSpPr>
        <p:spPr>
          <a:xfrm>
            <a:off x="685800" y="2333625"/>
            <a:ext cx="104775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950">
                <a:solidFill>
                  <a:srgbClr val="FFFFFF"/>
                </a:solidFill>
                <a:latin typeface="Arial"/>
                <a:ea typeface="Arial"/>
                <a:cs typeface="Arial"/>
                <a:sym typeface="Arial"/>
              </a:rPr>
              <a:t>Ten-minute break</a:t>
            </a:r>
            <a:endParaRPr/>
          </a:p>
        </p:txBody>
      </p:sp>
      <p:sp>
        <p:nvSpPr>
          <p:cNvPr id="282" name="Google Shape;282;p30"/>
          <p:cNvSpPr/>
          <p:nvPr/>
        </p:nvSpPr>
        <p:spPr>
          <a:xfrm>
            <a:off x="685800" y="3714750"/>
            <a:ext cx="1000125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FFFFFF"/>
                </a:solidFill>
                <a:latin typeface="Arial"/>
                <a:ea typeface="Arial"/>
                <a:cs typeface="Arial"/>
                <a:sym typeface="Arial"/>
              </a:rPr>
              <a:t>Resume at 10:40 a.m. Pacific</a:t>
            </a:r>
            <a:endParaRPr/>
          </a:p>
          <a:p>
            <a:pPr indent="0" lvl="0" marL="0" marR="0" rtl="0" algn="l">
              <a:spcBef>
                <a:spcPts val="0"/>
              </a:spcBef>
              <a:spcAft>
                <a:spcPts val="0"/>
              </a:spcAft>
              <a:buNone/>
            </a:pPr>
            <a:r>
              <a:rPr b="0" lang="en-US" sz="2550">
                <a:solidFill>
                  <a:srgbClr val="FFFFFF"/>
                </a:solidFill>
                <a:latin typeface="Arial"/>
                <a:ea typeface="Arial"/>
                <a:cs typeface="Arial"/>
                <a:sym typeface="Arial"/>
              </a:rPr>
              <a:t>Next: iteration and memory use</a:t>
            </a:r>
            <a:endParaRPr/>
          </a:p>
        </p:txBody>
      </p:sp>
      <p:sp>
        <p:nvSpPr>
          <p:cNvPr id="283" name="Google Shape;283;p30"/>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DCE6EC"/>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31"/>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290" name="Google Shape;290;p31"/>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Iterables and iterators</a:t>
            </a:r>
            <a:endParaRPr/>
          </a:p>
        </p:txBody>
      </p:sp>
      <p:graphicFrame>
        <p:nvGraphicFramePr>
          <p:cNvPr id="291" name="Google Shape;291;p31"/>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6477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Concept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Role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Iterable</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Can provide an iterator</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Iterator</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Tracks progress and supplies next values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iter(values)</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Obtain an iterator</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next(iterator)</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Request the next value</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292" name="Google Shape;292;p31"/>
          <p:cNvSpPr/>
          <p:nvPr/>
        </p:nvSpPr>
        <p:spPr>
          <a:xfrm>
            <a:off x="685800" y="51625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Can you iterate over the same list twice?</a:t>
            </a:r>
            <a:endParaRPr/>
          </a:p>
        </p:txBody>
      </p:sp>
      <p:sp>
        <p:nvSpPr>
          <p:cNvPr id="293" name="Google Shape;293;p31"/>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D12</a:t>
            </a:r>
            <a:endParaRPr/>
          </a:p>
        </p:txBody>
      </p:sp>
      <p:sp>
        <p:nvSpPr>
          <p:cNvPr id="294" name="Google Shape;294;p31"/>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32"/>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301" name="Google Shape;301;p32"/>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generator pauses at yield</a:t>
            </a:r>
            <a:endParaRPr/>
          </a:p>
        </p:txBody>
      </p:sp>
      <p:sp>
        <p:nvSpPr>
          <p:cNvPr id="302" name="Google Shape;302;p32"/>
          <p:cNvSpPr/>
          <p:nvPr/>
        </p:nvSpPr>
        <p:spPr>
          <a:xfrm>
            <a:off x="685800" y="1762125"/>
            <a:ext cx="10820400" cy="15144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def daily_returns(prices):</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for previous, current in zip(prices, prices[1:]):</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yield current / previous - 1</a:t>
            </a:r>
            <a:endParaRPr/>
          </a:p>
        </p:txBody>
      </p:sp>
      <p:sp>
        <p:nvSpPr>
          <p:cNvPr id="303" name="Google Shape;303;p32"/>
          <p:cNvSpPr/>
          <p:nvPr/>
        </p:nvSpPr>
        <p:spPr>
          <a:xfrm>
            <a:off x="685800" y="3543300"/>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When does the body start? What happens after each yield?</a:t>
            </a:r>
            <a:endParaRPr/>
          </a:p>
        </p:txBody>
      </p:sp>
      <p:sp>
        <p:nvSpPr>
          <p:cNvPr id="304" name="Google Shape;304;p32"/>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D13</a:t>
            </a:r>
            <a:endParaRPr/>
          </a:p>
        </p:txBody>
      </p:sp>
      <p:sp>
        <p:nvSpPr>
          <p:cNvPr id="305" name="Google Shape;305;p32"/>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33"/>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312" name="Google Shape;312;p33"/>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The same answer with less retained data</a:t>
            </a:r>
            <a:endParaRPr/>
          </a:p>
        </p:txBody>
      </p:sp>
      <p:sp>
        <p:nvSpPr>
          <p:cNvPr id="313" name="Google Shape;313;p33"/>
          <p:cNvSpPr/>
          <p:nvPr/>
        </p:nvSpPr>
        <p:spPr>
          <a:xfrm>
            <a:off x="685800" y="1762125"/>
            <a:ext cx="10820400" cy="15144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sum([i * i for i in range(N)])</a:t>
            </a:r>
            <a:endParaRPr/>
          </a:p>
          <a:p>
            <a:pPr indent="0" lvl="0" marL="0" marR="0" rtl="0" algn="l">
              <a:spcBef>
                <a:spcPts val="0"/>
              </a:spcBef>
              <a:spcAft>
                <a:spcPts val="0"/>
              </a:spcAft>
              <a:buNone/>
            </a:pPr>
            <a:r>
              <a:t/>
            </a:r>
            <a:endParaRPr sz="2175">
              <a:solidFill>
                <a:srgbClr val="F8FAFB"/>
              </a:solidFill>
              <a:latin typeface="Arial"/>
              <a:ea typeface="Arial"/>
              <a:cs typeface="Arial"/>
              <a:sym typeface="Arial"/>
            </a:endParaRPr>
          </a:p>
          <a:p>
            <a:pPr indent="0" lvl="0" marL="0" marR="0" rtl="0" algn="l">
              <a:spcBef>
                <a:spcPts val="0"/>
              </a:spcBef>
              <a:spcAft>
                <a:spcPts val="0"/>
              </a:spcAft>
              <a:buNone/>
            </a:pPr>
            <a:r>
              <a:rPr lang="en-US" sz="2175">
                <a:solidFill>
                  <a:srgbClr val="F8FAFB"/>
                </a:solidFill>
                <a:latin typeface="Arial"/>
                <a:ea typeface="Arial"/>
                <a:cs typeface="Arial"/>
                <a:sym typeface="Arial"/>
              </a:rPr>
              <a:t>sum(i * i for i in range(N))</a:t>
            </a:r>
            <a:endParaRPr/>
          </a:p>
        </p:txBody>
      </p:sp>
      <p:sp>
        <p:nvSpPr>
          <p:cNvPr id="314" name="Google Shape;314;p33"/>
          <p:cNvSpPr/>
          <p:nvPr/>
        </p:nvSpPr>
        <p:spPr>
          <a:xfrm>
            <a:off x="685800" y="3543300"/>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Which version retains every squared value?</a:t>
            </a:r>
            <a:endParaRPr/>
          </a:p>
        </p:txBody>
      </p:sp>
      <p:sp>
        <p:nvSpPr>
          <p:cNvPr id="315" name="Google Shape;315;p33"/>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D14</a:t>
            </a:r>
            <a:endParaRPr/>
          </a:p>
        </p:txBody>
      </p:sp>
      <p:sp>
        <p:nvSpPr>
          <p:cNvPr id="316" name="Google Shape;316;p33"/>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sp>
        <p:nvSpPr>
          <p:cNvPr id="322" name="Google Shape;322;p34"/>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323" name="Google Shape;323;p34"/>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The representation has a cost</a:t>
            </a:r>
            <a:endParaRPr/>
          </a:p>
        </p:txBody>
      </p:sp>
      <p:graphicFrame>
        <p:nvGraphicFramePr>
          <p:cNvPr id="324" name="Google Shape;324;p34"/>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809625">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100,000 values</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Element storage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float64 array</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800,000 bytes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float32 array</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400,000 bytes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Python list of floats</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References plus Python float objects</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325" name="Google Shape;325;p34"/>
          <p:cNvSpPr/>
          <p:nvPr/>
        </p:nvSpPr>
        <p:spPr>
          <a:xfrm>
            <a:off x="685800" y="51625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Does cutting element size in half preserve every numerical result?</a:t>
            </a:r>
            <a:endParaRPr/>
          </a:p>
        </p:txBody>
      </p:sp>
      <p:sp>
        <p:nvSpPr>
          <p:cNvPr id="326" name="Google Shape;326;p34"/>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D15</a:t>
            </a:r>
            <a:endParaRPr/>
          </a:p>
        </p:txBody>
      </p:sp>
      <p:sp>
        <p:nvSpPr>
          <p:cNvPr id="327" name="Google Shape;327;p34"/>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35"/>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334" name="Google Shape;334;p35"/>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Choosing a memory strategy</a:t>
            </a:r>
            <a:endParaRPr/>
          </a:p>
        </p:txBody>
      </p:sp>
      <p:graphicFrame>
        <p:nvGraphicFramePr>
          <p:cNvPr id="335" name="Google Shape;335;p35"/>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2667000"/>
                <a:gridCol w="4000500"/>
                <a:gridCol w="4152900"/>
              </a:tblGrid>
              <a:tr h="76200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Need</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Possible choice</a:t>
                      </a:r>
                      <a:endParaRPr/>
                    </a:p>
                  </a:txBody>
                  <a:tcPr marT="45725" marB="45725" marR="91450" marL="91450" anchor="ctr">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Cost to consider</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7620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Repeated random access</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Keep a collection</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Retained memory</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One sequential pass</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Generate or read chunks</a:t>
                      </a:r>
                      <a:endParaRPr/>
                    </a:p>
                  </a:txBody>
                  <a:tcPr marT="45725" marB="45725" marR="91450" marL="91450" anchor="ctr">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Limited revisiting</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7620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Repeated expensive result</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Cache it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Staleness and capacity</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Smaller numeric data</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Lower precision</a:t>
                      </a:r>
                      <a:endParaRPr/>
                    </a:p>
                  </a:txBody>
                  <a:tcPr marT="45725" marB="45725" marR="91450" marL="91450" anchor="ctr">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Numerical error</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336" name="Google Shape;336;p35"/>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337" name="Google Shape;337;p35"/>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36"/>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ITERATION AND MEMORY</a:t>
            </a:r>
            <a:endParaRPr/>
          </a:p>
        </p:txBody>
      </p:sp>
      <p:sp>
        <p:nvSpPr>
          <p:cNvPr id="344" name="Google Shape;344;p36"/>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Interview checkpoint: lazy is a tradeoff</a:t>
            </a:r>
            <a:endParaRPr/>
          </a:p>
        </p:txBody>
      </p:sp>
      <p:sp>
        <p:nvSpPr>
          <p:cNvPr id="345" name="Google Shape;345;p36"/>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A generator uses less memory. Does that guarantee it is faster?</a:t>
            </a:r>
            <a:endParaRPr/>
          </a:p>
        </p:txBody>
      </p:sp>
      <p:sp>
        <p:nvSpPr>
          <p:cNvPr id="346" name="Google Shape;346;p36"/>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Explain what is stored.</a:t>
            </a:r>
            <a:endParaRPr/>
          </a:p>
        </p:txBody>
      </p:sp>
      <p:sp>
        <p:nvSpPr>
          <p:cNvPr id="347" name="Google Shape;347;p36"/>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Explain what is recomputed.</a:t>
            </a:r>
            <a:endParaRPr/>
          </a:p>
        </p:txBody>
      </p:sp>
      <p:sp>
        <p:nvSpPr>
          <p:cNvPr id="348" name="Google Shape;348;p36"/>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Name what you would measure.</a:t>
            </a:r>
            <a:endParaRPr/>
          </a:p>
        </p:txBody>
      </p:sp>
      <p:sp>
        <p:nvSpPr>
          <p:cNvPr id="349" name="Google Shape;349;p36"/>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350" name="Google Shape;350;p36"/>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37"/>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357" name="Google Shape;357;p37"/>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program runs through several layers</a:t>
            </a:r>
            <a:endParaRPr/>
          </a:p>
        </p:txBody>
      </p:sp>
      <p:graphicFrame>
        <p:nvGraphicFramePr>
          <p:cNvPr id="358" name="Google Shape;358;p37"/>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6477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Layer</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Role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Python code</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Expresses the operation</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Interpreter and libraries</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Execute Python or compiled routines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CPU</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Runs machine instructions</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Memory system</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Supplies code and data</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359" name="Google Shape;359;p37"/>
          <p:cNvSpPr/>
          <p:nvPr/>
        </p:nvSpPr>
        <p:spPr>
          <a:xfrm>
            <a:off x="685800" y="5162550"/>
            <a:ext cx="108204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NumPy can execute compiled CPU routines without using a GPU.</a:t>
            </a:r>
            <a:endParaRPr/>
          </a:p>
        </p:txBody>
      </p:sp>
      <p:sp>
        <p:nvSpPr>
          <p:cNvPr id="360" name="Google Shape;360;p37"/>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361" name="Google Shape;361;p37"/>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38"/>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368" name="Google Shape;368;p38"/>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CPU, system memory, and GPU</a:t>
            </a:r>
            <a:endParaRPr/>
          </a:p>
        </p:txBody>
      </p:sp>
      <p:pic>
        <p:nvPicPr>
          <p:cNvPr id="369" name="Google Shape;369;p38"/>
          <p:cNvPicPr preferRelativeResize="0"/>
          <p:nvPr/>
        </p:nvPicPr>
        <p:blipFill rotWithShape="1">
          <a:blip r:embed="rId3">
            <a:alphaModFix/>
          </a:blip>
          <a:srcRect b="0" l="0" r="0" t="0"/>
          <a:stretch/>
        </p:blipFill>
        <p:spPr>
          <a:xfrm>
            <a:off x="2203403" y="1590675"/>
            <a:ext cx="7785194" cy="4381500"/>
          </a:xfrm>
          <a:prstGeom prst="rect">
            <a:avLst/>
          </a:prstGeom>
          <a:noFill/>
          <a:ln>
            <a:noFill/>
          </a:ln>
        </p:spPr>
      </p:pic>
      <p:sp>
        <p:nvSpPr>
          <p:cNvPr id="370" name="Google Shape;370;p38"/>
          <p:cNvSpPr/>
          <p:nvPr/>
        </p:nvSpPr>
        <p:spPr>
          <a:xfrm>
            <a:off x="685800" y="6029325"/>
            <a:ext cx="10572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5C6F7D"/>
                </a:solidFill>
                <a:latin typeface="Arial"/>
                <a:ea typeface="Arial"/>
                <a:cs typeface="Arial"/>
                <a:sym typeface="Arial"/>
              </a:rPr>
              <a:t>Simplified discrete-GPU system. Integrated and unified-memory designs differ.</a:t>
            </a:r>
            <a:endParaRPr/>
          </a:p>
        </p:txBody>
      </p:sp>
      <p:sp>
        <p:nvSpPr>
          <p:cNvPr id="371" name="Google Shape;371;p38"/>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372" name="Google Shape;372;p38"/>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39"/>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379" name="Google Shape;379;p39"/>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Capacity, latency, and bandwidth</a:t>
            </a:r>
            <a:endParaRPr/>
          </a:p>
        </p:txBody>
      </p:sp>
      <p:graphicFrame>
        <p:nvGraphicFramePr>
          <p:cNvPr id="380" name="Google Shape;380;p39"/>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2667000"/>
                <a:gridCol w="4000500"/>
                <a:gridCol w="4152900"/>
              </a:tblGrid>
              <a:tr h="8096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Measure</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Question</a:t>
                      </a:r>
                      <a:endParaRPr/>
                    </a:p>
                  </a:txBody>
                  <a:tcPr marT="45725" marB="45725" marR="91450" marL="91450" anchor="ctr">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Example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809625">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Capacity</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How much fits?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Can the working data fit in RAM?</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809625">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Latency</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How long until access completes?</a:t>
                      </a:r>
                      <a:endParaRPr/>
                    </a:p>
                  </a:txBody>
                  <a:tcPr marT="45725" marB="45725" marR="91450" marL="91450" anchor="ctr">
                    <a:solidFill>
                      <a:srgbClr val="F3F5F6"/>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How long does one request wait?</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809625">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Bandwidth</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How much moves per second?</a:t>
                      </a:r>
                      <a:endParaRPr/>
                    </a:p>
                  </a:txBody>
                  <a:tcPr marT="45725" marB="45725" marR="91450" marL="91450" anchor="ctr">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1875"/>
                        <a:buFont typeface="Arial"/>
                        <a:buNone/>
                      </a:pPr>
                      <a:r>
                        <a:rPr b="0" lang="en-US" sz="1875">
                          <a:solidFill>
                            <a:srgbClr val="17364B"/>
                          </a:solidFill>
                          <a:latin typeface="Arial"/>
                          <a:ea typeface="Arial"/>
                          <a:cs typeface="Arial"/>
                          <a:sym typeface="Arial"/>
                        </a:rPr>
                        <a:t>Can memory feed the computation?</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381" name="Google Shape;381;p39"/>
          <p:cNvSpPr/>
          <p:nvPr/>
        </p:nvSpPr>
        <p:spPr>
          <a:xfrm>
            <a:off x="685800" y="5162550"/>
            <a:ext cx="108204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Registers and caches sit near execution. RAM holds the larger working set.</a:t>
            </a:r>
            <a:endParaRPr/>
          </a:p>
        </p:txBody>
      </p:sp>
      <p:sp>
        <p:nvSpPr>
          <p:cNvPr id="382" name="Google Shape;382;p39"/>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383" name="Google Shape;383;p39"/>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40"/>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390" name="Google Shape;390;p40"/>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Caching trades memory for reused work</a:t>
            </a:r>
            <a:endParaRPr/>
          </a:p>
        </p:txBody>
      </p:sp>
      <p:sp>
        <p:nvSpPr>
          <p:cNvPr id="391" name="Google Shape;391;p40"/>
          <p:cNvSpPr/>
          <p:nvPr/>
        </p:nvSpPr>
        <p:spPr>
          <a:xfrm>
            <a:off x="685800" y="1762125"/>
            <a:ext cx="10820400" cy="1514475"/>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@lru_cache(maxsize=16)</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def discounted_value(amount, years):</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amount / (1 + rate) ** years</a:t>
            </a:r>
            <a:endParaRPr/>
          </a:p>
        </p:txBody>
      </p:sp>
      <p:sp>
        <p:nvSpPr>
          <p:cNvPr id="392" name="Google Shape;392;p40"/>
          <p:cNvSpPr/>
          <p:nvPr/>
        </p:nvSpPr>
        <p:spPr>
          <a:xfrm>
            <a:off x="685800" y="3543300"/>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What happens if the global rate changes?</a:t>
            </a:r>
            <a:endParaRPr/>
          </a:p>
        </p:txBody>
      </p:sp>
      <p:sp>
        <p:nvSpPr>
          <p:cNvPr id="393" name="Google Shape;393;p40"/>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D16</a:t>
            </a:r>
            <a:endParaRPr/>
          </a:p>
        </p:txBody>
      </p:sp>
      <p:sp>
        <p:nvSpPr>
          <p:cNvPr id="394" name="Google Shape;394;p40"/>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41"/>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401" name="Google Shape;401;p41"/>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CPU and GPU roles</a:t>
            </a:r>
            <a:endParaRPr/>
          </a:p>
        </p:txBody>
      </p:sp>
      <p:graphicFrame>
        <p:nvGraphicFramePr>
          <p:cNvPr id="402" name="Google Shape;402;p41"/>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7620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CPU</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GPU</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General-purpose control and computation</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High throughput on suitable parallel work</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Handles varied branching workloads well</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Benefits from substantial regular numerical work</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Uses system memory and CPU caches</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Uses its memory hierarchy and execution units</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403" name="Google Shape;403;p41"/>
          <p:cNvSpPr/>
          <p:nvPr/>
        </p:nvSpPr>
        <p:spPr>
          <a:xfrm>
            <a:off x="685800" y="4972050"/>
            <a:ext cx="108204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Work size, data movement, and software support affect the payoff.</a:t>
            </a:r>
            <a:endParaRPr/>
          </a:p>
        </p:txBody>
      </p:sp>
      <p:sp>
        <p:nvSpPr>
          <p:cNvPr id="404" name="Google Shape;404;p41"/>
          <p:cNvSpPr/>
          <p:nvPr/>
        </p:nvSpPr>
        <p:spPr>
          <a:xfrm>
            <a:off x="685800" y="56197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Would moving a tiny calculation to a GPU necessarily help?</a:t>
            </a:r>
            <a:endParaRPr/>
          </a:p>
        </p:txBody>
      </p:sp>
      <p:sp>
        <p:nvSpPr>
          <p:cNvPr id="405" name="Google Shape;405;p41"/>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06" name="Google Shape;406;p41"/>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42"/>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HARDWARE</a:t>
            </a:r>
            <a:endParaRPr/>
          </a:p>
        </p:txBody>
      </p:sp>
      <p:sp>
        <p:nvSpPr>
          <p:cNvPr id="413" name="Google Shape;413;p42"/>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The bottleneck determines the next experiment</a:t>
            </a:r>
            <a:endParaRPr/>
          </a:p>
        </p:txBody>
      </p:sp>
      <p:graphicFrame>
        <p:nvGraphicFramePr>
          <p:cNvPr id="414" name="Google Shape;414;p42"/>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4381500"/>
                <a:gridCol w="6438900"/>
              </a:tblGrid>
              <a:tr h="6477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Observed constraint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A useful experiment</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Python-level loop overhead</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Try an equivalent array operation</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Working set exceeds RAM</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Reduce columns or process chunks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Repeated identical computation</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Evaluate a bounded cache</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6477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Waiting on remote requests</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Investigate bounded concurrency</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415" name="Google Shape;415;p42"/>
          <p:cNvSpPr/>
          <p:nvPr/>
        </p:nvSpPr>
        <p:spPr>
          <a:xfrm>
            <a:off x="685800" y="5162550"/>
            <a:ext cx="108204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2B49"/>
                </a:solidFill>
                <a:latin typeface="Arial"/>
                <a:ea typeface="Arial"/>
                <a:cs typeface="Arial"/>
                <a:sym typeface="Arial"/>
              </a:rPr>
              <a:t>What must stay the same when comparing implementations?</a:t>
            </a:r>
            <a:endParaRPr/>
          </a:p>
        </p:txBody>
      </p:sp>
      <p:sp>
        <p:nvSpPr>
          <p:cNvPr id="416" name="Google Shape;416;p42"/>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17" name="Google Shape;417;p42"/>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43"/>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AGENT TOOLS AND CHECKS</a:t>
            </a:r>
            <a:endParaRPr/>
          </a:p>
        </p:txBody>
      </p:sp>
      <p:sp>
        <p:nvSpPr>
          <p:cNvPr id="424" name="Google Shape;424;p43"/>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useful tool has a clear contract</a:t>
            </a:r>
            <a:endParaRPr/>
          </a:p>
        </p:txBody>
      </p:sp>
      <p:graphicFrame>
        <p:nvGraphicFramePr>
          <p:cNvPr id="425" name="Google Shape;425;p43"/>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7620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Contract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Classroom example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Inputs</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Finite, nonnegative shares and price</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Output</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Position value in the stated currency</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Failure</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 specific validation error</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Scope</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One long-only position; no data fetching</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426" name="Google Shape;426;p43"/>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27" name="Google Shape;427;p43"/>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44"/>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AGENT TOOLS AND CHECKS</a:t>
            </a:r>
            <a:endParaRPr/>
          </a:p>
        </p:txBody>
      </p:sp>
      <p:sp>
        <p:nvSpPr>
          <p:cNvPr id="434" name="Google Shape;434;p44"/>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request becomes an executed function</a:t>
            </a:r>
            <a:endParaRPr/>
          </a:p>
        </p:txBody>
      </p:sp>
      <p:sp>
        <p:nvSpPr>
          <p:cNvPr id="435" name="Google Shape;435;p44"/>
          <p:cNvSpPr/>
          <p:nvPr/>
        </p:nvSpPr>
        <p:spPr>
          <a:xfrm>
            <a:off x="685800" y="1762125"/>
            <a:ext cx="10820400" cy="186690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request = {</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'tool': 'position_value',</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'arguments': {'shares': 2, 'price': 100.0}</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a:t>
            </a:r>
            <a:endParaRPr/>
          </a:p>
        </p:txBody>
      </p:sp>
      <p:sp>
        <p:nvSpPr>
          <p:cNvPr id="436" name="Google Shape;436;p44"/>
          <p:cNvSpPr/>
          <p:nvPr/>
        </p:nvSpPr>
        <p:spPr>
          <a:xfrm>
            <a:off x="685800" y="3895725"/>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Which step actually performs the multiplication?</a:t>
            </a:r>
            <a:endParaRPr/>
          </a:p>
        </p:txBody>
      </p:sp>
      <p:sp>
        <p:nvSpPr>
          <p:cNvPr id="437" name="Google Shape;437;p44"/>
          <p:cNvSpPr/>
          <p:nvPr/>
        </p:nvSpPr>
        <p:spPr>
          <a:xfrm>
            <a:off x="685800" y="4752975"/>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The model can propose a tool call.</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The harness executes the tool and returns its result.</a:t>
            </a:r>
            <a:endParaRPr/>
          </a:p>
        </p:txBody>
      </p:sp>
      <p:sp>
        <p:nvSpPr>
          <p:cNvPr id="438" name="Google Shape;438;p44"/>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D18</a:t>
            </a:r>
            <a:endParaRPr/>
          </a:p>
        </p:txBody>
      </p:sp>
      <p:sp>
        <p:nvSpPr>
          <p:cNvPr id="439" name="Google Shape;439;p44"/>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 name="Shape 444"/>
        <p:cNvGrpSpPr/>
        <p:nvPr/>
      </p:nvGrpSpPr>
      <p:grpSpPr>
        <a:xfrm>
          <a:off x="0" y="0"/>
          <a:ext cx="0" cy="0"/>
          <a:chOff x="0" y="0"/>
          <a:chExt cx="0" cy="0"/>
        </a:xfrm>
      </p:grpSpPr>
      <p:sp>
        <p:nvSpPr>
          <p:cNvPr id="445" name="Google Shape;445;p45"/>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AGENT TOOLS AND CHECKS</a:t>
            </a:r>
            <a:endParaRPr/>
          </a:p>
        </p:txBody>
      </p:sp>
      <p:sp>
        <p:nvSpPr>
          <p:cNvPr id="446" name="Google Shape;446;p45"/>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Independent checks expose a plausible defect</a:t>
            </a:r>
            <a:endParaRPr/>
          </a:p>
        </p:txBody>
      </p:sp>
      <p:sp>
        <p:nvSpPr>
          <p:cNvPr id="447" name="Google Shape;447;p45"/>
          <p:cNvSpPr/>
          <p:nvPr/>
        </p:nvSpPr>
        <p:spPr>
          <a:xfrm>
            <a:off x="685800" y="1762125"/>
            <a:ext cx="10820400" cy="1428750"/>
          </a:xfrm>
          <a:prstGeom prst="rect">
            <a:avLst/>
          </a:prstGeom>
          <a:solidFill>
            <a:srgbClr val="002B49"/>
          </a:solidFill>
          <a:ln>
            <a:noFill/>
          </a:ln>
        </p:spPr>
        <p:txBody>
          <a:bodyPr anchorCtr="0" anchor="t" bIns="171450" lIns="228600" spcFirstLastPara="1" rIns="190500" wrap="square" tIns="190500">
            <a:noAutofit/>
          </a:bodyPr>
          <a:lstStyle/>
          <a:p>
            <a:pPr indent="0" lvl="0" marL="0" marR="0" rtl="0" algn="l">
              <a:spcBef>
                <a:spcPts val="0"/>
              </a:spcBef>
              <a:spcAft>
                <a:spcPts val="0"/>
              </a:spcAft>
              <a:buNone/>
            </a:pPr>
            <a:r>
              <a:rPr lang="en-US" sz="2175">
                <a:solidFill>
                  <a:srgbClr val="F8FAFB"/>
                </a:solidFill>
                <a:latin typeface="Arial"/>
                <a:ea typeface="Arial"/>
                <a:cs typeface="Arial"/>
                <a:sym typeface="Arial"/>
              </a:rPr>
              <a:t>def candidate_bad(shares, price):</a:t>
            </a:r>
            <a:endParaRPr/>
          </a:p>
          <a:p>
            <a:pPr indent="0" lvl="0" marL="0" marR="0" rtl="0" algn="l">
              <a:spcBef>
                <a:spcPts val="0"/>
              </a:spcBef>
              <a:spcAft>
                <a:spcPts val="0"/>
              </a:spcAft>
              <a:buNone/>
            </a:pPr>
            <a:r>
              <a:rPr lang="en-US" sz="2175">
                <a:solidFill>
                  <a:srgbClr val="F8FAFB"/>
                </a:solidFill>
                <a:latin typeface="Arial"/>
                <a:ea typeface="Arial"/>
                <a:cs typeface="Arial"/>
                <a:sym typeface="Arial"/>
              </a:rPr>
              <a:t>    return shares + price</a:t>
            </a:r>
            <a:endParaRPr/>
          </a:p>
        </p:txBody>
      </p:sp>
      <p:sp>
        <p:nvSpPr>
          <p:cNvPr id="448" name="Google Shape;448;p45"/>
          <p:cNvSpPr/>
          <p:nvPr/>
        </p:nvSpPr>
        <p:spPr>
          <a:xfrm>
            <a:off x="685800" y="3457575"/>
            <a:ext cx="1082040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2B49"/>
                </a:solidFill>
                <a:latin typeface="Arial"/>
                <a:ea typeface="Arial"/>
                <a:cs typeface="Arial"/>
                <a:sym typeface="Arial"/>
              </a:rPr>
              <a:t>It returns a number. Which test cases expose the error?</a:t>
            </a:r>
            <a:endParaRPr/>
          </a:p>
        </p:txBody>
      </p:sp>
      <p:sp>
        <p:nvSpPr>
          <p:cNvPr id="449" name="Google Shape;449;p45"/>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D19</a:t>
            </a:r>
            <a:endParaRPr/>
          </a:p>
        </p:txBody>
      </p:sp>
      <p:sp>
        <p:nvSpPr>
          <p:cNvPr id="450" name="Google Shape;450;p45"/>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46"/>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AGENT TOOLS AND CHECKS</a:t>
            </a:r>
            <a:endParaRPr/>
          </a:p>
        </p:txBody>
      </p:sp>
      <p:sp>
        <p:nvSpPr>
          <p:cNvPr id="457" name="Google Shape;457;p46"/>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Instructions and evaluation play different roles</a:t>
            </a:r>
            <a:endParaRPr/>
          </a:p>
        </p:txBody>
      </p:sp>
      <p:graphicFrame>
        <p:nvGraphicFramePr>
          <p:cNvPr id="458" name="Google Shape;458;p46"/>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809625">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Mechanism</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Purpose</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Skill or prompt</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Tell the agent how to work and what to inspect</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Executable check</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Test a specific property of an output</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Evaluation suite</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Measure performance across defined tasks and conditions</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459" name="Google Shape;459;p46"/>
          <p:cNvSpPr/>
          <p:nvPr/>
        </p:nvSpPr>
        <p:spPr>
          <a:xfrm>
            <a:off x="685800" y="5162550"/>
            <a:ext cx="108204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A self-check can help. Independent evidence still matters.</a:t>
            </a:r>
            <a:endParaRPr/>
          </a:p>
        </p:txBody>
      </p:sp>
      <p:sp>
        <p:nvSpPr>
          <p:cNvPr id="460" name="Google Shape;460;p46"/>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61" name="Google Shape;461;p46"/>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47"/>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AGENT TOOLS AND CHECKS</a:t>
            </a:r>
            <a:endParaRPr/>
          </a:p>
        </p:txBody>
      </p:sp>
      <p:sp>
        <p:nvSpPr>
          <p:cNvPr id="468" name="Google Shape;468;p47"/>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Thursday preview: the KV cache</a:t>
            </a:r>
            <a:endParaRPr/>
          </a:p>
        </p:txBody>
      </p:sp>
      <p:graphicFrame>
        <p:nvGraphicFramePr>
          <p:cNvPr id="469" name="Google Shape;469;p47"/>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809625">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Kind of cache</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What it retains</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CPU cache</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Copies of memory data near CPU execution</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Python result cache</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Results associated with function arguments</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809625">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Attention KV cache</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Prior tokens’ attention keys and values</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FFFFF"/>
                    </a:solidFill>
                  </a:tcPr>
                </a:tc>
              </a:tr>
            </a:tbl>
          </a:graphicData>
        </a:graphic>
      </p:graphicFrame>
      <p:sp>
        <p:nvSpPr>
          <p:cNvPr id="470" name="Google Shape;470;p47"/>
          <p:cNvSpPr/>
          <p:nvPr/>
        </p:nvSpPr>
        <p:spPr>
          <a:xfrm>
            <a:off x="685800" y="5162550"/>
            <a:ext cx="108204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7364B"/>
                </a:solidFill>
                <a:latin typeface="Arial"/>
                <a:ea typeface="Arial"/>
                <a:cs typeface="Arial"/>
                <a:sym typeface="Arial"/>
              </a:rPr>
              <a:t>KV caching reuses prior computation and consumes memory.</a:t>
            </a:r>
            <a:endParaRPr/>
          </a:p>
        </p:txBody>
      </p:sp>
      <p:sp>
        <p:nvSpPr>
          <p:cNvPr id="471" name="Google Shape;471;p47"/>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72" name="Google Shape;472;p47"/>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48"/>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WRAP-UP</a:t>
            </a:r>
            <a:endParaRPr/>
          </a:p>
        </p:txBody>
      </p:sp>
      <p:sp>
        <p:nvSpPr>
          <p:cNvPr id="479" name="Google Shape;479;p48"/>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Interview recap</a:t>
            </a:r>
            <a:endParaRPr/>
          </a:p>
        </p:txBody>
      </p:sp>
      <p:sp>
        <p:nvSpPr>
          <p:cNvPr id="480" name="Google Shape;480;p48"/>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Explain each in one or two sentences</a:t>
            </a:r>
            <a:endParaRPr/>
          </a:p>
        </p:txBody>
      </p:sp>
      <p:sp>
        <p:nvSpPr>
          <p:cNvPr id="481" name="Google Shape;481;p48"/>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Equal objects can have different identities.</a:t>
            </a:r>
            <a:endParaRPr/>
          </a:p>
        </p:txBody>
      </p:sp>
      <p:sp>
        <p:nvSpPr>
          <p:cNvPr id="482" name="Google Shape;482;p48"/>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A generator can reduce retained memory without being faster.</a:t>
            </a:r>
            <a:endParaRPr/>
          </a:p>
        </p:txBody>
      </p:sp>
      <p:sp>
        <p:nvSpPr>
          <p:cNvPr id="483" name="Google Shape;483;p48"/>
          <p:cNvSpPr/>
          <p:nvPr/>
        </p:nvSpPr>
        <p:spPr>
          <a:xfrm>
            <a:off x="685800" y="50863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Composition and inheritance express different relationships.</a:t>
            </a:r>
            <a:endParaRPr/>
          </a:p>
        </p:txBody>
      </p:sp>
      <p:sp>
        <p:nvSpPr>
          <p:cNvPr id="484" name="Google Shape;484;p48"/>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485" name="Google Shape;485;p48"/>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49"/>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WRAP-UP</a:t>
            </a:r>
            <a:endParaRPr/>
          </a:p>
        </p:txBody>
      </p:sp>
      <p:sp>
        <p:nvSpPr>
          <p:cNvPr id="492" name="Google Shape;492;p49"/>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A new case and a missing check</a:t>
            </a:r>
            <a:endParaRPr/>
          </a:p>
        </p:txBody>
      </p:sp>
      <p:sp>
        <p:nvSpPr>
          <p:cNvPr id="493" name="Google Shape;493;p49"/>
          <p:cNvSpPr/>
          <p:nvPr/>
        </p:nvSpPr>
        <p:spPr>
          <a:xfrm>
            <a:off x="685800" y="1857375"/>
            <a:ext cx="10620375" cy="1476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002B49"/>
                </a:solidFill>
                <a:latin typeface="Arial"/>
                <a:ea typeface="Arial"/>
                <a:cs typeface="Arial"/>
                <a:sym typeface="Arial"/>
              </a:rPr>
              <a:t>Three shares at 12.5: what should the tool return? What does that check leave untested?</a:t>
            </a:r>
            <a:endParaRPr/>
          </a:p>
        </p:txBody>
      </p:sp>
      <p:sp>
        <p:nvSpPr>
          <p:cNvPr id="494" name="Google Shape;494;p49"/>
          <p:cNvSpPr/>
          <p:nvPr/>
        </p:nvSpPr>
        <p:spPr>
          <a:xfrm>
            <a:off x="685800" y="37147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State the expected result before running.</a:t>
            </a:r>
            <a:endParaRPr/>
          </a:p>
        </p:txBody>
      </p:sp>
      <p:sp>
        <p:nvSpPr>
          <p:cNvPr id="495" name="Google Shape;495;p49"/>
          <p:cNvSpPr/>
          <p:nvPr/>
        </p:nvSpPr>
        <p:spPr>
          <a:xfrm>
            <a:off x="685800" y="4400550"/>
            <a:ext cx="1047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Name one additional case and its expected behavior.</a:t>
            </a:r>
            <a:endParaRPr/>
          </a:p>
        </p:txBody>
      </p:sp>
      <p:sp>
        <p:nvSpPr>
          <p:cNvPr id="496" name="Google Shape;496;p49"/>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NOTEBOOK  D20</a:t>
            </a:r>
            <a:endParaRPr/>
          </a:p>
        </p:txBody>
      </p:sp>
      <p:sp>
        <p:nvSpPr>
          <p:cNvPr id="497" name="Google Shape;497;p49"/>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50"/>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WRAP-UP</a:t>
            </a:r>
            <a:endParaRPr/>
          </a:p>
        </p:txBody>
      </p:sp>
      <p:sp>
        <p:nvSpPr>
          <p:cNvPr id="504" name="Google Shape;504;p50"/>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What you should now be able to explain</a:t>
            </a:r>
            <a:endParaRPr/>
          </a:p>
        </p:txBody>
      </p:sp>
      <p:sp>
        <p:nvSpPr>
          <p:cNvPr id="505" name="Google Shape;505;p50"/>
          <p:cNvSpPr/>
          <p:nvPr/>
        </p:nvSpPr>
        <p:spPr>
          <a:xfrm>
            <a:off x="685800" y="195262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17364B"/>
                </a:solidFill>
                <a:latin typeface="Arial"/>
                <a:ea typeface="Arial"/>
                <a:cs typeface="Arial"/>
                <a:sym typeface="Arial"/>
              </a:rPr>
              <a:t>Why shared state changes a result.</a:t>
            </a:r>
            <a:endParaRPr/>
          </a:p>
        </p:txBody>
      </p:sp>
      <p:sp>
        <p:nvSpPr>
          <p:cNvPr id="506" name="Google Shape;506;p50"/>
          <p:cNvSpPr/>
          <p:nvPr/>
        </p:nvSpPr>
        <p:spPr>
          <a:xfrm>
            <a:off x="685800" y="2857500"/>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17364B"/>
                </a:solidFill>
                <a:latin typeface="Arial"/>
                <a:ea typeface="Arial"/>
                <a:cs typeface="Arial"/>
                <a:sym typeface="Arial"/>
              </a:rPr>
              <a:t>How objects, functions, and iterators organize work.</a:t>
            </a:r>
            <a:endParaRPr/>
          </a:p>
        </p:txBody>
      </p:sp>
      <p:sp>
        <p:nvSpPr>
          <p:cNvPr id="507" name="Google Shape;507;p50"/>
          <p:cNvSpPr/>
          <p:nvPr/>
        </p:nvSpPr>
        <p:spPr>
          <a:xfrm>
            <a:off x="685800" y="376237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17364B"/>
                </a:solidFill>
                <a:latin typeface="Arial"/>
                <a:ea typeface="Arial"/>
                <a:cs typeface="Arial"/>
                <a:sym typeface="Arial"/>
              </a:rPr>
              <a:t>How memory and processors constrain execution.</a:t>
            </a:r>
            <a:endParaRPr/>
          </a:p>
        </p:txBody>
      </p:sp>
      <p:sp>
        <p:nvSpPr>
          <p:cNvPr id="508" name="Google Shape;508;p50"/>
          <p:cNvSpPr/>
          <p:nvPr/>
        </p:nvSpPr>
        <p:spPr>
          <a:xfrm>
            <a:off x="685800" y="4667250"/>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17364B"/>
                </a:solidFill>
                <a:latin typeface="Arial"/>
                <a:ea typeface="Arial"/>
                <a:cs typeface="Arial"/>
                <a:sym typeface="Arial"/>
              </a:rPr>
              <a:t>How a Python tool produces checkable evidence.</a:t>
            </a:r>
            <a:endParaRPr/>
          </a:p>
        </p:txBody>
      </p:sp>
      <p:sp>
        <p:nvSpPr>
          <p:cNvPr id="509" name="Google Shape;509;p50"/>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510" name="Google Shape;510;p50"/>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51"/>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APPENDIX</a:t>
            </a:r>
            <a:endParaRPr/>
          </a:p>
        </p:txBody>
      </p:sp>
      <p:sp>
        <p:nvSpPr>
          <p:cNvPr id="517" name="Google Shape;517;p51"/>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Optional interview practice</a:t>
            </a:r>
            <a:endParaRPr/>
          </a:p>
        </p:txBody>
      </p:sp>
      <p:graphicFrame>
        <p:nvGraphicFramePr>
          <p:cNvPr id="518" name="Google Shape;518;p51"/>
          <p:cNvGraphicFramePr/>
          <p:nvPr/>
        </p:nvGraphicFramePr>
        <p:xfrm>
          <a:off x="685800" y="1714500"/>
          <a:ext cx="3000000" cy="3000000"/>
        </p:xfrm>
        <a:graphic>
          <a:graphicData uri="http://schemas.openxmlformats.org/drawingml/2006/table">
            <a:tbl>
              <a:tblPr>
                <a:noFill/>
                <a:tableStyleId>{B3B482D3-3F2E-422D-8FF0-DD78C2833E69}</a:tableStyleId>
              </a:tblPr>
              <a:tblGrid>
                <a:gridCol w="3238500"/>
                <a:gridCol w="7581900"/>
              </a:tblGrid>
              <a:tr h="7620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Prompt</a:t>
                      </a:r>
                      <a:endParaRPr/>
                    </a:p>
                  </a:txBody>
                  <a:tcPr marT="45725" marB="45725" marR="91450" marL="91450" anchor="ctr">
                    <a:lnL cap="flat" cmpd="sng" w="9525">
                      <a:solidFill>
                        <a:srgbClr val="D8E1E6"/>
                      </a:solidFill>
                      <a:prstDash val="solid"/>
                      <a:round/>
                      <a:headEnd len="sm" w="sm" type="none"/>
                      <a:tailEnd len="sm" w="sm" type="none"/>
                    </a:lnL>
                    <a:lnT cap="flat" cmpd="sng" w="9525">
                      <a:solidFill>
                        <a:srgbClr val="D8E1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Starting point</a:t>
                      </a:r>
                      <a:endParaRPr/>
                    </a:p>
                  </a:txBody>
                  <a:tcPr marT="45725" marB="45725" marR="91450" marL="91450" anchor="ctr">
                    <a:lnR cap="flat" cmpd="sng" w="9525">
                      <a:solidFill>
                        <a:srgbClr val="D8E1E6"/>
                      </a:solidFill>
                      <a:prstDash val="solid"/>
                      <a:round/>
                      <a:headEnd len="sm" w="sm" type="none"/>
                      <a:tailEnd len="sm" w="sm" type="none"/>
                    </a:lnR>
                    <a:lnT cap="flat" cmpd="sng" w="9525">
                      <a:solidFill>
                        <a:srgbClr val="D8E1E6"/>
                      </a:solidFill>
                      <a:prstDash val="solid"/>
                      <a:round/>
                      <a:headEnd len="sm" w="sm" type="none"/>
                      <a:tailEnd len="sm" w="sm" type="none"/>
                    </a:lnT>
                    <a:solidFill>
                      <a:srgbClr val="002B49"/>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Why do calls share a default list?</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D04</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What does super() do here?</a:t>
                      </a:r>
                      <a:endParaRPr/>
                    </a:p>
                  </a:txBody>
                  <a:tcPr marT="45725" marB="45725" marR="91450" marL="91450" anchor="ctr">
                    <a:lnL cap="flat" cmpd="sng" w="9525">
                      <a:solidFill>
                        <a:srgbClr val="D8E1E6"/>
                      </a:solidFill>
                      <a:prstDash val="solid"/>
                      <a:round/>
                      <a:headEnd len="sm" w="sm" type="none"/>
                      <a:tailEnd len="sm" w="sm" type="none"/>
                    </a:lnL>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D11</a:t>
                      </a:r>
                      <a:endParaRPr/>
                    </a:p>
                  </a:txBody>
                  <a:tcPr marT="45725" marB="45725" marR="91450" marL="91450" anchor="ctr">
                    <a:lnR cap="flat" cmpd="sng" w="9525">
                      <a:solidFill>
                        <a:srgbClr val="D8E1E6"/>
                      </a:solidFill>
                      <a:prstDash val="solid"/>
                      <a:round/>
                      <a:headEnd len="sm" w="sm" type="none"/>
                      <a:tailEnd len="sm" w="sm" type="none"/>
                    </a:lnR>
                    <a:solidFill>
                      <a:srgbClr val="F3F5F6"/>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Why might NumPy outperform a loop?</a:t>
                      </a:r>
                      <a:endParaRPr/>
                    </a:p>
                  </a:txBody>
                  <a:tcPr marT="45725" marB="45725" marR="91450" marL="91450" anchor="ctr">
                    <a:lnL cap="flat" cmpd="sng" w="9525">
                      <a:solidFill>
                        <a:srgbClr val="D8E1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D17</a:t>
                      </a:r>
                      <a:endParaRPr/>
                    </a:p>
                  </a:txBody>
                  <a:tcPr marT="45725" marB="45725" marR="91450" marL="91450" anchor="ctr">
                    <a:lnR cap="flat" cmpd="sng" w="9525">
                      <a:solidFill>
                        <a:srgbClr val="D8E1E6"/>
                      </a:solidFill>
                      <a:prstDash val="solid"/>
                      <a:round/>
                      <a:headEnd len="sm" w="sm" type="none"/>
                      <a:tailEnd len="sm" w="sm" type="none"/>
                    </a:lnR>
                    <a:solidFill>
                      <a:srgbClr val="FFFFFF"/>
                    </a:solidFill>
                  </a:tcPr>
                </a:tc>
              </a:tr>
              <a:tr h="762000">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Why does this cache return stale data?</a:t>
                      </a:r>
                      <a:endParaRPr/>
                    </a:p>
                  </a:txBody>
                  <a:tcPr marT="45725" marB="45725" marR="91450" marL="91450" anchor="ctr">
                    <a:lnL cap="flat" cmpd="sng" w="9525">
                      <a:solidFill>
                        <a:srgbClr val="D8E1E6"/>
                      </a:solidFill>
                      <a:prstDash val="solid"/>
                      <a:round/>
                      <a:headEnd len="sm" w="sm" type="none"/>
                      <a:tailEnd len="sm" w="sm" type="none"/>
                    </a:lnL>
                    <a:lnB cap="flat" cmpd="sng" w="9525">
                      <a:solidFill>
                        <a:srgbClr val="D8E1E6"/>
                      </a:solidFill>
                      <a:prstDash val="solid"/>
                      <a:round/>
                      <a:headEnd len="sm" w="sm" type="none"/>
                      <a:tailEnd len="sm" w="sm" type="none"/>
                    </a:lnB>
                    <a:solidFill>
                      <a:srgbClr val="F3F5F6"/>
                    </a:solidFill>
                  </a:tcPr>
                </a:tc>
                <a:tc>
                  <a:txBody>
                    <a:bodyPr/>
                    <a:lstStyle/>
                    <a:p>
                      <a:pPr indent="0" lvl="0" marL="0" marR="0" rtl="0" algn="l">
                        <a:spcBef>
                          <a:spcPts val="0"/>
                        </a:spcBef>
                        <a:spcAft>
                          <a:spcPts val="0"/>
                        </a:spcAft>
                        <a:buClr>
                          <a:srgbClr val="17364B"/>
                        </a:buClr>
                        <a:buSzPts val="2100"/>
                        <a:buFont typeface="Arial"/>
                        <a:buNone/>
                      </a:pPr>
                      <a:r>
                        <a:rPr b="0" lang="en-US" sz="2100">
                          <a:solidFill>
                            <a:srgbClr val="17364B"/>
                          </a:solidFill>
                          <a:latin typeface="Arial"/>
                          <a:ea typeface="Arial"/>
                          <a:cs typeface="Arial"/>
                          <a:sym typeface="Arial"/>
                        </a:rPr>
                        <a:t>D16</a:t>
                      </a:r>
                      <a:endParaRPr/>
                    </a:p>
                  </a:txBody>
                  <a:tcPr marT="45725" marB="45725" marR="91450" marL="91450" anchor="ctr">
                    <a:lnR cap="flat" cmpd="sng" w="9525">
                      <a:solidFill>
                        <a:srgbClr val="D8E1E6"/>
                      </a:solidFill>
                      <a:prstDash val="solid"/>
                      <a:round/>
                      <a:headEnd len="sm" w="sm" type="none"/>
                      <a:tailEnd len="sm" w="sm" type="none"/>
                    </a:lnR>
                    <a:lnB cap="flat" cmpd="sng" w="9525">
                      <a:solidFill>
                        <a:srgbClr val="D8E1E6"/>
                      </a:solidFill>
                      <a:prstDash val="solid"/>
                      <a:round/>
                      <a:headEnd len="sm" w="sm" type="none"/>
                      <a:tailEnd len="sm" w="sm" type="none"/>
                    </a:lnB>
                    <a:solidFill>
                      <a:srgbClr val="F3F5F6"/>
                    </a:solidFill>
                  </a:tcPr>
                </a:tc>
              </a:tr>
            </a:tbl>
          </a:graphicData>
        </a:graphic>
      </p:graphicFrame>
      <p:sp>
        <p:nvSpPr>
          <p:cNvPr id="519" name="Google Shape;519;p51"/>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520" name="Google Shape;520;p51"/>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52"/>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APPENDIX</a:t>
            </a:r>
            <a:endParaRPr/>
          </a:p>
        </p:txBody>
      </p:sp>
      <p:sp>
        <p:nvSpPr>
          <p:cNvPr id="527" name="Google Shape;527;p52"/>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Python and numerical references</a:t>
            </a:r>
            <a:endParaRPr/>
          </a:p>
        </p:txBody>
      </p:sp>
      <p:sp>
        <p:nvSpPr>
          <p:cNvPr id="528" name="Google Shape;528;p52"/>
          <p:cNvSpPr/>
          <p:nvPr/>
        </p:nvSpPr>
        <p:spPr>
          <a:xfrm>
            <a:off x="685800" y="195262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Python tutorial: classes, namespaces, iterators, generators</a:t>
            </a:r>
            <a:endParaRPr/>
          </a:p>
        </p:txBody>
      </p:sp>
      <p:sp>
        <p:nvSpPr>
          <p:cNvPr id="529" name="Google Shape;529;p52"/>
          <p:cNvSpPr/>
          <p:nvPr/>
        </p:nvSpPr>
        <p:spPr>
          <a:xfrm>
            <a:off x="685800" y="311467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Python library: copy, functools, tracemalloc</a:t>
            </a:r>
            <a:endParaRPr/>
          </a:p>
        </p:txBody>
      </p:sp>
      <p:sp>
        <p:nvSpPr>
          <p:cNvPr id="530" name="Google Shape;530;p52"/>
          <p:cNvSpPr/>
          <p:nvPr/>
        </p:nvSpPr>
        <p:spPr>
          <a:xfrm>
            <a:off x="685800" y="427672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NumPy: ndarray.nbytes and numeric representations</a:t>
            </a:r>
            <a:endParaRPr/>
          </a:p>
        </p:txBody>
      </p:sp>
      <p:sp>
        <p:nvSpPr>
          <p:cNvPr id="531" name="Google Shape;531;p52"/>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532" name="Google Shape;532;p52"/>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53"/>
          <p:cNvSpPr/>
          <p:nvPr/>
        </p:nvSpPr>
        <p:spPr>
          <a:xfrm>
            <a:off x="685800" y="400050"/>
            <a:ext cx="8572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5C6F7D"/>
                </a:solidFill>
                <a:latin typeface="Arial"/>
                <a:ea typeface="Arial"/>
                <a:cs typeface="Arial"/>
                <a:sym typeface="Arial"/>
              </a:rPr>
              <a:t>APPENDIX</a:t>
            </a:r>
            <a:endParaRPr/>
          </a:p>
        </p:txBody>
      </p:sp>
      <p:sp>
        <p:nvSpPr>
          <p:cNvPr id="539" name="Google Shape;539;p53"/>
          <p:cNvSpPr/>
          <p:nvPr/>
        </p:nvSpPr>
        <p:spPr>
          <a:xfrm>
            <a:off x="685800" y="857250"/>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002B49"/>
                </a:solidFill>
                <a:latin typeface="Arial"/>
                <a:ea typeface="Arial"/>
                <a:cs typeface="Arial"/>
                <a:sym typeface="Arial"/>
              </a:rPr>
              <a:t>Systems and agent references</a:t>
            </a:r>
            <a:endParaRPr/>
          </a:p>
        </p:txBody>
      </p:sp>
      <p:sp>
        <p:nvSpPr>
          <p:cNvPr id="540" name="Google Shape;540;p53"/>
          <p:cNvSpPr/>
          <p:nvPr/>
        </p:nvSpPr>
        <p:spPr>
          <a:xfrm>
            <a:off x="685800" y="195262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NVIDIA CUDA programming model</a:t>
            </a:r>
            <a:endParaRPr/>
          </a:p>
        </p:txBody>
      </p:sp>
      <p:sp>
        <p:nvSpPr>
          <p:cNvPr id="541" name="Google Shape;541;p53"/>
          <p:cNvSpPr/>
          <p:nvPr/>
        </p:nvSpPr>
        <p:spPr>
          <a:xfrm>
            <a:off x="685800" y="311467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Hugging Face: how attention caching works</a:t>
            </a:r>
            <a:endParaRPr/>
          </a:p>
        </p:txBody>
      </p:sp>
      <p:sp>
        <p:nvSpPr>
          <p:cNvPr id="542" name="Google Shape;542;p53"/>
          <p:cNvSpPr/>
          <p:nvPr/>
        </p:nvSpPr>
        <p:spPr>
          <a:xfrm>
            <a:off x="685800" y="4276725"/>
            <a:ext cx="106680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25">
                <a:solidFill>
                  <a:srgbClr val="17364B"/>
                </a:solidFill>
                <a:latin typeface="Arial"/>
                <a:ea typeface="Arial"/>
                <a:cs typeface="Arial"/>
                <a:sym typeface="Arial"/>
              </a:rPr>
              <a:t>Anthropic: agent architecture and evaluation</a:t>
            </a:r>
            <a:endParaRPr/>
          </a:p>
        </p:txBody>
      </p:sp>
      <p:sp>
        <p:nvSpPr>
          <p:cNvPr id="543" name="Google Shape;543;p53"/>
          <p:cNvSpPr/>
          <p:nvPr/>
        </p:nvSpPr>
        <p:spPr>
          <a:xfrm>
            <a:off x="685800" y="6381750"/>
            <a:ext cx="857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50">
                <a:solidFill>
                  <a:srgbClr val="5C6F7D"/>
                </a:solidFill>
                <a:latin typeface="Arial"/>
                <a:ea typeface="Arial"/>
                <a:cs typeface="Arial"/>
                <a:sym typeface="Arial"/>
              </a:rPr>
              <a:t>UCB MFE · October 19, 2026</a:t>
            </a:r>
            <a:endParaRPr/>
          </a:p>
        </p:txBody>
      </p:sp>
      <p:sp>
        <p:nvSpPr>
          <p:cNvPr id="544" name="Google Shape;544;p53"/>
          <p:cNvSpPr/>
          <p:nvPr/>
        </p:nvSpPr>
        <p:spPr>
          <a:xfrm>
            <a:off x="10858500" y="6353175"/>
            <a:ext cx="666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C6F7D"/>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